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OHDSI is not a product or a vendor. It is a community. The tools (Atlas, HADES, Athena) are outputs of community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an analogy: OMOP is like a universal electrical adapter standard. Without it, every country (institution) has its own plug shape; with it, one device works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the top 5 (person, visit, condition, drug, measurement) for Day 1. The others will come up in later exercises. Emphasize: all these tables share person_id as the linking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concept 8507 in Athena to show that even demographic values are standardized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duality (source value and standard concept) is the core of OMOP. Emphasize: you always analyze with standard concepts; the source codes are there for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every domain has a designated standard vocabulary. This is why you can compare drug data from one institution (using NDC codes) with another (using GPI codes) — both map to the same RxNorm ingredient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lesson: building a concept set on non-standard (ICD) codes is the #1 mistake new OMOP analysts make. The result is a concept set that returns 0 records because the clinical tables use standard concept_ids, not ICD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participants run this in their SQL client. Ask: which row would you use to build a concept set?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insight: the 'Maps to' relationship is how OMOP connects the source coding world to the standard analytic world. One ICD code → one SNOMED concept (usually). Multiple ICD codes can map to the same SNOMED concept, which is intentional — it ensures equivalent codes are treated identically in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foundation of 'Include Descendants' in Atlas. Rather than listing every Metformin product by hand, you add the ingredient concept and let concept_ancestor pull in all products and forms below it. Demonstrate: run this and count how many descendants Metformin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 and ask participants to share: which ICD codes mapped to their chosen concept? Were there any concepts in the hierarchy they would have missed if they'd only searched by the top-level term?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3291840" cy="45720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2527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entury Gothic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20240"/>
            <a:ext cx="112379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Gothic"/>
              </a:rPr>
              <a:t>OMOP Common Data Model
and Standardized Vocabularies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4297680"/>
            <a:ext cx="112379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C4E6"/>
                </a:solidFill>
                <a:latin typeface="Arial"/>
              </a:rPr>
              <a:t>The foundation of OHDSI observational health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4D2"/>
                </a:solidFill>
                <a:latin typeface="Arial"/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554480"/>
            <a:ext cx="11237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entury Gothic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017520"/>
            <a:ext cx="112379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D9C4E6"/>
                </a:solidFill>
                <a:latin typeface="Arial"/>
              </a:rPr>
              <a:t>Thank you for being here and for investing your time in this work.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D9C4E6"/>
                </a:solidFill>
                <a:latin typeface="Arial"/>
              </a:rPr>
              <a:t>This program stands on the shoulders of the global OHDSI community and everyone who contributes to open, reproducible health data science.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Recording: today's session is recorded and shared within 24 hours.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Questions: ask anytime in the chat — we'll pause at each section break.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Materials: the slides, participant workbook, and Kahoot live in the program repo.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Breaks: we'll take a short break partway through the session.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Be kind to yourself — this is a lot of material; mastery comes with practice, not in one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61288"/>
            <a:ext cx="1965960" cy="543560"/>
          </a:xfrm>
          <a:prstGeom prst="rect">
            <a:avLst/>
          </a:prstGeom>
          <a:solidFill>
            <a:srgbClr val="ECD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828800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9:00 – 9:30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243584"/>
            <a:ext cx="9034272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Welcome and OHDSI / OMOP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778000"/>
            <a:ext cx="1965960" cy="54356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60296"/>
            <a:ext cx="1828800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9:30 – 10:15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860296"/>
            <a:ext cx="9034272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CDM architecture: clinical 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394712"/>
            <a:ext cx="1965960" cy="543560"/>
          </a:xfrm>
          <a:prstGeom prst="rect">
            <a:avLst/>
          </a:prstGeom>
          <a:solidFill>
            <a:srgbClr val="ECD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477008"/>
            <a:ext cx="1828800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10:15 – 10:30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477008"/>
            <a:ext cx="9034272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Break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3011424"/>
            <a:ext cx="1965960" cy="54356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093720"/>
            <a:ext cx="1828800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10:30 – 11:15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093720"/>
            <a:ext cx="9034272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Vocabulary tables and standardization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628136"/>
            <a:ext cx="1965960" cy="543560"/>
          </a:xfrm>
          <a:prstGeom prst="rect">
            <a:avLst/>
          </a:prstGeom>
          <a:solidFill>
            <a:srgbClr val="ECD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710432"/>
            <a:ext cx="1828800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11:15 – 12:00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710432"/>
            <a:ext cx="9034272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Live demo: Athena vocabulary browser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4244848"/>
            <a:ext cx="1965960" cy="54356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27144"/>
            <a:ext cx="1828800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12:00 – 13:00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327144"/>
            <a:ext cx="9034272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Lunch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4861560"/>
            <a:ext cx="1965960" cy="543560"/>
          </a:xfrm>
          <a:prstGeom prst="rect">
            <a:avLst/>
          </a:prstGeom>
          <a:solidFill>
            <a:srgbClr val="ECD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943856"/>
            <a:ext cx="1828800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13:00 – 14:15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943856"/>
            <a:ext cx="9034272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SQL lab: explore CDM and vocabulary tables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5478272"/>
            <a:ext cx="1965960" cy="54356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560568"/>
            <a:ext cx="1828800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14:15 – 15:00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5560568"/>
            <a:ext cx="9034272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Discussion: standard vs non-standard concepts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6094984"/>
            <a:ext cx="1965960" cy="543560"/>
          </a:xfrm>
          <a:prstGeom prst="rect">
            <a:avLst/>
          </a:prstGeom>
          <a:solidFill>
            <a:srgbClr val="ECD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177280"/>
            <a:ext cx="1828800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15:00 – 15:30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6177280"/>
            <a:ext cx="9034272" cy="43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Recap, homework, Day 2 preview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28800"/>
            <a:ext cx="112379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entury Gothic"/>
              </a:rPr>
              <a:t>Kahoot!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474720"/>
            <a:ext cx="112379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Quick warm-up — let's see what stuck.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389120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3F5"/>
                </a:solidFill>
                <a:latin typeface="Arial"/>
              </a:rPr>
              <a:t>Join at kahoot.it  ·  enter the game PIN on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177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1">
                <a:solidFill>
                  <a:srgbClr val="20425A"/>
                </a:solidFill>
                <a:latin typeface="Century Gothic"/>
              </a:rPr>
              <a:t>insert your favorite quote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Arial"/>
              </a:rPr>
              <a:t>By the end of this session, you will be able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81912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09344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581912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Explain the purpose of the OMOP CDM and its key design principles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249424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76856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49424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Identify and describe the core clinical and vocabulary tables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916936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44368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916936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Distinguish between standard and non-standard concepts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584448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611880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584448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Navigate Athena to find concepts, relationships, and hierarchies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4251960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279392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51960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Write basic SQL queries to explore OMOP CDM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Let's discuss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2377440"/>
            <a:ext cx="11237976" cy="2194560"/>
          </a:xfrm>
          <a:prstGeom prst="rect">
            <a:avLst/>
          </a:prstGeom>
          <a:solidFill>
            <a:srgbClr val="ECDFF3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105064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0425A"/>
                </a:solidFill>
                <a:latin typeface="Century Gothic"/>
              </a:rPr>
              <a:t>In one word: what does 'standardized health data' mean to you right now?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What Is OHDSI?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24712"/>
            <a:ext cx="5504688" cy="55321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1615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425A"/>
                </a:solidFill>
                <a:latin typeface="Arial"/>
              </a:rPr>
              <a:t>The Organization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19072"/>
            <a:ext cx="52303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Observational Health Data Sciences and Informatics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Global open-science community (&gt;3,000 researchers, 90+ countries)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Mission: generate evidence from health data to improve patient health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Key outputs: OMOP CDM, Atlas, HADES, Athena, Book of OHDSI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Annual global symposium; active forums and workgroups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124712"/>
            <a:ext cx="5504688" cy="5532120"/>
          </a:xfrm>
          <a:prstGeom prst="rect">
            <a:avLst/>
          </a:prstGeom>
          <a:solidFill>
            <a:srgbClr val="F0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216" y="121615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425A"/>
                </a:solidFill>
                <a:latin typeface="Arial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719072"/>
            <a:ext cx="52303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Federated network: ~1 billion patients' worth of data across sites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Studies run at each site without data leaving the institution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Open source: all tools are free and community-maintained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Reproducibility: same definition → same cohort at any OMOP site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ALS TDI participates in and contributes to the OHDSI network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Why OMOP CDM? The Problem It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EHR systems collect data for care and billing — not for research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Every institution's data is in a different format: different code systems, different schemas, different terminology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Without standardization: every collaboration needs a bespoke ETL for each data partner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With OMOP CDM: one schema, one vocabulary — a study definition written once runs everywhere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OMOP standardizes: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Schema: same table names and column names at every site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Vocabulary: ICD codes, NDC drug codes, LOINC labs → all mapped to standard concepts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Time: all events anchored to person-level observation periods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OMOP CDM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Person-centric: every record links back to a person via person_id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Event-based: clinical events (conditions, drugs, measurements) are timestamped facts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Standard vocabulary-driven: every clinical concept has a standard concept_id — not institution-specific codes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Domain-separated: each type of clinical data lives in its own table (condition_occurrence, drug_exposure, measurement, etc.)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Observation-period bounded: data is only considered valid within the patient's observable time window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Reproducible: the same cohort definition applied to any OMOP CDM should produce a comparable result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Core Clinical Tables — Overview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143000"/>
          <a:ext cx="11247120" cy="539496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490450"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Table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What It Contains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</a:tr>
              <a:tr h="490450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person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Demographics: date of birth, sex, race, ethnicity, death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90450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visit_occurrence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Encounters: inpatient, outpatient, ED visits with dates and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condition_occurrence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Diagnoses and problem list entries, linked to visit and person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90450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drug_exposure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Prescriptions, dispenses, and administrations — all drug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measurement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Lab results, vital signs, quantitative clinical findings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90450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procedure_occurrence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Clinical procedures ordered or performed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observation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Any clinical fact that doesn't fit another domain (social, family history)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90450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device_exposure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Implanted devices, transfusions, medical 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death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Date and cause of death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490460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drug_era / condition_era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Pre-computed continuous exposure or condition periods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The Person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24712"/>
            <a:ext cx="5504688" cy="55321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1615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425A"/>
                </a:solidFill>
                <a:latin typeface="Arial"/>
              </a:rPr>
              <a:t>Key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19072"/>
            <a:ext cx="52303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person_id — unique, links all other tables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year_of_birth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gender_concept_id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race_concept_id, ethnicity_concept_id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birth_datetime (if available)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death_datetime or link to death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124712"/>
            <a:ext cx="5504688" cy="5532120"/>
          </a:xfrm>
          <a:prstGeom prst="rect">
            <a:avLst/>
          </a:prstGeom>
          <a:solidFill>
            <a:srgbClr val="F0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216" y="121615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425A"/>
                </a:solidFill>
                <a:latin typeface="Arial"/>
              </a:rPr>
              <a:t>Important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719072"/>
            <a:ext cx="52303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No names, SSNs, or direct identifiers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Gender and race are stored as concept_ids, not strings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Concept 8507 = Male, 8532 = Female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One row per patient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All other tables reference person_id as a foreign key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The Condition Occurrence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24712"/>
            <a:ext cx="5504688" cy="55321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1615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425A"/>
                </a:solidFill>
                <a:latin typeface="Arial"/>
              </a:rPr>
              <a:t>Key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19072"/>
            <a:ext cx="52303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condition_occurrence_id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person_id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condition_concept_id (standard)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condition_start_date / end_date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condition_type_concept_id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visit_occurrence_id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condition_source_value (original ICD code)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condition_source_concept_id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124712"/>
            <a:ext cx="5504688" cy="5532120"/>
          </a:xfrm>
          <a:prstGeom prst="rect">
            <a:avLst/>
          </a:prstGeom>
          <a:solidFill>
            <a:srgbClr val="F0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216" y="121615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425A"/>
                </a:solidFill>
                <a:latin typeface="Arial"/>
              </a:rPr>
              <a:t>Source vs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719072"/>
            <a:ext cx="52303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condition_source_value stores the original ICD-9/ICD-10 code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condition_concept_id stores the standard SNOMED concept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Mapping from ICD → SNOMED happens during ETL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If condition_concept_id = 0, the record was not mapped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Analyses should always use condition_concept_id, not source_value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737360"/>
            <a:ext cx="822960" cy="8229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01368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0"/>
            <a:ext cx="9902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entury Gothic"/>
              </a:rPr>
              <a:t>Standardized Vocabularies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200400"/>
            <a:ext cx="11237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9C4E6"/>
                </a:solidFill>
                <a:latin typeface="Arial"/>
              </a:rPr>
              <a:t>Standard concepts, relationships, and hierarchy — the key to cross-site comparability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The Vocabulary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The OMOP CDM includes a full vocabulary schema alongside the clinical data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Core vocabulary tables: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concept — all clinical concepts: standard and non-standard, with metadata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concept_relationship — directed links: 'Maps to', 'Is a', 'Subsumes'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concept_ancestor — pre-computed hierarchy (all ancestor-descendant pairs)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vocabulary — vocabulary metadata and version information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domain — domain definitions (Condition, Drug, Measurement, etc.)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All clinical tables reference concept_id from the concept table — they are tightly linked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Vocabulary is updated monthly; version is tracked in the vocabulary 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Standard Vocabulary by Domain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143000"/>
          <a:ext cx="11237976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92"/>
                <a:gridCol w="3745992"/>
                <a:gridCol w="3745992"/>
              </a:tblGrid>
              <a:tr h="566928"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OMOP Domain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Standard Vocabulary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Source Vocabularies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Condition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SNOMED CT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ICD-9-CM, ICD-10-CM, ICDO3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Drug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RxNorm (ingredients/products)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NDC, GPI, ATC drug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Measurement / Lab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LOINC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Local lab codes, SNOMED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Procedure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SNOMED CT, CPT4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ICD-9-CM Procedures, HCPCS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Observation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SNOMED CT, LOINC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Many source-specific codes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Race / Ethnicity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Race &amp; Ethnicity (OMOP)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HL7, local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Visit Type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Visit (OMOP)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CMS place of service codes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Standard vs Non-Standard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24712"/>
            <a:ext cx="5504688" cy="55321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1615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425A"/>
                </a:solidFill>
                <a:latin typeface="Arial"/>
              </a:rPr>
              <a:t>Standard Concepts  (standard_concept = 'S')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19072"/>
            <a:ext cx="52303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Used for analysis in all OMOP tools (Atlas, HADES)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Assigned to clinical tables during ETL (e.g., condition_concept_id)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Comparable across institutions and datasets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Example: SNOMED 201826 = Type 2 diabetes mellitus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ALWAYS use standard concepts in concept sets and cohort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124712"/>
            <a:ext cx="5504688" cy="5532120"/>
          </a:xfrm>
          <a:prstGeom prst="rect">
            <a:avLst/>
          </a:prstGeom>
          <a:solidFill>
            <a:srgbClr val="F0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216" y="121615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425A"/>
                </a:solidFill>
                <a:latin typeface="Arial"/>
              </a:rPr>
              <a:t>Non-Standard (Source) Concepts  (standard_concept = NULL)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719072"/>
            <a:ext cx="52303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Source codes before standardization (ICD-9, ICD-10, NDC, etc.)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Stored in source columns (e.g., condition_source_concept_id)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NOT used for analysis — will silently miss data in concept sets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Linked to standard concepts via 'Maps to' relationship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Example: ICD-10-CM E11.9 maps to SNOMED 201826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Exploring Standard Concepts — SQL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097280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Arial"/>
              </a:rPr>
              <a:t>Find standard and non-standard concepts for Type 2 diabetes in the concept table: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27048"/>
            <a:ext cx="11237976" cy="5074920"/>
          </a:xfrm>
          <a:prstGeom prst="rect">
            <a:avLst/>
          </a:prstGeom>
          <a:solidFill>
            <a:srgbClr val="1C1C2C"/>
          </a:solidFill>
          <a:ln w="9525">
            <a:solidFill>
              <a:srgbClr val="50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36776"/>
            <a:ext cx="10908792" cy="4855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-- In your SQL client (Databricks, DBeaver, etc.)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-- Find standard concept for Type 2 diabetes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SELECT concept_id,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concept_name,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vocabulary_id,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standard_concept,   -- 'S' = standard; NULL = non-standard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concept_code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FROM cdm.concept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WHERE LOWER(concept_name) LIKE '%type 2 diabetes%'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ORDER BY standard_concept DESC NULLS LAST, vocabulary_id;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-- Result: SNOMED 201826 is standard (S); ICD codes are non-standard (NULL)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Following the 'Maps to'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097280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Arial"/>
              </a:rPr>
              <a:t>How does an ICD-10-CM code (non-standard) link to its standard SNOMED concept?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27048"/>
            <a:ext cx="11237976" cy="5074920"/>
          </a:xfrm>
          <a:prstGeom prst="rect">
            <a:avLst/>
          </a:prstGeom>
          <a:solidFill>
            <a:srgbClr val="1C1C2C"/>
          </a:solidFill>
          <a:ln w="9525">
            <a:solidFill>
              <a:srgbClr val="50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36776"/>
            <a:ext cx="10908792" cy="4855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-- Find the standard concept that ICD-10-CM E11.9 maps to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SELECT c_src.concept_code AS icd_code,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c_src.concept_name AS icd_name,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cr.relationship_id,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c_tgt.concept_id   AS standard_id,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c_tgt.concept_name AS standard_name,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c_tgt.vocabulary_id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FROM cdm.concept_relationship cr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JOIN cdm.concept c_src ON cr.concept_id_1 = c_src.concept_id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JOIN cdm.concept c_tgt ON cr.concept_id_2 = c_tgt.concept_id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WHERE c_src.concept_code  = 'E11.9'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AND c_src.vocabulary_id = 'ICD10CM'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AND cr.relationship_id  = 'Maps to';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Using concept_ancestor for Hierarchical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097280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Arial"/>
              </a:rPr>
              <a:t>Find all drug products under the Metformin ingredient using the hierarchy: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27048"/>
            <a:ext cx="11237976" cy="5074920"/>
          </a:xfrm>
          <a:prstGeom prst="rect">
            <a:avLst/>
          </a:prstGeom>
          <a:solidFill>
            <a:srgbClr val="1C1C2C"/>
          </a:solidFill>
          <a:ln w="9525">
            <a:solidFill>
              <a:srgbClr val="50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36776"/>
            <a:ext cx="10908792" cy="4855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-- All Metformin products (ingredient concept_id = 1503297)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SELECT ca.descendant_concept_id,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c.concept_name,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c.concept_class_id,        -- 'Ingredient', 'Clinical Drug', 'Branded Drug'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ca.min_levels_of_separation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FROM cdm.concept_ancestor ca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JOIN cdm.concept c ON ca.descendant_concept_id = c.concept_id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WHERE ca.ancestor_concept_id = 1503297   -- Metformin (ingredient)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AND ca.min_levels_of_separation &gt;= 1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ORDER BY ca.min_levels_of_separation, c.concept_name;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320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2379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entury Gothic"/>
              </a:rPr>
              <a:t>Lab:  Athena Vocabulary Exploration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2011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Arial"/>
              </a:rPr>
              <a:t>⏱  ~30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24712"/>
            <a:ext cx="11237976" cy="402336"/>
          </a:xfrm>
          <a:prstGeom prst="rect">
            <a:avLst/>
          </a:prstGeom>
          <a:solidFill>
            <a:srgbClr val="ECDFF3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97864"/>
            <a:ext cx="11055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0337"/>
                </a:solidFill>
                <a:latin typeface="Arial"/>
              </a:rPr>
              <a:t>Tool: Athena Browser (athena.ohdsi.org) — no login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655064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7335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655064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Open Athena (athena.ohdsi.org) — no login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368296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38658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368296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Search for 'Amyotrophic lateral sclerosis' — find the standard SNOMED concept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3081528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09981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081528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Click the concept to open its detail page — note concept_id, vocabulary_id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794760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81304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794760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Click Relationships — find 'Is a' (parent) and 'Maps to' (source codes that map here)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4507992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52628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507992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Click Descendants — how many? What's the narrowest child concept?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5221224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23951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5221224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Try the same exercise for a drug relevant to your research area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70432"/>
            <a:ext cx="11237976" cy="954633"/>
          </a:xfrm>
          <a:prstGeom prst="rect">
            <a:avLst/>
          </a:prstGeom>
          <a:solidFill>
            <a:srgbClr val="ECDFF3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234440"/>
            <a:ext cx="1101852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✓  OMOP CDM standardizes data schema AND vocabulary so studies run consistently across sites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2216505"/>
            <a:ext cx="11237976" cy="954633"/>
          </a:xfrm>
          <a:prstGeom prst="rect">
            <a:avLst/>
          </a:prstGeom>
          <a:solidFill>
            <a:srgbClr val="F8F2FF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2280513"/>
            <a:ext cx="1101852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✓  Every clinical record links to a standard concept_id — never analyze on source codes or concept_id = 0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3262579"/>
            <a:ext cx="11237976" cy="954633"/>
          </a:xfrm>
          <a:prstGeom prst="rect">
            <a:avLst/>
          </a:prstGeom>
          <a:solidFill>
            <a:srgbClr val="ECDFF3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326587"/>
            <a:ext cx="1101852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✓  concept, concept_relationship, and concept_ancestor are the three vocabulary tables you will use every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4308652"/>
            <a:ext cx="11237976" cy="954633"/>
          </a:xfrm>
          <a:prstGeom prst="rect">
            <a:avLst/>
          </a:prstGeom>
          <a:solidFill>
            <a:srgbClr val="F8F2FF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372660"/>
            <a:ext cx="1101852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✓  'Maps to' connects source codes to standard concepts; concept_ancestor enables hierarchical queries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5354726"/>
            <a:ext cx="11237976" cy="954633"/>
          </a:xfrm>
          <a:prstGeom prst="rect">
            <a:avLst/>
          </a:prstGeom>
          <a:solidFill>
            <a:srgbClr val="ECDFF3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5418734"/>
            <a:ext cx="1101852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✓  Athena is the public browser for the vocabulary — bookmark it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428232"/>
            <a:ext cx="11237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Arial"/>
              </a:rPr>
              <a:t>Next session: Day 2 · Vocabulary &amp; Data Quality — building concept sets in Atlas and SQL validation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28800"/>
            <a:ext cx="11237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entury Gothic"/>
              </a:rPr>
              <a:t>Thank You. 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383280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Danielle Boyce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977639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C4E6"/>
                </a:solidFill>
                <a:latin typeface="Arial"/>
              </a:rPr>
              <a:t>dboyce@als.net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4D2"/>
                </a:solidFill>
                <a:latin typeface="Arial"/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