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75488" y="1188720"/>
            <a:ext cx="3291840" cy="45720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25272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tham Narrow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920240"/>
            <a:ext cx="11237976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otham Narrow"/>
              </a:rPr>
              <a:t>Vocabulary &amp; Data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4297680"/>
            <a:ext cx="1123797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9C4E6"/>
                </a:solidFill>
                <a:latin typeface="Arial"/>
              </a:rPr>
              <a:t>Participant Workbook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6355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EC4D2"/>
                </a:solidFill>
                <a:latin typeface="Arial"/>
              </a:rPr>
              <a:t>ALS TDI · OHDSI/OMOP Train-the-Trainer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05256"/>
            <a:ext cx="12188952" cy="54864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otham Narrow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24712"/>
            <a:ext cx="112379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A5A5A"/>
                </a:solidFill>
                <a:latin typeface="Arial"/>
              </a:rPr>
              <a:t>By the end of this session, you will be able to: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1581912"/>
            <a:ext cx="365760" cy="36576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609344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581912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Explain the Kahn framework categories for data quality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2249424"/>
            <a:ext cx="365760" cy="36576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276856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249424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Describe what DQD checks and how thresholds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2916936"/>
            <a:ext cx="365760" cy="36576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944368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916936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Distinguish a true DQ problem from a concept set problem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3584448"/>
            <a:ext cx="365760" cy="36576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611880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3584448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Build a concept set in ATLAS with Include Descendants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251960"/>
            <a:ext cx="365760" cy="365760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4279392"/>
            <a:ext cx="365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251960"/>
            <a:ext cx="106801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91919"/>
                </a:solidFill>
                <a:latin typeface="Arial"/>
              </a:rPr>
              <a:t>Validate concept set counts with SQL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05256"/>
            <a:ext cx="12188952" cy="54864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otham Narrow"/>
              </a:rPr>
              <a:t>Kahn Framework — Fill In the Definitions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" y="1143000"/>
          <a:ext cx="11237976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5992"/>
                <a:gridCol w="3745992"/>
                <a:gridCol w="3745992"/>
              </a:tblGrid>
              <a:tr h="566928"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Gotham Narrow"/>
                        </a:rPr>
                        <a:t>Category</a:t>
                      </a:r>
                    </a:p>
                  </a:txBody>
                  <a:tcPr>
                    <a:solidFill>
                      <a:srgbClr val="20425A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Gotham Narrow"/>
                        </a:rPr>
                        <a:t>Definition (fill in)</a:t>
                      </a:r>
                    </a:p>
                  </a:txBody>
                  <a:tcPr>
                    <a:solidFill>
                      <a:srgbClr val="20425A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Gotham Narrow"/>
                        </a:rPr>
                        <a:t>Example</a:t>
                      </a:r>
                    </a:p>
                  </a:txBody>
                  <a:tcPr>
                    <a:solidFill>
                      <a:srgbClr val="20425A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  <a:latin typeface="Arial"/>
                        </a:rPr>
                        <a:t>Conformance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  <a:latin typeface="Arial"/>
                        </a:rPr>
                        <a:t>Every drug_concept_id must exist in the concept table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  <a:latin typeface="Arial"/>
                        </a:rPr>
                        <a:t>Completeness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  <a:latin typeface="Arial"/>
                        </a:rPr>
                        <a:t>Fraction of condition rows with concept_id =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  <a:latin typeface="Arial"/>
                        </a:rPr>
                        <a:t>Plausibility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  <a:tc>
                  <a:txBody>
                    <a:bodyPr lIns="63500" tIns="25400"/>
                    <a:lstStyle/>
                    <a:p>
                      <a:r>
                        <a:rPr sz="1300">
                          <a:solidFill>
                            <a:srgbClr val="191919"/>
                          </a:solidFill>
                          <a:latin typeface="Arial"/>
                        </a:rPr>
                        <a:t>No birth year in the future</a:t>
                      </a:r>
                    </a:p>
                  </a:txBody>
                  <a:tcPr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05256"/>
            <a:ext cx="12188952" cy="54864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37160"/>
            <a:ext cx="117134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otham Narrow"/>
              </a:rPr>
              <a:t>Concept Set Lab — Record Your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161288"/>
            <a:ext cx="11237976" cy="549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Concept set name I built:  ________________________________________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Number of standard concepts included:  ___________________________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Include Descendants toggled ON?  ☐ Yes  ☐ No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Number of concepts in Included Concepts tab (with descendants):  ___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Number of source codes in the Mapped tab:  _______________________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Did all Included Concepts show Standard = 'S'?  ☐ Yes  ☐ No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SQL count (total exposures):  ____________________________________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Atlas count:  ____________________________________________________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91919"/>
                </a:solidFill>
                <a:latin typeface="Arial"/>
              </a:rPr>
              <a:t>Did they match?  ☐ Yes  ☐ No — if not, why?  ____________________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04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9041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828800"/>
            <a:ext cx="112379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otham Narrow"/>
              </a:rPr>
              <a:t>Thank You.  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3383280"/>
            <a:ext cx="112379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Danielle Boyce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977639"/>
            <a:ext cx="112379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9C4E6"/>
                </a:solidFill>
                <a:latin typeface="Arial"/>
              </a:rPr>
              <a:t>dboyce@als.net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EC4D2"/>
                </a:solidFill>
                <a:latin typeface="Arial"/>
              </a:rPr>
              <a:t>ALS TDI · OHDSI/OMOP Train-the-Trainer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