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framing: data quality is always relative to the study question. A 10% rate of unmapped drug codes may have little effect on a study that uses no drug data, and it can undermine a pharmacoepidemiology study.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framework once, completely, then show which parts DQD fills. Kahn et al. (2016) describe three categories (conformance, completeness, plausibility), subcategories for conformance (value, relational, computational) and plausibility (uniqueness, atemporal, temporal), and two contexts (verification and validation). Verification compares data with expectations from the system itself: metadata, constraints, local knowledge. Validation compares data with a relevant external benchmark. DQD uses these labels to organize its check types, and learners will see them as columns in the report. Be plain about the limits: no DQD check type is labeled uniqueness plausibility, and only a few check types are labeled validation (isRequired, measurePersonCompleteness, plausibleGenderUseDescendants). Comparing a prevalence with a published estimate is validation in Kahn's sense, and it is work a study team does outside DQD. The labels on this slide were read from the DQD check type documentation (version 2.6.3) on 1 October 2026; open https://ohdsi.github.io/DataQualityDashboard/articles/CheckTypeDescriptions.html to confirm them for the version your site runs. A failed check does not mean the data are unusable: a high unmapped rate in a domain your study does not use may have no effect on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have access to a real DQD report for the training CDM, walk through it live here. Show how to filter by status, by context, by category and subcategory, and by 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participants share examples of times they thought data were 'missing' and the cause turned out to be the concept 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 live ATLAS concept set build and show both the Included Concepts tab and the Included Source Codes tab. Ask: what happens to patients whose drug was recorded with a source code that does not appear under Included Source Codes? Tab and column labels differ a little between ATLAS versions, so check the labels on your site's instance before the session. The expression itself has three checkboxes per concept: Exclude, Descendants, and Mapped.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one participant share their screen for the build. Focus discussion on the Included Source Codes tab: which source codes appear, and would you have expected all of them? What happens if a site's drug codes are in a vocabulary that does not appear there?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reconciliation logic: (1) confirm the concept_id from ATLAS matches what you used in SQL, (2) check for non-standard concepts in the set, (3) check that both point to the same CDM schema, (4) remember that the record counts ATLAS shows (RC and DRC) come from the last Achilles run, so they can lag behind the CDM and small differences are expected.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20240"/>
            <a:ext cx="10363200" cy="1280160"/>
          </a:xfrm>
        </p:spPr>
        <p:txBody>
          <a:bodyPr anchor="b"/>
          <a:lstStyle>
            <a:lvl1pPr algn="l">
              <a:defRPr sz="4000" b="1"/>
            </a:lvl1pPr>
          </a:lstStyle>
          <a:p>
            <a:r>
              <a:rPr lang="en-US" smtClean="0"/>
              <a:t>Click to edit Master title style</a:t>
            </a:r>
            <a:endParaRPr lang="en-US"/>
          </a:p>
        </p:txBody>
      </p:sp>
      <p:sp>
        <p:nvSpPr>
          <p:cNvPr id="3" name="Text Placeholder 2"/>
          <p:cNvSpPr>
            <a:spLocks noGrp="1"/>
          </p:cNvSpPr>
          <p:nvPr>
            <p:ph type="body" idx="1"/>
          </p:nvPr>
        </p:nvSpPr>
        <p:spPr>
          <a:xfrm>
            <a:off x="963084" y="3291840"/>
            <a:ext cx="10363200" cy="1828800"/>
          </a:xfrm>
        </p:spPr>
        <p:txBody>
          <a:bodyPr anchor="t"/>
          <a:lstStyle>
            <a:lvl1pPr marL="0" indent="0" algn="l">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Vocabulary &amp; Data Quality</a:t>
            </a:r>
          </a:p>
        </p:txBody>
      </p:sp>
      <p:sp>
        <p:nvSpPr>
          <p:cNvPr id="3" name="Subtitle 2"/>
          <p:cNvSpPr>
            <a:spLocks noGrp="1"/>
          </p:cNvSpPr>
          <p:nvPr>
            <p:ph type="subTitle" idx="1"/>
          </p:nvPr>
        </p:nvSpPr>
        <p:spPr/>
        <p:txBody>
          <a:bodyPr/>
          <a:lstStyle/>
          <a:p>
            <a:pPr marL="0" indent="0">
              <a:buNone/>
            </a:pPr>
            <a:r>
              <a:t>DAY 2</a:t>
            </a:r>
          </a:p>
          <a:p>
            <a:pPr marL="0" indent="0">
              <a:buNone/>
            </a:pPr>
            <a:r>
              <a:t>Concept sets in ATLAS · Data Quality Dashboard · SQL validation</a:t>
            </a:r>
          </a:p>
          <a:p>
            <a:pPr marL="0" indent="0">
              <a:buNone/>
            </a:pPr>
            <a:r>
              <a:t>ALS TDI · OHDSI/OMOP Train-the-Trainer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a:r>
              <a:rPr sz="2400"/>
              <a:t>Thank you for being here and for investing your time in this work.</a:t>
            </a:r>
          </a:p>
          <a:p>
            <a:pPr/>
            <a:r>
              <a:rPr sz="2400"/>
              <a:t>This program stands on the shoulders of the global OHDSI community and everyone who contributes to open, reproducible health data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Housekeeping</a:t>
            </a:r>
          </a:p>
        </p:txBody>
      </p:sp>
      <p:sp>
        <p:nvSpPr>
          <p:cNvPr id="3" name="Content Placeholder 2"/>
          <p:cNvSpPr>
            <a:spLocks noGrp="1"/>
          </p:cNvSpPr>
          <p:nvPr>
            <p:ph idx="1"/>
          </p:nvPr>
        </p:nvSpPr>
        <p:spPr/>
        <p:txBody>
          <a:bodyPr/>
          <a:lstStyle/>
          <a:p>
            <a:pPr/>
            <a:r>
              <a:rPr sz="2400"/>
              <a:t>Recording: today's session is recorded and shared within 24 hours.</a:t>
            </a:r>
          </a:p>
          <a:p>
            <a:pPr/>
            <a:r>
              <a:rPr sz="2400"/>
              <a:t>Questions: ask anytime in the chat — we'll pause at each section break.</a:t>
            </a:r>
          </a:p>
          <a:p>
            <a:pPr/>
            <a:r>
              <a:rPr sz="2400"/>
              <a:t>Materials: the slides, participant workbook, and Kahoot live in the program repo.</a:t>
            </a:r>
          </a:p>
          <a:p>
            <a:pPr/>
            <a:r>
              <a:rPr sz="2400"/>
              <a:t>Breaks: we'll take a short break partway through the session.</a:t>
            </a:r>
          </a:p>
          <a:p>
            <a:pPr/>
            <a:r>
              <a:rPr sz="2400"/>
              <a:t>Be kind to yourself — this is a lot of material; mastery comes with practice, not in one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graphicFrame>
        <p:nvGraphicFramePr>
          <p:cNvPr id="3" name="Table 2"/>
          <p:cNvGraphicFramePr>
            <a:graphicFrameLocks noGrp="1"/>
          </p:cNvGraphicFramePr>
          <p:nvPr/>
        </p:nvGraphicFramePr>
        <p:xfrm>
          <a:off x="612648" y="1417320"/>
          <a:ext cx="10966703" cy="4286250"/>
        </p:xfrm>
        <a:graphic>
          <a:graphicData uri="http://schemas.openxmlformats.org/drawingml/2006/table">
            <a:tbl>
              <a:tblPr firstRow="1">
                <a:tableStyleId>{5940675A-B579-460E-94D1-54222C63F5DA}</a:tableStyleId>
              </a:tblPr>
              <a:tblGrid>
                <a:gridCol w="2589360"/>
                <a:gridCol w="8377343"/>
              </a:tblGrid>
              <a:tr h="400050">
                <a:tc>
                  <a:txBody>
                    <a:bodyPr wrap="square"/>
                    <a:lstStyle/>
                    <a:p>
                      <a:r>
                        <a:rPr sz="1800" b="1">
                          <a:solidFill>
                            <a:srgbClr val="000000"/>
                          </a:solidFill>
                        </a:rPr>
                        <a:t>Time</a:t>
                      </a:r>
                    </a:p>
                  </a:txBody>
                  <a:tcPr marL="73152" marR="73152" marT="27432" marB="27432"/>
                </a:tc>
                <a:tc>
                  <a:txBody>
                    <a:bodyPr wrap="square"/>
                    <a:lstStyle/>
                    <a:p>
                      <a:r>
                        <a:rPr sz="1800" b="1">
                          <a:solidFill>
                            <a:srgbClr val="000000"/>
                          </a:solidFill>
                        </a:rPr>
                        <a:t>Topic</a:t>
                      </a:r>
                    </a:p>
                  </a:txBody>
                  <a:tcPr marL="73152" marR="73152" marT="27432" marB="27432"/>
                </a:tc>
              </a:tr>
              <a:tr h="400050">
                <a:tc>
                  <a:txBody>
                    <a:bodyPr wrap="square"/>
                    <a:lstStyle/>
                    <a:p>
                      <a:r>
                        <a:rPr sz="1800">
                          <a:solidFill>
                            <a:srgbClr val="000000"/>
                          </a:solidFill>
                        </a:rPr>
                        <a:t>9:30 – 9:40</a:t>
                      </a:r>
                    </a:p>
                  </a:txBody>
                  <a:tcPr marL="73152" marR="73152" marT="27432" marB="27432"/>
                </a:tc>
                <a:tc>
                  <a:txBody>
                    <a:bodyPr wrap="square"/>
                    <a:lstStyle/>
                    <a:p>
                      <a:r>
                        <a:rPr sz="1800">
                          <a:solidFill>
                            <a:srgbClr val="000000"/>
                          </a:solidFill>
                        </a:rPr>
                        <a:t>Recap and Q&amp;A from Day 1</a:t>
                      </a:r>
                    </a:p>
                  </a:txBody>
                  <a:tcPr marL="73152" marR="73152" marT="27432" marB="27432"/>
                </a:tc>
              </a:tr>
              <a:tr h="685800">
                <a:tc>
                  <a:txBody>
                    <a:bodyPr wrap="square"/>
                    <a:lstStyle/>
                    <a:p>
                      <a:r>
                        <a:rPr sz="1800">
                          <a:solidFill>
                            <a:srgbClr val="000000"/>
                          </a:solidFill>
                        </a:rPr>
                        <a:t>9:40 – 10:15</a:t>
                      </a:r>
                    </a:p>
                  </a:txBody>
                  <a:tcPr marL="73152" marR="73152" marT="27432" marB="27432"/>
                </a:tc>
                <a:tc>
                  <a:txBody>
                    <a:bodyPr wrap="square"/>
                    <a:lstStyle/>
                    <a:p>
                      <a:r>
                        <a:rPr sz="1800">
                          <a:solidFill>
                            <a:srgbClr val="000000"/>
                          </a:solidFill>
                        </a:rPr>
                        <a:t>Part 1: Data quality: reading the Data Quality Dashboard with the Kahn framework</a:t>
                      </a:r>
                    </a:p>
                  </a:txBody>
                  <a:tcPr marL="73152" marR="73152" marT="27432" marB="27432"/>
                </a:tc>
              </a:tr>
              <a:tr h="400050">
                <a:tc>
                  <a:txBody>
                    <a:bodyPr wrap="square"/>
                    <a:lstStyle/>
                    <a:p>
                      <a:r>
                        <a:rPr sz="1800">
                          <a:solidFill>
                            <a:srgbClr val="000000"/>
                          </a:solidFill>
                        </a:rPr>
                        <a:t>10:15 – 10:35</a:t>
                      </a:r>
                    </a:p>
                  </a:txBody>
                  <a:tcPr marL="73152" marR="73152" marT="27432" marB="27432"/>
                </a:tc>
                <a:tc>
                  <a:txBody>
                    <a:bodyPr wrap="square"/>
                    <a:lstStyle/>
                    <a:p>
                      <a:r>
                        <a:rPr sz="1800">
                          <a:solidFill>
                            <a:srgbClr val="000000"/>
                          </a:solidFill>
                        </a:rPr>
                        <a:t>Live demo: reading a DQD report</a:t>
                      </a:r>
                    </a:p>
                  </a:txBody>
                  <a:tcPr marL="73152" marR="73152" marT="27432" marB="27432"/>
                </a:tc>
              </a:tr>
              <a:tr h="400050">
                <a:tc>
                  <a:txBody>
                    <a:bodyPr wrap="square"/>
                    <a:lstStyle/>
                    <a:p>
                      <a:r>
                        <a:rPr sz="1800">
                          <a:solidFill>
                            <a:srgbClr val="000000"/>
                          </a:solidFill>
                        </a:rPr>
                        <a:t>10:35 – 10:50</a:t>
                      </a:r>
                    </a:p>
                  </a:txBody>
                  <a:tcPr marL="73152" marR="73152" marT="27432" marB="27432"/>
                </a:tc>
                <a:tc>
                  <a:txBody>
                    <a:bodyPr wrap="square"/>
                    <a:lstStyle/>
                    <a:p>
                      <a:r>
                        <a:rPr sz="1800">
                          <a:solidFill>
                            <a:srgbClr val="000000"/>
                          </a:solidFill>
                        </a:rPr>
                        <a:t>Break</a:t>
                      </a:r>
                    </a:p>
                  </a:txBody>
                  <a:tcPr marL="73152" marR="73152" marT="27432" marB="27432"/>
                </a:tc>
              </a:tr>
              <a:tr h="400050">
                <a:tc>
                  <a:txBody>
                    <a:bodyPr wrap="square"/>
                    <a:lstStyle/>
                    <a:p>
                      <a:r>
                        <a:rPr sz="1800">
                          <a:solidFill>
                            <a:srgbClr val="000000"/>
                          </a:solidFill>
                        </a:rPr>
                        <a:t>10:50 – 11:20</a:t>
                      </a:r>
                    </a:p>
                  </a:txBody>
                  <a:tcPr marL="73152" marR="73152" marT="27432" marB="27432"/>
                </a:tc>
                <a:tc>
                  <a:txBody>
                    <a:bodyPr wrap="square"/>
                    <a:lstStyle/>
                    <a:p>
                      <a:r>
                        <a:rPr sz="1800">
                          <a:solidFill>
                            <a:srgbClr val="000000"/>
                          </a:solidFill>
                        </a:rPr>
                        <a:t>Part 2: Concept sets — what they are and how they work</a:t>
                      </a:r>
                    </a:p>
                  </a:txBody>
                  <a:tcPr marL="73152" marR="73152" marT="27432" marB="27432"/>
                </a:tc>
              </a:tr>
              <a:tr h="400050">
                <a:tc>
                  <a:txBody>
                    <a:bodyPr wrap="square"/>
                    <a:lstStyle/>
                    <a:p>
                      <a:r>
                        <a:rPr sz="1800">
                          <a:solidFill>
                            <a:srgbClr val="000000"/>
                          </a:solidFill>
                        </a:rPr>
                        <a:t>11:20 – 11:40</a:t>
                      </a:r>
                    </a:p>
                  </a:txBody>
                  <a:tcPr marL="73152" marR="73152" marT="27432" marB="27432"/>
                </a:tc>
                <a:tc>
                  <a:txBody>
                    <a:bodyPr wrap="square"/>
                    <a:lstStyle/>
                    <a:p>
                      <a:r>
                        <a:rPr sz="1800">
                          <a:solidFill>
                            <a:srgbClr val="000000"/>
                          </a:solidFill>
                        </a:rPr>
                        <a:t>Live demo: building a concept set in ATLAS</a:t>
                      </a:r>
                    </a:p>
                  </a:txBody>
                  <a:tcPr marL="73152" marR="73152" marT="27432" marB="27432"/>
                </a:tc>
              </a:tr>
              <a:tr h="400050">
                <a:tc>
                  <a:txBody>
                    <a:bodyPr wrap="square"/>
                    <a:lstStyle/>
                    <a:p>
                      <a:r>
                        <a:rPr sz="1800">
                          <a:solidFill>
                            <a:srgbClr val="000000"/>
                          </a:solidFill>
                        </a:rPr>
                        <a:t>11:40 – 12:30</a:t>
                      </a:r>
                    </a:p>
                  </a:txBody>
                  <a:tcPr marL="73152" marR="73152" marT="27432" marB="27432"/>
                </a:tc>
                <a:tc>
                  <a:txBody>
                    <a:bodyPr wrap="square"/>
                    <a:lstStyle/>
                    <a:p>
                      <a:r>
                        <a:rPr sz="1800">
                          <a:solidFill>
                            <a:srgbClr val="000000"/>
                          </a:solidFill>
                        </a:rPr>
                        <a:t>SQL lab: build concept set → validate in SQL client</a:t>
                      </a:r>
                    </a:p>
                  </a:txBody>
                  <a:tcPr marL="73152" marR="73152" marT="27432" marB="27432"/>
                </a:tc>
              </a:tr>
              <a:tr h="400050">
                <a:tc>
                  <a:txBody>
                    <a:bodyPr wrap="square"/>
                    <a:lstStyle/>
                    <a:p>
                      <a:r>
                        <a:rPr sz="1800">
                          <a:solidFill>
                            <a:srgbClr val="000000"/>
                          </a:solidFill>
                        </a:rPr>
                        <a:t>12:30 – 12:45</a:t>
                      </a:r>
                    </a:p>
                  </a:txBody>
                  <a:tcPr marL="73152" marR="73152" marT="27432" marB="27432"/>
                </a:tc>
                <a:tc>
                  <a:txBody>
                    <a:bodyPr wrap="square"/>
                    <a:lstStyle/>
                    <a:p>
                      <a:r>
                        <a:rPr sz="1800">
                          <a:solidFill>
                            <a:srgbClr val="000000"/>
                          </a:solidFill>
                        </a:rPr>
                        <a:t>Discussion: DQ vs concept set problems</a:t>
                      </a:r>
                    </a:p>
                  </a:txBody>
                  <a:tcPr marL="73152" marR="73152" marT="27432" marB="27432"/>
                </a:tc>
              </a:tr>
              <a:tr h="400050">
                <a:tc>
                  <a:txBody>
                    <a:bodyPr wrap="square"/>
                    <a:lstStyle/>
                    <a:p>
                      <a:r>
                        <a:rPr sz="1800">
                          <a:solidFill>
                            <a:srgbClr val="000000"/>
                          </a:solidFill>
                        </a:rPr>
                        <a:t>12:45 – 1:00</a:t>
                      </a:r>
                    </a:p>
                  </a:txBody>
                  <a:tcPr marL="73152" marR="73152" marT="27432" marB="27432"/>
                </a:tc>
                <a:tc>
                  <a:txBody>
                    <a:bodyPr wrap="square"/>
                    <a:lstStyle/>
                    <a:p>
                      <a:r>
                        <a:rPr sz="1800">
                          <a:solidFill>
                            <a:srgbClr val="000000"/>
                          </a:solidFill>
                        </a:rPr>
                        <a:t>Recap, homework, Day 3 preview</a:t>
                      </a:r>
                    </a:p>
                  </a:txBody>
                  <a:tcPr marL="73152" marR="73152" marT="27432" marB="27432"/>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Kahoot!</a:t>
            </a:r>
          </a:p>
        </p:txBody>
      </p:sp>
      <p:sp>
        <p:nvSpPr>
          <p:cNvPr id="3" name="Text Placeholder 2"/>
          <p:cNvSpPr>
            <a:spLocks noGrp="1"/>
          </p:cNvSpPr>
          <p:nvPr>
            <p:ph type="body" idx="1"/>
          </p:nvPr>
        </p:nvSpPr>
        <p:spPr/>
        <p:txBody>
          <a:bodyPr/>
          <a:lstStyle/>
          <a:p>
            <a:pPr marL="0" indent="0">
              <a:buNone/>
            </a:pPr>
            <a:r>
              <a:t>Quick warm-up — let's see what stuck.</a:t>
            </a:r>
          </a:p>
          <a:p>
            <a:pPr marL="0" indent="0">
              <a:buNone/>
            </a:pPr>
            <a:r>
              <a:t>Join at kahoot.it  ·  enter the game PIN on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marL="0" indent="0">
              <a:buNone/>
            </a:pPr>
            <a:r>
              <a:rPr i="1"/>
              <a:t>By the end of this session, you will be able to:</a:t>
            </a:r>
          </a:p>
          <a:p>
            <a:pPr marL="0" indent="0">
              <a:buNone/>
            </a:pPr>
            <a:r>
              <a:t>1. Use the Kahn framework's terms (category, subcategory, context) to read a Data Quality Dashboard result, and name the parts of the framework that DQD does not check</a:t>
            </a:r>
          </a:p>
          <a:p>
            <a:pPr marL="0" indent="0">
              <a:buNone/>
            </a:pPr>
            <a:r>
              <a:t>2. Describe what the Data Quality Dashboard checks and how thresholds work</a:t>
            </a:r>
          </a:p>
          <a:p>
            <a:pPr marL="0" indent="0">
              <a:buNone/>
            </a:pPr>
            <a:r>
              <a:t>3. Distinguish a true data quality problem from a concept set or cohort definition problem</a:t>
            </a:r>
          </a:p>
          <a:p>
            <a:pPr marL="0" indent="0">
              <a:buNone/>
            </a:pPr>
            <a:r>
              <a:t>4. Build a concept set in ATLAS using standard concepts with descendants</a:t>
            </a:r>
          </a:p>
          <a:p>
            <a:pPr marL="0" indent="0">
              <a:buNone/>
            </a:pPr>
            <a:r>
              <a:t>5. Check a concept set against the CDM using SQL and explain any difference from the counts ATLAS shows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discuss</a:t>
            </a:r>
          </a:p>
        </p:txBody>
      </p:sp>
      <p:sp>
        <p:nvSpPr>
          <p:cNvPr id="3" name="Content Placeholder 2"/>
          <p:cNvSpPr>
            <a:spLocks noGrp="1"/>
          </p:cNvSpPr>
          <p:nvPr>
            <p:ph idx="1"/>
          </p:nvPr>
        </p:nvSpPr>
        <p:spPr/>
        <p:txBody>
          <a:bodyPr/>
          <a:lstStyle/>
          <a:p>
            <a:pPr marL="0" indent="0">
              <a:buNone/>
            </a:pPr>
            <a:r>
              <a:rPr b="1" sz="2400"/>
              <a:t>Tell us about a time you trusted a number that turned out to be wrong.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Data Quality</a:t>
            </a:r>
          </a:p>
        </p:txBody>
      </p:sp>
      <p:sp>
        <p:nvSpPr>
          <p:cNvPr id="3" name="Text Placeholder 2"/>
          <p:cNvSpPr>
            <a:spLocks noGrp="1"/>
          </p:cNvSpPr>
          <p:nvPr>
            <p:ph type="body" idx="1"/>
          </p:nvPr>
        </p:nvSpPr>
        <p:spPr/>
        <p:txBody>
          <a:bodyPr/>
          <a:lstStyle/>
          <a:p>
            <a:pPr marL="0" indent="0">
              <a:buNone/>
            </a:pPr>
            <a:r>
              <a:t>Are the data fit for the question you want to ask?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Data Quality Comes First</a:t>
            </a:r>
          </a:p>
        </p:txBody>
      </p:sp>
      <p:sp>
        <p:nvSpPr>
          <p:cNvPr id="3" name="Content Placeholder 2"/>
          <p:cNvSpPr>
            <a:spLocks noGrp="1"/>
          </p:cNvSpPr>
          <p:nvPr>
            <p:ph idx="1"/>
          </p:nvPr>
        </p:nvSpPr>
        <p:spPr/>
        <p:txBody>
          <a:bodyPr/>
          <a:lstStyle/>
          <a:p>
            <a:pPr/>
            <a:r>
              <a:rPr sz="1800"/>
              <a:t>Source data are collected for care and billing, NOT for research</a:t>
            </a:r>
          </a:p>
          <a:p>
            <a:pPr/>
            <a:r>
              <a:rPr sz="1800"/>
              <a:t>Before any analysis: ask 'Are these data fit for my question?'</a:t>
            </a:r>
          </a:p>
          <a:p>
            <a:pPr/>
            <a:r>
              <a:rPr sz="1800"/>
              <a:t>OMOP CDM standardizes the format and vocabulary — but cannot fix underlying data problems</a:t>
            </a:r>
          </a:p>
          <a:p>
            <a:pPr marL="0" indent="0">
              <a:buNone/>
            </a:pPr>
            <a:r>
              <a:rPr sz="1800"/>
              <a:t>Common data quality issues in real-world data:</a:t>
            </a:r>
          </a:p>
          <a:p>
            <a:pPr lvl="1"/>
            <a:r>
              <a:rPr sz="1600"/>
              <a:t>Under-coding: conditions present clinically but not recorded</a:t>
            </a:r>
          </a:p>
          <a:p>
            <a:pPr lvl="1"/>
            <a:r>
              <a:rPr sz="1600"/>
              <a:t>Over-coding: diagnoses on claims that reflect billing rules, not clinical reality</a:t>
            </a:r>
          </a:p>
          <a:p>
            <a:pPr lvl="1"/>
            <a:r>
              <a:rPr sz="1600"/>
              <a:t>Unmapped codes: concept_id = 0 means the code wasn't translated to standard</a:t>
            </a:r>
          </a:p>
          <a:p>
            <a:pPr lvl="1"/>
            <a:r>
              <a:rPr sz="1600"/>
              <a:t>Temporal artifacts: observation period gaps, implausible dates</a:t>
            </a:r>
          </a:p>
          <a:p>
            <a:pPr/>
            <a:r>
              <a:rPr sz="1800"/>
              <a:t>The skill is not avoiding bad data — it is recognizing it and deciding whether it threatens your study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Kahn Framework and What DQD Covers</a:t>
            </a:r>
          </a:p>
        </p:txBody>
      </p:sp>
      <p:graphicFrame>
        <p:nvGraphicFramePr>
          <p:cNvPr id="3" name="Table 2"/>
          <p:cNvGraphicFramePr>
            <a:graphicFrameLocks noGrp="1"/>
          </p:cNvGraphicFramePr>
          <p:nvPr/>
        </p:nvGraphicFramePr>
        <p:xfrm>
          <a:off x="612648" y="1417320"/>
          <a:ext cx="10966703" cy="2235200"/>
        </p:xfrm>
        <a:graphic>
          <a:graphicData uri="http://schemas.openxmlformats.org/drawingml/2006/table">
            <a:tbl>
              <a:tblPr firstRow="1">
                <a:tableStyleId>{5940675A-B579-460E-94D1-54222C63F5DA}</a:tableStyleId>
              </a:tblPr>
              <a:tblGrid>
                <a:gridCol w="1392597"/>
                <a:gridCol w="4787053"/>
                <a:gridCol w="4787053"/>
              </a:tblGrid>
              <a:tr h="336550">
                <a:tc>
                  <a:txBody>
                    <a:bodyPr wrap="square"/>
                    <a:lstStyle/>
                    <a:p>
                      <a:r>
                        <a:rPr sz="1400" b="1">
                          <a:solidFill>
                            <a:srgbClr val="000000"/>
                          </a:solidFill>
                        </a:rPr>
                        <a:t>Category</a:t>
                      </a:r>
                    </a:p>
                  </a:txBody>
                  <a:tcPr marL="73152" marR="73152" marT="27432" marB="27432"/>
                </a:tc>
                <a:tc>
                  <a:txBody>
                    <a:bodyPr wrap="square"/>
                    <a:lstStyle/>
                    <a:p>
                      <a:r>
                        <a:rPr sz="1400" b="1">
                          <a:solidFill>
                            <a:srgbClr val="000000"/>
                          </a:solidFill>
                        </a:rPr>
                        <a:t>Definition</a:t>
                      </a:r>
                    </a:p>
                  </a:txBody>
                  <a:tcPr marL="73152" marR="73152" marT="27432" marB="27432"/>
                </a:tc>
                <a:tc>
                  <a:txBody>
                    <a:bodyPr wrap="square"/>
                    <a:lstStyle/>
                    <a:p>
                      <a:r>
                        <a:rPr sz="1400" b="1">
                          <a:solidFill>
                            <a:srgbClr val="000000"/>
                          </a:solidFill>
                        </a:rPr>
                        <a:t>DQD check types with this label</a:t>
                      </a:r>
                    </a:p>
                  </a:txBody>
                  <a:tcPr marL="73152" marR="73152" marT="27432" marB="27432"/>
                </a:tc>
              </a:tr>
              <a:tr h="781050">
                <a:tc>
                  <a:txBody>
                    <a:bodyPr wrap="square"/>
                    <a:lstStyle/>
                    <a:p>
                      <a:r>
                        <a:rPr sz="1400">
                          <a:solidFill>
                            <a:srgbClr val="000000"/>
                          </a:solidFill>
                        </a:rPr>
                        <a:t>Conformance</a:t>
                      </a:r>
                    </a:p>
                  </a:txBody>
                  <a:tcPr marL="73152" marR="73152" marT="27432" marB="27432"/>
                </a:tc>
                <a:tc>
                  <a:txBody>
                    <a:bodyPr wrap="square"/>
                    <a:lstStyle/>
                    <a:p>
                      <a:r>
                        <a:rPr sz="1400">
                          <a:solidFill>
                            <a:srgbClr val="000000"/>
                          </a:solidFill>
                        </a:rPr>
                        <a:t>Do values follow the expected format, type, and relational rules? Subcategories: value · relational · computational.</a:t>
                      </a:r>
                    </a:p>
                  </a:txBody>
                  <a:tcPr marL="73152" marR="73152" marT="27432" marB="27432"/>
                </a:tc>
                <a:tc>
                  <a:txBody>
                    <a:bodyPr wrap="square"/>
                    <a:lstStyle/>
                    <a:p>
                      <a:r>
                        <a:rPr sz="1400">
                          <a:solidFill>
                            <a:srgbClr val="000000"/>
                          </a:solidFill>
                        </a:rPr>
                        <a:t>fkDomain (value) · isForeignKey (relational) · fkClass (computational)</a:t>
                      </a:r>
                    </a:p>
                  </a:txBody>
                  <a:tcPr marL="73152" marR="73152" marT="27432" marB="27432"/>
                </a:tc>
              </a:tr>
              <a:tr h="558800">
                <a:tc>
                  <a:txBody>
                    <a:bodyPr wrap="square"/>
                    <a:lstStyle/>
                    <a:p>
                      <a:r>
                        <a:rPr sz="1400">
                          <a:solidFill>
                            <a:srgbClr val="000000"/>
                          </a:solidFill>
                        </a:rPr>
                        <a:t>Completeness</a:t>
                      </a:r>
                    </a:p>
                  </a:txBody>
                  <a:tcPr marL="73152" marR="73152" marT="27432" marB="27432"/>
                </a:tc>
                <a:tc>
                  <a:txBody>
                    <a:bodyPr wrap="square"/>
                    <a:lstStyle/>
                    <a:p>
                      <a:r>
                        <a:rPr sz="1400">
                          <a:solidFill>
                            <a:srgbClr val="000000"/>
                          </a:solidFill>
                        </a:rPr>
                        <a:t>Are values present where expected? No subcategories.</a:t>
                      </a:r>
                    </a:p>
                  </a:txBody>
                  <a:tcPr marL="73152" marR="73152" marT="27432" marB="27432"/>
                </a:tc>
                <a:tc>
                  <a:txBody>
                    <a:bodyPr wrap="square"/>
                    <a:lstStyle/>
                    <a:p>
                      <a:r>
                        <a:rPr sz="1400">
                          <a:solidFill>
                            <a:srgbClr val="000000"/>
                          </a:solidFill>
                        </a:rPr>
                        <a:t>standardConceptRecordCompleteness (rows with concept_id = 0)</a:t>
                      </a:r>
                    </a:p>
                  </a:txBody>
                  <a:tcPr marL="73152" marR="73152" marT="27432" marB="27432"/>
                </a:tc>
              </a:tr>
              <a:tr h="558800">
                <a:tc>
                  <a:txBody>
                    <a:bodyPr wrap="square"/>
                    <a:lstStyle/>
                    <a:p>
                      <a:r>
                        <a:rPr sz="1400">
                          <a:solidFill>
                            <a:srgbClr val="000000"/>
                          </a:solidFill>
                        </a:rPr>
                        <a:t>Plausibility</a:t>
                      </a:r>
                    </a:p>
                  </a:txBody>
                  <a:tcPr marL="73152" marR="73152" marT="27432" marB="27432"/>
                </a:tc>
                <a:tc>
                  <a:txBody>
                    <a:bodyPr wrap="square"/>
                    <a:lstStyle/>
                    <a:p>
                      <a:r>
                        <a:rPr sz="1400">
                          <a:solidFill>
                            <a:srgbClr val="000000"/>
                          </a:solidFill>
                        </a:rPr>
                        <a:t>Are values believable? Subcategories: uniqueness · atemporal · temporal.</a:t>
                      </a:r>
                    </a:p>
                  </a:txBody>
                  <a:tcPr marL="73152" marR="73152" marT="27432" marB="27432"/>
                </a:tc>
                <a:tc>
                  <a:txBody>
                    <a:bodyPr wrap="square"/>
                    <a:lstStyle/>
                    <a:p>
                      <a:r>
                        <a:rPr sz="1400">
                          <a:solidFill>
                            <a:srgbClr val="000000"/>
                          </a:solidFill>
                        </a:rPr>
                        <a:t>plausibleValueHigh (atemporal) · plausibleAfterBirth (temporal) · none for uniqueness</a:t>
                      </a:r>
                    </a:p>
                  </a:txBody>
                  <a:tcPr marL="73152" marR="73152" marT="27432" marB="27432"/>
                </a:tc>
              </a:tr>
            </a:tbl>
          </a:graphicData>
        </a:graphic>
      </p:graphicFrame>
      <p:sp>
        <p:nvSpPr>
          <p:cNvPr id="4" name="TextBox 3"/>
          <p:cNvSpPr txBox="1"/>
          <p:nvPr/>
        </p:nvSpPr>
        <p:spPr>
          <a:xfrm>
            <a:off x="612648" y="3762248"/>
            <a:ext cx="10966704" cy="332740"/>
          </a:xfrm>
          <a:prstGeom prst="rect">
            <a:avLst/>
          </a:prstGeom>
          <a:noFill/>
        </p:spPr>
        <p:txBody>
          <a:bodyPr wrap="square">
            <a:spAutoFit/>
          </a:bodyPr>
          <a:lstStyle/>
          <a:p>
            <a:r>
              <a:rPr sz="1400" b="1">
                <a:solidFill>
                  <a:srgbClr val="000000"/>
                </a:solidFill>
              </a:rPr>
              <a:t>The framework also has two assessment contexts:</a:t>
            </a:r>
          </a:p>
        </p:txBody>
      </p:sp>
      <p:graphicFrame>
        <p:nvGraphicFramePr>
          <p:cNvPr id="5" name="Table 4"/>
          <p:cNvGraphicFramePr>
            <a:graphicFrameLocks noGrp="1"/>
          </p:cNvGraphicFramePr>
          <p:nvPr/>
        </p:nvGraphicFramePr>
        <p:xfrm>
          <a:off x="612648" y="4094988"/>
          <a:ext cx="10966703" cy="1676400"/>
        </p:xfrm>
        <a:graphic>
          <a:graphicData uri="http://schemas.openxmlformats.org/drawingml/2006/table">
            <a:tbl>
              <a:tblPr firstRow="1">
                <a:tableStyleId>{5940675A-B579-460E-94D1-54222C63F5DA}</a:tableStyleId>
              </a:tblPr>
              <a:tblGrid>
                <a:gridCol w="1392597"/>
                <a:gridCol w="4787053"/>
                <a:gridCol w="4787053"/>
              </a:tblGrid>
              <a:tr h="336550">
                <a:tc>
                  <a:txBody>
                    <a:bodyPr wrap="square"/>
                    <a:lstStyle/>
                    <a:p>
                      <a:r>
                        <a:rPr sz="1400" b="1">
                          <a:solidFill>
                            <a:srgbClr val="000000"/>
                          </a:solidFill>
                        </a:rPr>
                        <a:t>Context</a:t>
                      </a:r>
                    </a:p>
                  </a:txBody>
                  <a:tcPr marL="73152" marR="73152" marT="27432" marB="27432"/>
                </a:tc>
                <a:tc>
                  <a:txBody>
                    <a:bodyPr wrap="square"/>
                    <a:lstStyle/>
                    <a:p>
                      <a:r>
                        <a:rPr sz="1400" b="1">
                          <a:solidFill>
                            <a:srgbClr val="000000"/>
                          </a:solidFill>
                        </a:rPr>
                        <a:t>You check the data against…</a:t>
                      </a:r>
                    </a:p>
                  </a:txBody>
                  <a:tcPr marL="73152" marR="73152" marT="27432" marB="27432"/>
                </a:tc>
                <a:tc>
                  <a:txBody>
                    <a:bodyPr wrap="square"/>
                    <a:lstStyle/>
                    <a:p>
                      <a:r>
                        <a:rPr sz="1400" b="1">
                          <a:solidFill>
                            <a:srgbClr val="000000"/>
                          </a:solidFill>
                        </a:rPr>
                        <a:t>How DQD uses the label</a:t>
                      </a:r>
                    </a:p>
                  </a:txBody>
                  <a:tcPr marL="73152" marR="73152" marT="27432" marB="27432"/>
                </a:tc>
              </a:tr>
              <a:tr h="558800">
                <a:tc>
                  <a:txBody>
                    <a:bodyPr wrap="square"/>
                    <a:lstStyle/>
                    <a:p>
                      <a:r>
                        <a:rPr sz="1400">
                          <a:solidFill>
                            <a:srgbClr val="000000"/>
                          </a:solidFill>
                        </a:rPr>
                        <a:t>Verification</a:t>
                      </a:r>
                    </a:p>
                  </a:txBody>
                  <a:tcPr marL="73152" marR="73152" marT="27432" marB="27432"/>
                </a:tc>
                <a:tc>
                  <a:txBody>
                    <a:bodyPr wrap="square"/>
                    <a:lstStyle/>
                    <a:p>
                      <a:r>
                        <a:rPr sz="1400">
                          <a:solidFill>
                            <a:srgbClr val="000000"/>
                          </a:solidFill>
                        </a:rPr>
                        <a:t>expectations from the system itself: metadata, constraints, local knowledge</a:t>
                      </a:r>
                    </a:p>
                  </a:txBody>
                  <a:tcPr marL="73152" marR="73152" marT="27432" marB="27432"/>
                </a:tc>
                <a:tc>
                  <a:txBody>
                    <a:bodyPr wrap="square"/>
                    <a:lstStyle/>
                    <a:p>
                      <a:r>
                        <a:rPr sz="1400">
                          <a:solidFill>
                            <a:srgbClr val="000000"/>
                          </a:solidFill>
                        </a:rPr>
                        <a:t>Most DQD check types</a:t>
                      </a:r>
                    </a:p>
                  </a:txBody>
                  <a:tcPr marL="73152" marR="73152" marT="27432" marB="27432"/>
                </a:tc>
              </a:tr>
              <a:tr h="781050">
                <a:tc>
                  <a:txBody>
                    <a:bodyPr wrap="square"/>
                    <a:lstStyle/>
                    <a:p>
                      <a:r>
                        <a:rPr sz="1400">
                          <a:solidFill>
                            <a:srgbClr val="000000"/>
                          </a:solidFill>
                        </a:rPr>
                        <a:t>Validation</a:t>
                      </a:r>
                    </a:p>
                  </a:txBody>
                  <a:tcPr marL="73152" marR="73152" marT="27432" marB="27432"/>
                </a:tc>
                <a:tc>
                  <a:txBody>
                    <a:bodyPr wrap="square"/>
                    <a:lstStyle/>
                    <a:p>
                      <a:r>
                        <a:rPr sz="1400">
                          <a:solidFill>
                            <a:srgbClr val="000000"/>
                          </a:solidFill>
                        </a:rPr>
                        <a:t>a relevant external benchmark</a:t>
                      </a:r>
                    </a:p>
                  </a:txBody>
                  <a:tcPr marL="73152" marR="73152" marT="27432" marB="27432"/>
                </a:tc>
                <a:tc>
                  <a:txBody>
                    <a:bodyPr wrap="square"/>
                    <a:lstStyle/>
                    <a:p>
                      <a:r>
                        <a:rPr sz="1400">
                          <a:solidFill>
                            <a:srgbClr val="000000"/>
                          </a:solidFill>
                        </a:rPr>
                        <a:t>isRequired · measurePersonCompleteness · plausibleGenderUseDescendants. No comparison with published rates</a:t>
                      </a:r>
                    </a:p>
                  </a:txBody>
                  <a:tcPr marL="73152" marR="73152" marT="27432" marB="27432"/>
                </a:tc>
              </a:tr>
            </a:tbl>
          </a:graphicData>
        </a:graphic>
      </p:graphicFrame>
      <p:sp>
        <p:nvSpPr>
          <p:cNvPr id="6" name="TextBox 5"/>
          <p:cNvSpPr txBox="1"/>
          <p:nvPr/>
        </p:nvSpPr>
        <p:spPr>
          <a:xfrm>
            <a:off x="612648" y="5881116"/>
            <a:ext cx="10966704" cy="332740"/>
          </a:xfrm>
          <a:prstGeom prst="rect">
            <a:avLst/>
          </a:prstGeom>
          <a:noFill/>
        </p:spPr>
        <p:txBody>
          <a:bodyPr wrap="square">
            <a:spAutoFit/>
          </a:bodyPr>
          <a:lstStyle/>
          <a:p>
            <a:r>
              <a:rPr sz="1400" i="1">
                <a:solidFill>
                  <a:srgbClr val="000000"/>
                </a:solidFill>
              </a:rPr>
              <a:t>DQD labels every check with a context, category, and subcategory. Its checks fill part of the framework.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Data Quality Dashboard (DQD)</a:t>
            </a:r>
          </a:p>
        </p:txBody>
      </p:sp>
      <p:sp>
        <p:nvSpPr>
          <p:cNvPr id="3" name="Content Placeholder 2"/>
          <p:cNvSpPr>
            <a:spLocks noGrp="1"/>
          </p:cNvSpPr>
          <p:nvPr>
            <p:ph idx="1"/>
          </p:nvPr>
        </p:nvSpPr>
        <p:spPr/>
        <p:txBody>
          <a:bodyPr/>
          <a:lstStyle/>
          <a:p>
            <a:pPr/>
            <a:r>
              <a:rPr sz="1800"/>
              <a:t>DQD is an open-source OHDSI R package whose check types are organized by Kahn context, category, and subcategory</a:t>
            </a:r>
          </a:p>
          <a:p>
            <a:pPr/>
            <a:r>
              <a:rPr sz="1800"/>
              <a:t>It runs a library of automated checks against an OMOP CDM</a:t>
            </a:r>
          </a:p>
          <a:p>
            <a:pPr/>
            <a:r>
              <a:rPr sz="1800"/>
              <a:t>Each check has a threshold: the percent of failing rows a site will accept. Defaults differ by check and can be changed</a:t>
            </a:r>
          </a:p>
          <a:p>
            <a:pPr/>
            <a:r>
              <a:rPr sz="1800"/>
              <a:t>DQD produces a report: each check passes or fails against its threshold</a:t>
            </a:r>
          </a:p>
          <a:p>
            <a:pPr/>
            <a:r>
              <a:rPr sz="1800"/>
              <a:t>Output is viewable in an interactive Shiny dashboard</a:t>
            </a:r>
          </a:p>
          <a:p>
            <a:pPr/>
            <a:r>
              <a:rPr sz="1800"/>
              <a:t>A useful habit after any ETL or CDM update: run DQD, review failures, decide which ones matter</a:t>
            </a:r>
          </a:p>
          <a:p>
            <a:pPr/>
            <a:r>
              <a:rPr sz="1800"/>
              <a:t>CRITICAL: a passing DQD does not guarantee your data answer your specific question</a:t>
            </a:r>
          </a:p>
          <a:p>
            <a:pPr/>
            <a:r>
              <a:rPr sz="1800"/>
              <a:t>CRITICAL: a failed DQD check is not always fatal — context matters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a DQD Report</a:t>
            </a:r>
          </a:p>
        </p:txBody>
      </p:sp>
      <p:sp>
        <p:nvSpPr>
          <p:cNvPr id="3" name="Content Placeholder 2"/>
          <p:cNvSpPr>
            <a:spLocks noGrp="1"/>
          </p:cNvSpPr>
          <p:nvPr>
            <p:ph idx="1" sz="half"/>
          </p:nvPr>
        </p:nvSpPr>
        <p:spPr/>
        <p:txBody>
          <a:bodyPr/>
          <a:lstStyle/>
          <a:p>
            <a:pPr marL="0" indent="0">
              <a:buNone/>
            </a:pPr>
            <a:r>
              <a:rPr b="1" sz="1800"/>
              <a:t>What to Look For First</a:t>
            </a:r>
          </a:p>
          <a:p>
            <a:pPr/>
            <a:r>
              <a:rPr sz="1800"/>
              <a:t>Overall pass rate (% of checks passing)</a:t>
            </a:r>
          </a:p>
          <a:p>
            <a:pPr/>
            <a:r>
              <a:rPr sz="1800"/>
              <a:t>Failures in the domains relevant to your study</a:t>
            </a:r>
          </a:p>
          <a:p>
            <a:pPr/>
            <a:r>
              <a:rPr sz="1800"/>
              <a:t>High-failure-count tables (e.g., condition_occurrence, drug_exposure)</a:t>
            </a:r>
          </a:p>
          <a:p>
            <a:pPr/>
            <a:r>
              <a:rPr sz="1800"/>
              <a:t>Plausibility failures: dates, impossible values</a:t>
            </a:r>
          </a:p>
          <a:p>
            <a:pPr/>
            <a:r>
              <a:rPr sz="1800"/>
              <a:t>Completeness: concept_id = 0 rates</a:t>
            </a:r>
          </a:p>
          <a:p>
            <a:pPr/>
            <a:r>
              <a:rPr sz="1800"/>
              <a:t>Conformance: foreign key violations</a:t>
            </a:r>
          </a:p>
        </p:txBody>
      </p:sp>
      <p:sp>
        <p:nvSpPr>
          <p:cNvPr id="4" name="Content Placeholder 3"/>
          <p:cNvSpPr>
            <a:spLocks noGrp="1"/>
          </p:cNvSpPr>
          <p:nvPr>
            <p:ph idx="2" sz="half"/>
          </p:nvPr>
        </p:nvSpPr>
        <p:spPr/>
        <p:txBody>
          <a:bodyPr/>
          <a:lstStyle/>
          <a:p>
            <a:pPr marL="0" indent="0">
              <a:buNone/>
            </a:pPr>
            <a:r>
              <a:rPr b="1" sz="1800"/>
              <a:t>How to Interpret</a:t>
            </a:r>
          </a:p>
          <a:p>
            <a:pPr/>
            <a:r>
              <a:rPr sz="1800"/>
              <a:t>Ask: does this failure affect my study question?</a:t>
            </a:r>
          </a:p>
          <a:p>
            <a:pPr/>
            <a:r>
              <a:rPr sz="1800"/>
              <a:t>Severity varies by domain and study type</a:t>
            </a:r>
          </a:p>
          <a:p>
            <a:pPr/>
            <a:r>
              <a:rPr sz="1800"/>
              <a:t>10% concept_id = 0 in drug_exposure can undermine a drug study and may have little effect on a study that uses no drug data</a:t>
            </a:r>
          </a:p>
          <a:p>
            <a:pPr/>
            <a:r>
              <a:rPr sz="1800"/>
              <a:t>Document every DQD failure you reviewed in your study protocol</a:t>
            </a:r>
          </a:p>
          <a:p>
            <a:pPr/>
            <a:r>
              <a:rPr sz="1800"/>
              <a:t>If unsure: treat it as a sensitivity analysis (run with and without flagged records)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Quality or Concept Set Problem?</a:t>
            </a:r>
          </a:p>
        </p:txBody>
      </p:sp>
      <p:sp>
        <p:nvSpPr>
          <p:cNvPr id="3" name="Content Placeholder 2"/>
          <p:cNvSpPr>
            <a:spLocks noGrp="1"/>
          </p:cNvSpPr>
          <p:nvPr>
            <p:ph idx="1"/>
          </p:nvPr>
        </p:nvSpPr>
        <p:spPr/>
        <p:txBody>
          <a:bodyPr/>
          <a:lstStyle/>
          <a:p>
            <a:pPr/>
            <a:r>
              <a:rPr sz="1800"/>
              <a:t>A recurring mistake: blaming the data when the concept set is the real issue</a:t>
            </a:r>
          </a:p>
          <a:p>
            <a:pPr/>
            <a:r>
              <a:rPr sz="1800"/>
              <a:t>Scenario: your cohort size is unexpectedly small</a:t>
            </a:r>
          </a:p>
          <a:p>
            <a:pPr marL="0" indent="0">
              <a:buNone/>
            </a:pPr>
            <a:r>
              <a:rPr sz="1800"/>
              <a:t>BEFORE concluding the data have a DQ problem, ask:</a:t>
            </a:r>
          </a:p>
          <a:p>
            <a:pPr lvl="1"/>
            <a:r>
              <a:rPr sz="1600"/>
              <a:t>Is your concept set built on standard concepts? (non-standard → 0 results)</a:t>
            </a:r>
          </a:p>
          <a:p>
            <a:pPr lvl="1"/>
            <a:r>
              <a:rPr sz="1600"/>
              <a:t>Did you turn on Include Descendants for drug ingredients or condition classes?</a:t>
            </a:r>
          </a:p>
          <a:p>
            <a:pPr lvl="1"/>
            <a:r>
              <a:rPr sz="1600"/>
              <a:t>Did you export and run the Atlas SQL in your SQL client — do you get the same count?</a:t>
            </a:r>
          </a:p>
          <a:p>
            <a:pPr lvl="1"/>
            <a:r>
              <a:rPr sz="1600"/>
              <a:t>Is the CDM schema the same one Atlas generated against?</a:t>
            </a:r>
          </a:p>
          <a:p>
            <a:pPr/>
            <a:r>
              <a:rPr sz="1800"/>
              <a:t>Only after ruling out concept set and cohort logic issues should you investigate the CDM data itself</a:t>
            </a:r>
          </a:p>
          <a:p>
            <a:pPr/>
            <a:r>
              <a:rPr sz="1800"/>
              <a:t>This distinction will come up in nearly every project you work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Concept Sets</a:t>
            </a:r>
          </a:p>
        </p:txBody>
      </p:sp>
      <p:sp>
        <p:nvSpPr>
          <p:cNvPr id="3" name="Text Placeholder 2"/>
          <p:cNvSpPr>
            <a:spLocks noGrp="1"/>
          </p:cNvSpPr>
          <p:nvPr>
            <p:ph type="body" idx="1"/>
          </p:nvPr>
        </p:nvSpPr>
        <p:spPr/>
        <p:txBody>
          <a:bodyPr/>
          <a:lstStyle/>
          <a:p>
            <a:pPr marL="0" indent="0">
              <a:buNone/>
            </a:pPr>
            <a:r>
              <a:t>Building reusable clinical definitions in ATLAS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 Concept Set?</a:t>
            </a:r>
          </a:p>
        </p:txBody>
      </p:sp>
      <p:sp>
        <p:nvSpPr>
          <p:cNvPr id="3" name="Content Placeholder 2"/>
          <p:cNvSpPr>
            <a:spLocks noGrp="1"/>
          </p:cNvSpPr>
          <p:nvPr>
            <p:ph idx="1"/>
          </p:nvPr>
        </p:nvSpPr>
        <p:spPr/>
        <p:txBody>
          <a:bodyPr/>
          <a:lstStyle/>
          <a:p>
            <a:pPr/>
            <a:r>
              <a:t>A concept set is a named, reusable expression: a list of concepts, each with options to include descendants, include mapped source concepts, or exclude</a:t>
            </a:r>
          </a:p>
          <a:p>
            <a:pPr/>
            <a:r>
              <a:t>Examples: 'All sulfonylureas' · 'Type 2 diabetes mellitus' · 'Amyotrophic lateral sclerosis'</a:t>
            </a:r>
          </a:p>
          <a:p>
            <a:pPr/>
            <a:r>
              <a:t>You build it once in ATLAS — then reuse it across cohorts, characterizations, and analyses</a:t>
            </a:r>
          </a:p>
          <a:p>
            <a:pPr/>
            <a:r>
              <a:t>A concept set is the reusable building block of every OHDSI analysis</a:t>
            </a:r>
          </a:p>
          <a:p>
            <a:pPr/>
            <a:r>
              <a:t>Concept sets are exported as JSON from Atlas — version-controlled alongside your study code</a:t>
            </a:r>
          </a:p>
          <a:p>
            <a:pPr/>
            <a:r>
              <a:t>The same expression can run at any OMOP site; what it resolves to depends on that site's vocabulary version and mappings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Included Concepts and Included Source Codes in ATLAS</a:t>
            </a:r>
          </a:p>
        </p:txBody>
      </p:sp>
      <p:sp>
        <p:nvSpPr>
          <p:cNvPr id="3" name="Content Placeholder 2"/>
          <p:cNvSpPr>
            <a:spLocks noGrp="1"/>
          </p:cNvSpPr>
          <p:nvPr>
            <p:ph idx="1" sz="half"/>
          </p:nvPr>
        </p:nvSpPr>
        <p:spPr/>
        <p:txBody>
          <a:bodyPr/>
          <a:lstStyle/>
          <a:p>
            <a:pPr marL="0" indent="0">
              <a:buNone/>
            </a:pPr>
            <a:r>
              <a:rPr b="1" sz="1600"/>
              <a:t>Included Concepts  (what the set resolves to)</a:t>
            </a:r>
          </a:p>
          <a:p>
            <a:pPr/>
            <a:r>
              <a:rPr sz="1600"/>
              <a:t>Included Concepts tab: every concept the expression resolves to, with its standard status</a:t>
            </a:r>
          </a:p>
          <a:p>
            <a:pPr/>
            <a:r>
              <a:rPr sz="1600"/>
              <a:t>Concepts that will match records show Standard; a Classification concept (such as an ATC class) matches through its standard descendants</a:t>
            </a:r>
          </a:p>
          <a:p>
            <a:pPr/>
            <a:r>
              <a:rPr sz="1600"/>
              <a:t>A Non-Standard concept will not match records in standard concept fields</a:t>
            </a:r>
          </a:p>
          <a:p>
            <a:pPr/>
            <a:r>
              <a:rPr sz="1600"/>
              <a:t>Check: open the Included Concepts tab and read the standard concept column</a:t>
            </a:r>
          </a:p>
          <a:p>
            <a:pPr/>
            <a:r>
              <a:rPr sz="1600"/>
              <a:t>If a concept shows Non-Standard, replace it with the standard concept it maps to</a:t>
            </a:r>
          </a:p>
        </p:txBody>
      </p:sp>
      <p:sp>
        <p:nvSpPr>
          <p:cNvPr id="4" name="Content Placeholder 3"/>
          <p:cNvSpPr>
            <a:spLocks noGrp="1"/>
          </p:cNvSpPr>
          <p:nvPr>
            <p:ph idx="2" sz="half"/>
          </p:nvPr>
        </p:nvSpPr>
        <p:spPr/>
        <p:txBody>
          <a:bodyPr/>
          <a:lstStyle/>
          <a:p>
            <a:pPr marL="0" indent="0">
              <a:buNone/>
            </a:pPr>
            <a:r>
              <a:rPr b="1" sz="1600"/>
              <a:t>Included Source Codes  (source audit)</a:t>
            </a:r>
          </a:p>
          <a:p>
            <a:pPr/>
            <a:r>
              <a:rPr sz="1600"/>
              <a:t>Included Source Codes tab: the source codes (for example NDC or ICD-10-CM) that map to the concepts in your set</a:t>
            </a:r>
          </a:p>
          <a:p>
            <a:pPr/>
            <a:r>
              <a:rPr sz="1600"/>
              <a:t>Use it to check that the codes your site records are covered</a:t>
            </a:r>
          </a:p>
          <a:p>
            <a:pPr/>
            <a:r>
              <a:rPr sz="1600"/>
              <a:t>Example: a sulfonylurea ingredient such as glipizide lists the NDC and other source drug codes that map to its products</a:t>
            </a:r>
          </a:p>
          <a:p>
            <a:pPr/>
            <a:r>
              <a:rPr sz="1600"/>
              <a:t>If a code your site uses does not appear in this tab, you have a gap</a:t>
            </a:r>
          </a:p>
          <a:p>
            <a:pPr/>
            <a:r>
              <a:rPr sz="1600"/>
              <a:t>The Mapped checkbox in the expression is a different thing: it adds mapped source concepts to the set itself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Include Descendants — Why It Matters</a:t>
            </a:r>
          </a:p>
        </p:txBody>
      </p:sp>
      <p:sp>
        <p:nvSpPr>
          <p:cNvPr id="3" name="Content Placeholder 2"/>
          <p:cNvSpPr>
            <a:spLocks noGrp="1"/>
          </p:cNvSpPr>
          <p:nvPr>
            <p:ph idx="1"/>
          </p:nvPr>
        </p:nvSpPr>
        <p:spPr/>
        <p:txBody>
          <a:bodyPr/>
          <a:lstStyle/>
          <a:p>
            <a:pPr/>
            <a:r>
              <a:rPr sz="1600"/>
              <a:t>Drug concepts sit in a hierarchy: ingredient → clinical drug component and form → clinical drug → branded drug</a:t>
            </a:r>
          </a:p>
          <a:p>
            <a:pPr/>
            <a:r>
              <a:rPr sz="1600"/>
              <a:t>Example: the metformin ingredient has many descendants (products, strengths, combinations); count them at your site with the Day 1 concept_ancestor query</a:t>
            </a:r>
          </a:p>
          <a:p>
            <a:pPr/>
            <a:r>
              <a:rPr sz="1600"/>
              <a:t>WITHOUT Include Descendants: your concept set only captures the exact concept you added</a:t>
            </a:r>
          </a:p>
          <a:p>
            <a:pPr/>
            <a:r>
              <a:rPr sz="1600"/>
              <a:t>You would miss the clinical and branded drugs, such as metformin 500 MG oral tablet and its branded versions</a:t>
            </a:r>
          </a:p>
          <a:p>
            <a:pPr/>
            <a:r>
              <a:rPr sz="1600"/>
              <a:t>WITH Include Descendants: every product, dose, and form below the ingredient is captured</a:t>
            </a:r>
          </a:p>
          <a:p>
            <a:pPr/>
            <a:r>
              <a:rPr sz="1600"/>
              <a:t>Rule of thumb: for drug ingredients → always Include Descendants</a:t>
            </a:r>
          </a:p>
          <a:p>
            <a:pPr/>
            <a:r>
              <a:rPr sz="1600"/>
              <a:t>For condition concepts: Include Descendants usually correct, but review what you're capturing</a:t>
            </a:r>
          </a:p>
          <a:p>
            <a:pPr/>
            <a:r>
              <a:rPr sz="1600"/>
              <a:t>The concept_ancestor table is what powers 'Include Descendants' in Atlas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Building a Concept Set in ATLAS</a:t>
            </a:r>
          </a:p>
        </p:txBody>
      </p:sp>
      <p:sp>
        <p:nvSpPr>
          <p:cNvPr id="3" name="Content Placeholder 2"/>
          <p:cNvSpPr>
            <a:spLocks noGrp="1"/>
          </p:cNvSpPr>
          <p:nvPr>
            <p:ph idx="1"/>
          </p:nvPr>
        </p:nvSpPr>
        <p:spPr/>
        <p:txBody>
          <a:bodyPr/>
          <a:lstStyle/>
          <a:p>
            <a:pPr/>
            <a:r>
              <a:rPr sz="1800"/>
              <a:t>Time: ~35 minutes</a:t>
            </a:r>
          </a:p>
          <a:p>
            <a:pPr/>
            <a:r>
              <a:rPr sz="1800"/>
              <a:t>Tool: ATLAS (your site's instance) · SQL client for validation step</a:t>
            </a:r>
          </a:p>
          <a:p>
            <a:pPr marL="0" indent="0">
              <a:buNone/>
            </a:pPr>
            <a:r>
              <a:rPr sz="1800"/>
              <a:t>1. Open ATLAS (your site's URL) → navigate to Concept Sets → New Concept Set</a:t>
            </a:r>
          </a:p>
          <a:p>
            <a:pPr marL="0" indent="0">
              <a:buNone/>
            </a:pPr>
            <a:r>
              <a:rPr sz="1800"/>
              <a:t>2. Name it: 'TtT Day2 Sulfonylureas [your initials]'</a:t>
            </a:r>
          </a:p>
          <a:p>
            <a:pPr marL="0" indent="0">
              <a:buNone/>
            </a:pPr>
            <a:r>
              <a:rPr sz="1800"/>
              <a:t>3. Search for 'sulfonylureas' → find the ATC class concept (A10BB), which is a Classification concept</a:t>
            </a:r>
          </a:p>
          <a:p>
            <a:pPr marL="0" indent="0">
              <a:buNone/>
            </a:pPr>
            <a:r>
              <a:rPr sz="1800"/>
              <a:t>4. Add to concept set → toggle Include Descendants ON</a:t>
            </a:r>
          </a:p>
          <a:p>
            <a:pPr marL="0" indent="0">
              <a:buNone/>
            </a:pPr>
            <a:r>
              <a:rPr sz="1800"/>
              <a:t>5. Open Included Concepts: the class shows Classification and its drug descendants show Standard. Count the descendants</a:t>
            </a:r>
          </a:p>
          <a:p>
            <a:pPr marL="0" indent="0">
              <a:buNone/>
            </a:pPr>
            <a:r>
              <a:rPr sz="1800"/>
              <a:t>6. Open Included Source Codes: which source codes map in? Note any surprising inclusions</a:t>
            </a:r>
          </a:p>
          <a:p>
            <a:pPr marL="0" indent="0">
              <a:buNone/>
            </a:pPr>
            <a:r>
              <a:rPr sz="1800"/>
              <a:t>7. Export the concept set (JSON) — save to your labs folder in the program repo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Validating Your Concept Set with SQL</a:t>
            </a:r>
          </a:p>
        </p:txBody>
      </p:sp>
      <p:sp>
        <p:nvSpPr>
          <p:cNvPr id="3" name="Content Placeholder 2"/>
          <p:cNvSpPr>
            <a:spLocks noGrp="1"/>
          </p:cNvSpPr>
          <p:nvPr>
            <p:ph idx="1"/>
          </p:nvPr>
        </p:nvSpPr>
        <p:spPr/>
        <p:txBody>
          <a:bodyPr/>
          <a:lstStyle/>
          <a:p>
            <a:pPr marL="0" indent="0">
              <a:buNone/>
            </a:pPr>
            <a:r>
              <a:rPr i="1" sz="1600"/>
              <a:t>After building in ATLAS, run the equivalent SQL in your client and compare with the record counts ATLAS shows:</a:t>
            </a:r>
          </a:p>
          <a:p>
            <a:pPr marL="0" indent="0">
              <a:buNone/>
            </a:pPr>
            <a:r>
              <a:rPr sz="1600">
                <a:latin typeface="Courier New"/>
              </a:rPr>
              <a:t>-- Count drug exposures for sulfonylureas using ancestor join</a:t>
            </a:r>
          </a:p>
          <a:p>
            <a:pPr marL="0" indent="0">
              <a:buNone/>
            </a:pPr>
            <a:r>
              <a:rPr sz="1600">
                <a:latin typeface="Courier New"/>
              </a:rPr>
              <a:t>-- Replace [sulfonylurea_class_id] with the concept_id from Atlas</a:t>
            </a:r>
          </a:p>
          <a:p>
            <a:pPr marL="0" indent="0">
              <a:buNone/>
            </a:pPr>
            <a:r>
              <a:rPr sz="1600">
                <a:latin typeface="Courier New"/>
              </a:rPr>
              <a:t/>
            </a:r>
          </a:p>
          <a:p>
            <a:pPr marL="0" indent="0">
              <a:buNone/>
            </a:pPr>
            <a:r>
              <a:rPr sz="1600">
                <a:latin typeface="Courier New"/>
              </a:rPr>
              <a:t>SELECT COUNT(*)                     AS total_exposures,</a:t>
            </a:r>
          </a:p>
          <a:p>
            <a:pPr marL="0" indent="0">
              <a:buNone/>
            </a:pPr>
            <a:r>
              <a:rPr sz="1600">
                <a:latin typeface="Courier New"/>
              </a:rPr>
              <a:t>       COUNT(DISTINCT de.person_id) AS unique_patients</a:t>
            </a:r>
          </a:p>
          <a:p>
            <a:pPr marL="0" indent="0">
              <a:buNone/>
            </a:pPr>
            <a:r>
              <a:rPr sz="1600">
                <a:latin typeface="Courier New"/>
              </a:rPr>
              <a:t>FROM cdm.drug_exposure de</a:t>
            </a:r>
          </a:p>
          <a:p>
            <a:pPr marL="0" indent="0">
              <a:buNone/>
            </a:pPr>
            <a:r>
              <a:rPr sz="1600">
                <a:latin typeface="Courier New"/>
              </a:rPr>
              <a:t>JOIN cdm.concept_ancestor ca</a:t>
            </a:r>
          </a:p>
          <a:p>
            <a:pPr marL="0" indent="0">
              <a:buNone/>
            </a:pPr>
            <a:r>
              <a:rPr sz="1600">
                <a:latin typeface="Courier New"/>
              </a:rPr>
              <a:t>  ON ca.descendant_concept_id = de.drug_concept_id</a:t>
            </a:r>
          </a:p>
          <a:p>
            <a:pPr marL="0" indent="0">
              <a:buNone/>
            </a:pPr>
            <a:r>
              <a:rPr sz="1600">
                <a:latin typeface="Courier New"/>
              </a:rPr>
              <a:t>WHERE ca.ancestor_concept_id = [sulfonylurea_class_id];</a:t>
            </a:r>
          </a:p>
          <a:p>
            <a:pPr marL="0" indent="0">
              <a:buNone/>
            </a:pPr>
            <a:r>
              <a:rPr sz="1600">
                <a:latin typeface="Courier New"/>
              </a:rPr>
              <a:t/>
            </a:r>
          </a:p>
          <a:p>
            <a:pPr marL="0" indent="0">
              <a:buNone/>
            </a:pPr>
            <a:r>
              <a:rPr sz="1600">
                <a:latin typeface="Courier New"/>
              </a:rPr>
              <a:t>-- Compare with the RC and DRC columns in ATLAS (cached from the last Achilles run)</a:t>
            </a:r>
          </a:p>
          <a:p>
            <a:pPr marL="0" indent="0">
              <a:buNone/>
            </a:pPr>
            <a:r>
              <a:rPr sz="1600">
                <a:latin typeface="Courier New"/>
              </a:rPr>
              <a:t>-- If they differ, check: the Achilles run date, schema mismatch, or vocabulary version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marL="0" indent="0">
              <a:buNone/>
            </a:pPr>
            <a:r>
              <a:rPr sz="1600"/>
              <a:t>✓  Data quality is always relative to the study question — context determines whether a failure matters</a:t>
            </a:r>
          </a:p>
          <a:p>
            <a:pPr marL="0" indent="0">
              <a:buNone/>
            </a:pPr>
            <a:r>
              <a:rPr sz="1600"/>
              <a:t>✓  The Kahn framework supplies the terms for a DQD result (category, subcategory, context); DQD fills part of the framework, and comparison with outside benchmarks is separate work</a:t>
            </a:r>
          </a:p>
          <a:p>
            <a:pPr marL="0" indent="0">
              <a:buNone/>
            </a:pPr>
            <a:r>
              <a:rPr sz="1600"/>
              <a:t>✓  DQD applies a threshold to each check; a failed check is not automatically disqualifying</a:t>
            </a:r>
          </a:p>
          <a:p>
            <a:pPr marL="0" indent="0">
              <a:buNone/>
            </a:pPr>
            <a:r>
              <a:rPr sz="1600"/>
              <a:t>✓  Build concept sets from standard concepts, or classification concepts with descendants; non-standard concepts match nothing in standard fields</a:t>
            </a:r>
          </a:p>
          <a:p>
            <a:pPr marL="0" indent="0">
              <a:buNone/>
            </a:pPr>
            <a:r>
              <a:rPr sz="1600"/>
              <a:t>✓  Include Descendants is almost always needed for drugs — without it you miss most formulations</a:t>
            </a:r>
          </a:p>
          <a:p>
            <a:pPr marL="0" indent="0">
              <a:buNone/>
            </a:pPr>
            <a:r>
              <a:rPr sz="1600"/>
              <a:t>✓  Validate concept sets with SQL: if Atlas and your SQL client disagree, investigate before proceeding</a:t>
            </a:r>
          </a:p>
          <a:p>
            <a:pPr/>
            <a:r>
              <a:rPr i="1" sz="1600"/>
              <a:t>Next session: Day 3 · Cohort Definition — building your first new-user cohort in ATLAS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Questions?</a:t>
            </a:r>
          </a:p>
        </p:txBody>
      </p:sp>
      <p:sp>
        <p:nvSpPr>
          <p:cNvPr id="3" name="Text Placeholder 2"/>
          <p:cNvSpPr>
            <a:spLocks noGrp="1"/>
          </p:cNvSpPr>
          <p:nvPr>
            <p:ph type="body" idx="1"/>
          </p:nvPr>
        </p:nvSpPr>
        <p:spPr/>
        <p:txBody>
          <a:bodyPr/>
          <a:lstStyle/>
          <a:p>
            <a:pPr marL="0" indent="0">
              <a:buNone/>
            </a:pPr>
            <a:r>
              <a:t>Danielle Boyce</a:t>
            </a:r>
          </a:p>
          <a:p>
            <a:pPr marL="0" indent="0">
              <a:buNone/>
            </a:pPr>
            <a:r>
              <a:t>dboyce@als.net</a:t>
            </a:r>
          </a:p>
          <a:p>
            <a:pPr marL="0" indent="0">
              <a:buNone/>
            </a:pPr>
            <a:r>
              <a:t>ALS TDI · OHDSI/OMOP Train-the-Trainer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626"/>
      </a:dk2>
      <a:lt2>
        <a:srgbClr val="F2F2F2"/>
      </a:lt2>
      <a:accent1>
        <a:srgbClr val="404040"/>
      </a:accent1>
      <a:accent2>
        <a:srgbClr val="7F7F7F"/>
      </a:accent2>
      <a:accent3>
        <a:srgbClr val="A6A6A6"/>
      </a:accent3>
      <a:accent4>
        <a:srgbClr val="595959"/>
      </a:accent4>
      <a:accent5>
        <a:srgbClr val="BFBFBF"/>
      </a:accent5>
      <a:accent6>
        <a:srgbClr val="262626"/>
      </a:accent6>
      <a:hlink>
        <a:srgbClr val="000000"/>
      </a:hlink>
      <a:folHlink>
        <a:srgbClr val="404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