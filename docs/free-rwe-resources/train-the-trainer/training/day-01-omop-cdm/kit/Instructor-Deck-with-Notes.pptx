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OHDSI is not a product or a vendor. It is a community. The tools (Atlas, HADES, Athena) are outputs of community collaboration.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an analogy: OMOP is like a universal electrical adapter standard. Without it, every country (institution) has its own plug shape; with it, one device works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Focus on the top 5 (person, visit, condition, drug, measurement) for Day 1. The others will come up in later exercises. Emphasize: all these tables share person_id as the linking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concept 8507 in Athena to show that even demographic values are standardized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duality (source value and standard concept) is the core of OMOP. Emphasize: you always analyze with standard concepts; the source codes are there for auditability.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every domain has a designated standard vocabulary. This is why you can compare drug data from one institution (using NDC codes) with another (using GPI codes) — both map to the same RxNorm ingredient concept.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CRITICAL lesson: building a concept set on non-standard (ICD) codes is the #1 mistake new OMOP analysts make. The result is a concept set that returns 0 records because the clinical tables use standard concept_ids, not ICD codes.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participants run this in their SQL client. Ask: which row would you use to build a concept set? Why?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insight: the 'Maps to' relationship is how OMOP connects the source coding world to the standard analytic world. One ICD code → one SNOMED concept (usually). Multiple ICD codes can map to the same SNOMED concept, which is intentional — it ensures equivalent codes are treated identically in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foundation of 'Include Descendants' in Atlas. Rather than listing every Metformin product by hand, you add the ingredient concept and let concept_ancestor pull in all products and forms below it. Demonstrate: run this and count how many descendants Metformin has.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Circulate and ask participants to share: which ICD codes mapped to their chosen concept? Were there any concepts in the hierarchy they would have missed if they'd only searched by the top-level term?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75488" y="1188720"/>
            <a:ext cx="3291840" cy="457200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125272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920240"/>
            <a:ext cx="1123797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OMOP Common Data Model
and Standardized Vocabularies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4297680"/>
            <a:ext cx="1123797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8B4E6"/>
                </a:solidFill>
              </a:rPr>
              <a:t>The foundation of OHDSI observational health data science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96CD"/>
                </a:solidFill>
              </a:rPr>
              <a:t>ALS TDI · OHDSI/OMOP Train-the-Trainer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24712"/>
            <a:ext cx="1123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A5A5A"/>
                </a:solidFill>
              </a:rPr>
              <a:t>By the end of this session, you will be able to: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581912"/>
            <a:ext cx="365760" cy="365760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609344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1581912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Explain the purpose of the OMOP CDM and its key design principles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2249424"/>
            <a:ext cx="365760" cy="365760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276856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249424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Identify and describe the core clinical and vocabulary tables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2916936"/>
            <a:ext cx="365760" cy="365760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944368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2916936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Distinguish between standard and non-standard concepts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3584448"/>
            <a:ext cx="365760" cy="365760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611880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3584448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Navigate Athena to find concepts, relationships, and hierarchies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4251960"/>
            <a:ext cx="365760" cy="365760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4279392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251960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Write basic SQL queries to explore OMOP CDM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161288"/>
            <a:ext cx="1965960" cy="543560"/>
          </a:xfrm>
          <a:prstGeom prst="rect">
            <a:avLst/>
          </a:prstGeom>
          <a:solidFill>
            <a:srgbClr val="DCD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828800" cy="433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2682"/>
                </a:solidFill>
              </a:rPr>
              <a:t>9:00 – 9:30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1243584"/>
            <a:ext cx="9034272" cy="433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</a:rPr>
              <a:t>Welcome and OHDSI / OMOP overview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778000"/>
            <a:ext cx="1965960" cy="543560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860296"/>
            <a:ext cx="1828800" cy="433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2682"/>
                </a:solidFill>
              </a:rPr>
              <a:t>9:30 – 10:15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1860296"/>
            <a:ext cx="9034272" cy="433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</a:rPr>
              <a:t>CDM architecture: clinical tables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2394712"/>
            <a:ext cx="1965960" cy="543560"/>
          </a:xfrm>
          <a:prstGeom prst="rect">
            <a:avLst/>
          </a:prstGeom>
          <a:solidFill>
            <a:srgbClr val="DCD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77008"/>
            <a:ext cx="1828800" cy="433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2682"/>
                </a:solidFill>
              </a:rPr>
              <a:t>10:15 – 10:30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477008"/>
            <a:ext cx="9034272" cy="433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</a:rPr>
              <a:t>Break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3011424"/>
            <a:ext cx="1965960" cy="543560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093720"/>
            <a:ext cx="1828800" cy="433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2682"/>
                </a:solidFill>
              </a:rPr>
              <a:t>10:30 – 11:15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093720"/>
            <a:ext cx="9034272" cy="433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</a:rPr>
              <a:t>Vocabulary tables and standardization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" y="3628136"/>
            <a:ext cx="1965960" cy="543560"/>
          </a:xfrm>
          <a:prstGeom prst="rect">
            <a:avLst/>
          </a:prstGeom>
          <a:solidFill>
            <a:srgbClr val="DCD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710432"/>
            <a:ext cx="1828800" cy="433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2682"/>
                </a:solidFill>
              </a:rPr>
              <a:t>11:15 – 12:00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710432"/>
            <a:ext cx="9034272" cy="433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</a:rPr>
              <a:t>Live demo: Athena vocabulary browser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" y="4244848"/>
            <a:ext cx="1965960" cy="543560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27144"/>
            <a:ext cx="1828800" cy="433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2682"/>
                </a:solidFill>
              </a:rPr>
              <a:t>12:00 – 13:00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4327144"/>
            <a:ext cx="9034272" cy="433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</a:rPr>
              <a:t>Lunch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4861560"/>
            <a:ext cx="1965960" cy="543560"/>
          </a:xfrm>
          <a:prstGeom prst="rect">
            <a:avLst/>
          </a:prstGeom>
          <a:solidFill>
            <a:srgbClr val="DCD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943856"/>
            <a:ext cx="1828800" cy="433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2682"/>
                </a:solidFill>
              </a:rPr>
              <a:t>13:00 – 14:15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4943856"/>
            <a:ext cx="9034272" cy="433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</a:rPr>
              <a:t>SQL lab: explore CDM and vocabulary tables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5478272"/>
            <a:ext cx="1965960" cy="543560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5560568"/>
            <a:ext cx="1828800" cy="433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2682"/>
                </a:solidFill>
              </a:rPr>
              <a:t>14:15 – 15:00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5560568"/>
            <a:ext cx="9034272" cy="433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</a:rPr>
              <a:t>Discussion: standard vs non-standard concepts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" y="6094984"/>
            <a:ext cx="1965960" cy="543560"/>
          </a:xfrm>
          <a:prstGeom prst="rect">
            <a:avLst/>
          </a:prstGeom>
          <a:solidFill>
            <a:srgbClr val="DCD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177280"/>
            <a:ext cx="1828800" cy="433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2682"/>
                </a:solidFill>
              </a:rPr>
              <a:t>15:00 – 15:30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6040" y="6177280"/>
            <a:ext cx="9034272" cy="433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91919"/>
                </a:solidFill>
              </a:rPr>
              <a:t>Recap, homework, Day 2 preview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Is OHDSI?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124712"/>
            <a:ext cx="5504688" cy="553212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16152"/>
            <a:ext cx="5321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B2682"/>
                </a:solidFill>
              </a:rPr>
              <a:t>The Organization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19072"/>
            <a:ext cx="523036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Observational Health Data Sciences and Informatics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Global open-science community (&gt;3,000 researchers, 90+ countries)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Mission: generate evidence from health data to improve patient health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Key outputs: OMOP CDM, Atlas, HADES, Athena, Book of OHDSI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Annual global symposium; active forums and workgroups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8776" y="1124712"/>
            <a:ext cx="5504688" cy="5532120"/>
          </a:xfrm>
          <a:prstGeom prst="rect">
            <a:avLst/>
          </a:prstGeom>
          <a:solidFill>
            <a:srgbClr val="F0E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216" y="1216152"/>
            <a:ext cx="5321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B2682"/>
                </a:solidFill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719072"/>
            <a:ext cx="523036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Federated network: ~1 billion patients' worth of data across sites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Studies run at each site without data leaving the institution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Open source: all tools are free and community-maintained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Reproducibility: same definition → same cohort at any OMOP site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ALS TDI participates in and contributes to the OHDSI network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Why OMOP CDM? The Problem It Solves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61288"/>
            <a:ext cx="11237976" cy="5495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EHR systems collect data for care and billing — not for research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Every institution's data is in a different format: different code systems, different schemas, different terminology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Without standardization: every collaboration needs a bespoke ETL for each data partner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With OMOP CDM: one schema, one vocabulary — a study definition written once runs everywhere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OMOP standardizes: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</a:rPr>
              <a:t>Schema: same table names and column names at every site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</a:rPr>
              <a:t>Vocabulary: ICD codes, NDC drug codes, LOINC labs → all mapped to standard concepts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</a:rPr>
              <a:t>Time: all events anchored to person-level observation periods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OMOP CDM Design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61288"/>
            <a:ext cx="11237976" cy="5495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Person-centric: every record links back to a person via person_id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Event-based: clinical events (conditions, drugs, measurements) are timestamped facts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Standard vocabulary-driven: every clinical concept has a standard concept_id — not institution-specific codes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Domain-separated: each type of clinical data lives in its own table (condition_occurrence, drug_exposure, measurement, etc.)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Observation-period bounded: data is only considered valid within the patient's observable time window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Reproducible: the same cohort definition applied to any OMOP CDM should produce a comparable result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Core Clinical Tables — Overview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75488" y="1143000"/>
          <a:ext cx="11247120" cy="5394960.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03920"/>
              </a:tblGrid>
              <a:tr h="490450">
                <a:tc>
                  <a:txBody>
                    <a:bodyPr lIns="63500" tIns="38100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Table</a:t>
                      </a:r>
                    </a:p>
                  </a:txBody>
                  <a:tcPr>
                    <a:solidFill>
                      <a:srgbClr val="4B2682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What It Contains</a:t>
                      </a:r>
                    </a:p>
                  </a:txBody>
                  <a:tcPr>
                    <a:solidFill>
                      <a:srgbClr val="4B2682"/>
                    </a:solidFill>
                  </a:tcPr>
                </a:tc>
              </a:tr>
              <a:tr h="490450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person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Demographics: date of birth, sex, race, ethnicity, death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90450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visit_occurrence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Encounters: inpatient, outpatient, ED visits with dates and 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0450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condition_occurrence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Diagnoses and problem list entries, linked to visit and person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90450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drug_exposure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Prescriptions, dispenses, and administrations — all drug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0450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measurement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Lab results, vital signs, quantitative clinical findings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90450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procedure_occurrence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Clinical procedures ordered or performed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0450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observation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Any clinical fact that doesn't fit another domain (social, family history)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90450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device_exposure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Implanted devices, transfusions, medical equipment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0450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death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Date and cause of death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490460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drug_era / condition_era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Pre-computed continuous exposure or condition periods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Person 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124712"/>
            <a:ext cx="5504688" cy="553212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16152"/>
            <a:ext cx="5321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B2682"/>
                </a:solidFill>
              </a:rPr>
              <a:t>Key Columns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19072"/>
            <a:ext cx="523036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person_id — unique, links all other tables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year_of_birth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gender_concept_id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race_concept_id, ethnicity_concept_id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birth_datetime (if available)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death_datetime or link to death table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8776" y="1124712"/>
            <a:ext cx="5504688" cy="5532120"/>
          </a:xfrm>
          <a:prstGeom prst="rect">
            <a:avLst/>
          </a:prstGeom>
          <a:solidFill>
            <a:srgbClr val="F0E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216" y="1216152"/>
            <a:ext cx="5321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B2682"/>
                </a:solidFill>
              </a:rPr>
              <a:t>Important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719072"/>
            <a:ext cx="523036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No names, SSNs, or direct identifiers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Gender and race are stored as concept_ids, not strings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Concept 8507 = Male, 8532 = Female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One row per patient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All other tables reference person_id as a foreign key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Condition Occurrence 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124712"/>
            <a:ext cx="5504688" cy="553212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16152"/>
            <a:ext cx="5321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B2682"/>
                </a:solidFill>
              </a:rPr>
              <a:t>Key Columns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19072"/>
            <a:ext cx="523036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condition_occurrence_id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person_id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condition_concept_id (standard)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condition_start_date / end_date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condition_type_concept_id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visit_occurrence_id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condition_source_value (original ICD code)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condition_source_concept_id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8776" y="1124712"/>
            <a:ext cx="5504688" cy="5532120"/>
          </a:xfrm>
          <a:prstGeom prst="rect">
            <a:avLst/>
          </a:prstGeom>
          <a:solidFill>
            <a:srgbClr val="F0E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216" y="1216152"/>
            <a:ext cx="5321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B2682"/>
                </a:solidFill>
              </a:rPr>
              <a:t>Source vs Standard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719072"/>
            <a:ext cx="523036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condition_source_value stores the original ICD-9/ICD-10 code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condition_concept_id stores the standard SNOMED concept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Mapping from ICD → SNOMED happens during ETL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If condition_concept_id = 0, the record was not mapped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Analyses should always use condition_concept_id, not source_value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737360"/>
            <a:ext cx="822960" cy="822960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801368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828800"/>
            <a:ext cx="99029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Standardized Vocabularies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200400"/>
            <a:ext cx="112379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8B4E6"/>
                </a:solidFill>
              </a:rPr>
              <a:t>Standard concepts, relationships, and hierarchy — the key to cross-site comparability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Vocabulary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61288"/>
            <a:ext cx="11237976" cy="5495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The OMOP CDM includes a full vocabulary schema alongside the clinical data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Core vocabulary tables: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</a:rPr>
              <a:t>concept — all clinical concepts: standard and non-standard, with metadata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</a:rPr>
              <a:t>concept_relationship — directed links: 'Maps to', 'Is a', 'Subsumes'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</a:rPr>
              <a:t>concept_ancestor — pre-computed hierarchy (all ancestor-descendant pairs)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</a:rPr>
              <a:t>vocabulary — vocabulary metadata and version information</a:t>
            </a:r>
          </a:p>
          <a:p>
            <a:pPr lvl="1">
              <a:spcBef>
                <a:spcPts val="300"/>
              </a:spcBef>
            </a:pPr>
            <a:r>
              <a:rPr sz="1600">
                <a:solidFill>
                  <a:srgbClr val="191919"/>
                </a:solidFill>
              </a:rPr>
              <a:t>domain — domain definitions (Condition, Drug, Measurement, etc.)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All clinical tables reference concept_id from the concept table — they are tightly linked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91919"/>
                </a:solidFill>
              </a:rPr>
              <a:t>Vocabulary is updated monthly; version is tracked in the vocabulary table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Standard Vocabulary by Domain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75488" y="1143000"/>
          <a:ext cx="11237976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92"/>
                <a:gridCol w="3745992"/>
                <a:gridCol w="3745992"/>
              </a:tblGrid>
              <a:tr h="566928">
                <a:tc>
                  <a:txBody>
                    <a:bodyPr lIns="63500" tIns="38100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OMOP Domain</a:t>
                      </a:r>
                    </a:p>
                  </a:txBody>
                  <a:tcPr>
                    <a:solidFill>
                      <a:srgbClr val="4B2682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Standard Vocabulary</a:t>
                      </a:r>
                    </a:p>
                  </a:txBody>
                  <a:tcPr>
                    <a:solidFill>
                      <a:srgbClr val="4B2682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Source Vocabularies</a:t>
                      </a:r>
                    </a:p>
                  </a:txBody>
                  <a:tcPr>
                    <a:solidFill>
                      <a:srgbClr val="4B2682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Condition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SNOMED CT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ICD-9-CM, ICD-10-CM, ICDO3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Drug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RxNorm (ingredients/products)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NDC, GPI, ATC drug classes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Measurement / Lab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LOINC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Local lab codes, SNOMED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Procedure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SNOMED CT, CPT4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ICD-9-CM Procedures, HCPCS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Observation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SNOMED CT, LOINC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Many source-specific codes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Race / Ethnicity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Race &amp; Ethnicity (OMOP)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HL7, local codes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Visit Type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Visit (OMOP)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</a:rPr>
                        <a:t>CMS place of service codes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Standard vs Non-Standard Concepts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124712"/>
            <a:ext cx="5504688" cy="553212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16152"/>
            <a:ext cx="5321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B2682"/>
                </a:solidFill>
              </a:rPr>
              <a:t>Standard Concepts  (standard_concept = 'S')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19072"/>
            <a:ext cx="523036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Used for analysis in all OMOP tools (Atlas, HADES)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Assigned to clinical tables during ETL (e.g., condition_concept_id)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Comparable across institutions and datasets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Example: SNOMED 201826 = Type 2 diabetes mellitus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ALWAYS use standard concepts in concept sets and cohort rules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8776" y="1124712"/>
            <a:ext cx="5504688" cy="5532120"/>
          </a:xfrm>
          <a:prstGeom prst="rect">
            <a:avLst/>
          </a:prstGeom>
          <a:solidFill>
            <a:srgbClr val="F0E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216" y="1216152"/>
            <a:ext cx="5321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B2682"/>
                </a:solidFill>
              </a:rPr>
              <a:t>Non-Standard (Source) Concepts  (standard_concept = NULL)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719072"/>
            <a:ext cx="523036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Source codes before standardization (ICD-9, ICD-10, NDC, etc.)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Stored in source columns (e.g., condition_source_concept_id)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NOT used for analysis — will silently miss data in concept sets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Linked to standard concepts via 'Maps to' relationship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91919"/>
                </a:solidFill>
              </a:rPr>
              <a:t>Example: ICD-10-CM E11.9 maps to SNOMED 201826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Exploring Standard Concepts — SQL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097280"/>
            <a:ext cx="1123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A5A5A"/>
                </a:solidFill>
              </a:rPr>
              <a:t>Find standard and non-standard concepts for Type 2 diabetes in the concept table: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527048"/>
            <a:ext cx="11237976" cy="5074920"/>
          </a:xfrm>
          <a:prstGeom prst="rect">
            <a:avLst/>
          </a:prstGeom>
          <a:solidFill>
            <a:srgbClr val="1C1C2C"/>
          </a:solidFill>
          <a:ln w="9525">
            <a:solidFill>
              <a:srgbClr val="5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36776"/>
            <a:ext cx="10908792" cy="48554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-- In your SQL client (Databricks, DBeaver, etc.)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-- Find standard concept for Type 2 diabetes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SELECT concept_id,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       concept_name,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       vocabulary_id,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       standard_concept,   -- 'S' = standard; NULL = non-standard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       concept_code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FROM cdm.concept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WHERE LOWER(concept_name) LIKE '%type 2 diabetes%'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ORDER BY standard_concept DESC NULLS LAST, vocabulary_id;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-- Result: SNOMED 201826 is standard (S); ICD codes are non-standard (NULL)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Following the 'Maps to' Relationship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097280"/>
            <a:ext cx="1123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A5A5A"/>
                </a:solidFill>
              </a:rPr>
              <a:t>How does an ICD-10-CM code (non-standard) link to its standard SNOMED concept?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527048"/>
            <a:ext cx="11237976" cy="5074920"/>
          </a:xfrm>
          <a:prstGeom prst="rect">
            <a:avLst/>
          </a:prstGeom>
          <a:solidFill>
            <a:srgbClr val="1C1C2C"/>
          </a:solidFill>
          <a:ln w="9525">
            <a:solidFill>
              <a:srgbClr val="5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36776"/>
            <a:ext cx="10908792" cy="48554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-- Find the standard concept that ICD-10-CM E11.9 maps to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SELECT c_src.concept_code AS icd_code,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       c_src.concept_name AS icd_name,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       cr.relationship_id,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       c_tgt.concept_id   AS standard_id,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       c_tgt.concept_name AS standard_name,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       c_tgt.vocabulary_id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FROM cdm.concept_relationship cr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JOIN cdm.concept c_src ON cr.concept_id_1 = c_src.concept_id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JOIN cdm.concept c_tgt ON cr.concept_id_2 = c_tgt.concept_id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WHERE c_src.concept_code  = 'E11.9'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  AND c_src.vocabulary_id = 'ICD10CM'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  AND cr.relationship_id  = 'Maps to';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Using concept_ancestor for Hierarchical Queries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097280"/>
            <a:ext cx="1123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A5A5A"/>
                </a:solidFill>
              </a:rPr>
              <a:t>Find all drug products under the Metformin ingredient using the hierarchy: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527048"/>
            <a:ext cx="11237976" cy="5074920"/>
          </a:xfrm>
          <a:prstGeom prst="rect">
            <a:avLst/>
          </a:prstGeom>
          <a:solidFill>
            <a:srgbClr val="1C1C2C"/>
          </a:solidFill>
          <a:ln w="9525">
            <a:solidFill>
              <a:srgbClr val="5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36776"/>
            <a:ext cx="10908792" cy="48554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-- All Metformin products (ingredient concept_id = 1503297)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SELECT ca.descendant_concept_id,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       c.concept_name,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       c.concept_class_id,        -- 'Ingredient', 'Clinical Drug', 'Branded Drug'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       ca.min_levels_of_separation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FROM cdm.concept_ancestor ca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JOIN cdm.concept c ON ca.descendant_concept_id = c.concept_id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WHERE ca.ancestor_concept_id = 1503297   -- Metformin (ingredient)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  AND ca.min_levels_of_separation &gt;= 1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D7D7D7"/>
                </a:solidFill>
                <a:latin typeface="Courier New"/>
              </a:rPr>
              <a:t>ORDER BY ca.min_levels_of_separation, c.concept_name;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006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23797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Lab:  Athena Vocabulary Exploration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2872" y="20116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⏱  ~30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124712"/>
            <a:ext cx="11237976" cy="402336"/>
          </a:xfrm>
          <a:prstGeom prst="rect">
            <a:avLst/>
          </a:prstGeom>
          <a:solidFill>
            <a:srgbClr val="DAFFFA"/>
          </a:solidFill>
          <a:ln w="9525">
            <a:solidFill>
              <a:srgbClr val="008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197864"/>
            <a:ext cx="110550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5A55"/>
                </a:solidFill>
              </a:rPr>
              <a:t>Tool: Athena Browser (athena.ohdsi.org) — no login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655064"/>
            <a:ext cx="365760" cy="365760"/>
          </a:xfrm>
          <a:prstGeom prst="rect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67335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1655064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Open Athena (athena.ohdsi.org) — no login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2368296"/>
            <a:ext cx="365760" cy="365760"/>
          </a:xfrm>
          <a:prstGeom prst="rect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386584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368296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Search for 'Amyotrophic lateral sclerosis' — find the standard SNOMED concept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3081528"/>
            <a:ext cx="365760" cy="365760"/>
          </a:xfrm>
          <a:prstGeom prst="rect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3099816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081528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Click the concept to open its detail page — note concept_id, vocabulary_id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" y="3794760"/>
            <a:ext cx="365760" cy="365760"/>
          </a:xfrm>
          <a:prstGeom prst="rect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3813048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3794760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Click Relationships — find 'Is a' (parent) and 'Maps to' (source codes that map here)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" y="4507992"/>
            <a:ext cx="365760" cy="365760"/>
          </a:xfrm>
          <a:prstGeom prst="rect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4526280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4507992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Click Descendants — how many? What's the narrowest child concept?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5221224"/>
            <a:ext cx="365760" cy="365760"/>
          </a:xfrm>
          <a:prstGeom prst="rect">
            <a:avLst/>
          </a:prstGeom>
          <a:solidFill>
            <a:srgbClr val="00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52395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5221224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Try the same exercise for a drug relevant to your research area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2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7B4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170432"/>
            <a:ext cx="11237976" cy="954633"/>
          </a:xfrm>
          <a:prstGeom prst="rect">
            <a:avLst/>
          </a:prstGeom>
          <a:solidFill>
            <a:srgbClr val="DCD2F5"/>
          </a:solidFill>
          <a:ln w="9525">
            <a:solidFill>
              <a:srgbClr val="7B4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1234440"/>
            <a:ext cx="11018520" cy="844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✓  OMOP CDM standardizes data schema AND vocabulary so studies run consistently across sites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2216505"/>
            <a:ext cx="11237976" cy="954633"/>
          </a:xfrm>
          <a:prstGeom prst="rect">
            <a:avLst/>
          </a:prstGeom>
          <a:solidFill>
            <a:srgbClr val="F8F2FF"/>
          </a:solidFill>
          <a:ln w="9525">
            <a:solidFill>
              <a:srgbClr val="7B4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2280513"/>
            <a:ext cx="11018520" cy="844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✓  Every clinical record links to a standard concept_id — never analyze on source codes or concept_id = 0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3262579"/>
            <a:ext cx="11237976" cy="954633"/>
          </a:xfrm>
          <a:prstGeom prst="rect">
            <a:avLst/>
          </a:prstGeom>
          <a:solidFill>
            <a:srgbClr val="DCD2F5"/>
          </a:solidFill>
          <a:ln w="9525">
            <a:solidFill>
              <a:srgbClr val="7B4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3326587"/>
            <a:ext cx="11018520" cy="844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✓  concept, concept_relationship, and concept_ancestor are the three vocabulary tables you will use every 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4308652"/>
            <a:ext cx="11237976" cy="954633"/>
          </a:xfrm>
          <a:prstGeom prst="rect">
            <a:avLst/>
          </a:prstGeom>
          <a:solidFill>
            <a:srgbClr val="F8F2FF"/>
          </a:solidFill>
          <a:ln w="9525">
            <a:solidFill>
              <a:srgbClr val="7B4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4372660"/>
            <a:ext cx="11018520" cy="844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✓  'Maps to' connects source codes to standard concepts; concept_ancestor enables hierarchical queries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5354726"/>
            <a:ext cx="11237976" cy="954633"/>
          </a:xfrm>
          <a:prstGeom prst="rect">
            <a:avLst/>
          </a:prstGeom>
          <a:solidFill>
            <a:srgbClr val="DCD2F5"/>
          </a:solidFill>
          <a:ln w="9525">
            <a:solidFill>
              <a:srgbClr val="7B4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5418734"/>
            <a:ext cx="11018520" cy="844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</a:rPr>
              <a:t>✓  Athena is the public browser for the vocabulary — bookmark it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6428232"/>
            <a:ext cx="112379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A5A5A"/>
                </a:solidFill>
              </a:rPr>
              <a:t>Next session: Day 2 · Vocabulary &amp; Data Quality — building concept sets in Atlas and SQL validation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