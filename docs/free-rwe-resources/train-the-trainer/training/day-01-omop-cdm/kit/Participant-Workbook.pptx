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4B26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7B4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7B4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75488" y="1188720"/>
            <a:ext cx="3291840" cy="457200"/>
          </a:xfrm>
          <a:prstGeom prst="rect">
            <a:avLst/>
          </a:prstGeom>
          <a:solidFill>
            <a:srgbClr val="7B4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85216" y="1252728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" y="1920240"/>
            <a:ext cx="11237976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</a:rPr>
              <a:t>OMOP Common Data Model
and Standardized Vocabularies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4297680"/>
            <a:ext cx="11237976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C8B4E6"/>
                </a:solidFill>
              </a:rPr>
              <a:t>Participant Workbook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63550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96CD"/>
                </a:solidFill>
              </a:rPr>
              <a:t>ALS TDI · OHDSI/OMOP Train-the-Trainer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4B26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23544"/>
            <a:ext cx="12188952" cy="36576"/>
          </a:xfrm>
          <a:prstGeom prst="rect">
            <a:avLst/>
          </a:prstGeom>
          <a:solidFill>
            <a:srgbClr val="7B4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137160"/>
            <a:ext cx="11713464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Learning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1124712"/>
            <a:ext cx="1123797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5A5A5A"/>
                </a:solidFill>
              </a:rPr>
              <a:t>By the end of this session, you will be able to: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581912"/>
            <a:ext cx="365760" cy="365760"/>
          </a:xfrm>
          <a:prstGeom prst="rect">
            <a:avLst/>
          </a:prstGeom>
          <a:solidFill>
            <a:srgbClr val="7B4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1609344"/>
            <a:ext cx="3657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1581912"/>
            <a:ext cx="1068019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91919"/>
                </a:solidFill>
              </a:rPr>
              <a:t>Explain the purpose of the OMOP CDM and its key design principles</a:t>
            </a:r>
          </a:p>
        </p:txBody>
      </p:sp>
      <p:sp>
        <p:nvSpPr>
          <p:cNvPr id="9" name="Rectangle 8"/>
          <p:cNvSpPr/>
          <p:nvPr/>
        </p:nvSpPr>
        <p:spPr>
          <a:xfrm>
            <a:off x="475488" y="2249424"/>
            <a:ext cx="365760" cy="365760"/>
          </a:xfrm>
          <a:prstGeom prst="rect">
            <a:avLst/>
          </a:prstGeom>
          <a:solidFill>
            <a:srgbClr val="7B4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" y="2276856"/>
            <a:ext cx="3657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2249424"/>
            <a:ext cx="1068019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91919"/>
                </a:solidFill>
              </a:rPr>
              <a:t>Identify and describe the core clinical and vocabulary tables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5488" y="2916936"/>
            <a:ext cx="365760" cy="365760"/>
          </a:xfrm>
          <a:prstGeom prst="rect">
            <a:avLst/>
          </a:prstGeom>
          <a:solidFill>
            <a:srgbClr val="7B4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" y="2944368"/>
            <a:ext cx="3657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7552" y="2916936"/>
            <a:ext cx="1068019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91919"/>
                </a:solidFill>
              </a:rPr>
              <a:t>Distinguish between standard and non-standard concepts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5488" y="3584448"/>
            <a:ext cx="365760" cy="365760"/>
          </a:xfrm>
          <a:prstGeom prst="rect">
            <a:avLst/>
          </a:prstGeom>
          <a:solidFill>
            <a:srgbClr val="7B4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5488" y="3611880"/>
            <a:ext cx="3657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7552" y="3584448"/>
            <a:ext cx="1068019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91919"/>
                </a:solidFill>
              </a:rPr>
              <a:t>Navigate Athena to find concepts, relationships, and hierarchies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5488" y="4251960"/>
            <a:ext cx="365760" cy="365760"/>
          </a:xfrm>
          <a:prstGeom prst="rect">
            <a:avLst/>
          </a:prstGeom>
          <a:solidFill>
            <a:srgbClr val="7B4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5488" y="4279392"/>
            <a:ext cx="3657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7552" y="4251960"/>
            <a:ext cx="1068019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91919"/>
                </a:solidFill>
              </a:rPr>
              <a:t>Write basic SQL queries to explore OMOP CDM data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4B26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23544"/>
            <a:ext cx="12188952" cy="36576"/>
          </a:xfrm>
          <a:prstGeom prst="rect">
            <a:avLst/>
          </a:prstGeom>
          <a:solidFill>
            <a:srgbClr val="7B4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137160"/>
            <a:ext cx="11713464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Core Clinical Tables — Fill In the Description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75488" y="1143000"/>
          <a:ext cx="11247120" cy="51023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8503920"/>
              </a:tblGrid>
              <a:tr h="566928">
                <a:tc>
                  <a:txBody>
                    <a:bodyPr lIns="63500" tIns="38100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Table</a:t>
                      </a:r>
                    </a:p>
                  </a:txBody>
                  <a:tcPr>
                    <a:solidFill>
                      <a:srgbClr val="4B2682"/>
                    </a:solidFill>
                  </a:tcPr>
                </a:tc>
                <a:tc>
                  <a:txBody>
                    <a:bodyPr lIns="63500" tIns="38100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What It Contains (fill in)</a:t>
                      </a:r>
                    </a:p>
                  </a:txBody>
                  <a:tcPr>
                    <a:solidFill>
                      <a:srgbClr val="4B2682"/>
                    </a:solidFill>
                  </a:tcPr>
                </a:tc>
              </a:tr>
              <a:tr h="566928">
                <a:tc>
                  <a:txBody>
                    <a:bodyPr lIns="63500" tIns="25400"/>
                    <a:lstStyle/>
                    <a:p>
                      <a:r>
                        <a:rPr sz="1300">
                          <a:solidFill>
                            <a:srgbClr val="191919"/>
                          </a:solidFill>
                        </a:rPr>
                        <a:t>person</a:t>
                      </a:r>
                    </a:p>
                  </a:txBody>
                  <a:tcPr>
                    <a:solidFill>
                      <a:srgbClr val="F6F6F6"/>
                    </a:solidFill>
                  </a:tcPr>
                </a:tc>
                <a:tc>
                  <a:txBody>
                    <a:bodyPr lIns="63500" tIns="25400"/>
                    <a:lstStyle/>
                    <a:p>
                      <a:r>
                        <a:rPr sz="1300">
                          <a:solidFill>
                            <a:srgbClr val="191919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6F6F6"/>
                    </a:solidFill>
                  </a:tcPr>
                </a:tc>
              </a:tr>
              <a:tr h="566928">
                <a:tc>
                  <a:txBody>
                    <a:bodyPr lIns="63500" tIns="25400"/>
                    <a:lstStyle/>
                    <a:p>
                      <a:r>
                        <a:rPr sz="1300">
                          <a:solidFill>
                            <a:srgbClr val="191919"/>
                          </a:solidFill>
                        </a:rPr>
                        <a:t>visit_occurrence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63500" tIns="25400"/>
                    <a:lstStyle/>
                    <a:p>
                      <a:r>
                        <a:rPr sz="1300">
                          <a:solidFill>
                            <a:srgbClr val="191919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lIns="63500" tIns="25400"/>
                    <a:lstStyle/>
                    <a:p>
                      <a:r>
                        <a:rPr sz="1300">
                          <a:solidFill>
                            <a:srgbClr val="191919"/>
                          </a:solidFill>
                        </a:rPr>
                        <a:t>condition_occurrence</a:t>
                      </a:r>
                    </a:p>
                  </a:txBody>
                  <a:tcPr>
                    <a:solidFill>
                      <a:srgbClr val="F6F6F6"/>
                    </a:solidFill>
                  </a:tcPr>
                </a:tc>
                <a:tc>
                  <a:txBody>
                    <a:bodyPr lIns="63500" tIns="25400"/>
                    <a:lstStyle/>
                    <a:p>
                      <a:r>
                        <a:rPr sz="1300">
                          <a:solidFill>
                            <a:srgbClr val="191919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6F6F6"/>
                    </a:solidFill>
                  </a:tcPr>
                </a:tc>
              </a:tr>
              <a:tr h="566928">
                <a:tc>
                  <a:txBody>
                    <a:bodyPr lIns="63500" tIns="25400"/>
                    <a:lstStyle/>
                    <a:p>
                      <a:r>
                        <a:rPr sz="1300">
                          <a:solidFill>
                            <a:srgbClr val="191919"/>
                          </a:solidFill>
                        </a:rPr>
                        <a:t>drug_exposure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63500" tIns="25400"/>
                    <a:lstStyle/>
                    <a:p>
                      <a:r>
                        <a:rPr sz="1300">
                          <a:solidFill>
                            <a:srgbClr val="191919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lIns="63500" tIns="25400"/>
                    <a:lstStyle/>
                    <a:p>
                      <a:r>
                        <a:rPr sz="1300">
                          <a:solidFill>
                            <a:srgbClr val="191919"/>
                          </a:solidFill>
                        </a:rPr>
                        <a:t>measurement</a:t>
                      </a:r>
                    </a:p>
                  </a:txBody>
                  <a:tcPr>
                    <a:solidFill>
                      <a:srgbClr val="F6F6F6"/>
                    </a:solidFill>
                  </a:tcPr>
                </a:tc>
                <a:tc>
                  <a:txBody>
                    <a:bodyPr lIns="63500" tIns="25400"/>
                    <a:lstStyle/>
                    <a:p>
                      <a:r>
                        <a:rPr sz="1300">
                          <a:solidFill>
                            <a:srgbClr val="191919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6F6F6"/>
                    </a:solidFill>
                  </a:tcPr>
                </a:tc>
              </a:tr>
              <a:tr h="566928">
                <a:tc>
                  <a:txBody>
                    <a:bodyPr lIns="63500" tIns="25400"/>
                    <a:lstStyle/>
                    <a:p>
                      <a:r>
                        <a:rPr sz="1300">
                          <a:solidFill>
                            <a:srgbClr val="191919"/>
                          </a:solidFill>
                        </a:rPr>
                        <a:t>procedure_occurrence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63500" tIns="25400"/>
                    <a:lstStyle/>
                    <a:p>
                      <a:r>
                        <a:rPr sz="1300">
                          <a:solidFill>
                            <a:srgbClr val="191919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lIns="63500" tIns="25400"/>
                    <a:lstStyle/>
                    <a:p>
                      <a:r>
                        <a:rPr sz="1300">
                          <a:solidFill>
                            <a:srgbClr val="191919"/>
                          </a:solidFill>
                        </a:rPr>
                        <a:t>observation</a:t>
                      </a:r>
                    </a:p>
                  </a:txBody>
                  <a:tcPr>
                    <a:solidFill>
                      <a:srgbClr val="F6F6F6"/>
                    </a:solidFill>
                  </a:tcPr>
                </a:tc>
                <a:tc>
                  <a:txBody>
                    <a:bodyPr lIns="63500" tIns="25400"/>
                    <a:lstStyle/>
                    <a:p>
                      <a:r>
                        <a:rPr sz="1300">
                          <a:solidFill>
                            <a:srgbClr val="191919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6F6F6"/>
                    </a:solidFill>
                  </a:tcPr>
                </a:tc>
              </a:tr>
              <a:tr h="566928">
                <a:tc>
                  <a:txBody>
                    <a:bodyPr lIns="63500" tIns="25400"/>
                    <a:lstStyle/>
                    <a:p>
                      <a:r>
                        <a:rPr sz="1300">
                          <a:solidFill>
                            <a:srgbClr val="191919"/>
                          </a:solidFill>
                        </a:rPr>
                        <a:t>death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63500" tIns="25400"/>
                    <a:lstStyle/>
                    <a:p>
                      <a:r>
                        <a:rPr sz="1300">
                          <a:solidFill>
                            <a:srgbClr val="191919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4B26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23544"/>
            <a:ext cx="12188952" cy="36576"/>
          </a:xfrm>
          <a:prstGeom prst="rect">
            <a:avLst/>
          </a:prstGeom>
          <a:solidFill>
            <a:srgbClr val="7B4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137160"/>
            <a:ext cx="11713464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Standard vs Non-Standard Concepts — Key Points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1161288"/>
            <a:ext cx="11237976" cy="5495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700">
                <a:solidFill>
                  <a:srgbClr val="191919"/>
                </a:solidFill>
              </a:rPr>
              <a:t>Standard concept: standard_concept = '___'  (fill in)</a:t>
            </a:r>
          </a:p>
          <a:p>
            <a:pPr>
              <a:spcBef>
                <a:spcPts val="600"/>
              </a:spcBef>
            </a:pPr>
            <a:r>
              <a:rPr sz="1700">
                <a:solidFill>
                  <a:srgbClr val="191919"/>
                </a:solidFill>
              </a:rPr>
              <a:t>Non-standard concept: standard_concept = _____ (fill in)</a:t>
            </a:r>
          </a:p>
          <a:p>
            <a:pPr>
              <a:spcBef>
                <a:spcPts val="600"/>
              </a:spcBef>
            </a:pPr>
            <a:r>
              <a:rPr sz="1700">
                <a:solidFill>
                  <a:srgbClr val="191919"/>
                </a:solidFill>
              </a:rPr>
              <a:t>Which table stores the standard concept for a condition? _______________</a:t>
            </a:r>
          </a:p>
          <a:p>
            <a:pPr>
              <a:spcBef>
                <a:spcPts val="600"/>
              </a:spcBef>
            </a:pPr>
            <a:r>
              <a:rPr sz="1700">
                <a:solidFill>
                  <a:srgbClr val="191919"/>
                </a:solidFill>
              </a:rPr>
              <a:t>Which relationship links an ICD code to its standard SNOMED concept? _______________</a:t>
            </a:r>
          </a:p>
          <a:p>
            <a:pPr>
              <a:spcBef>
                <a:spcPts val="600"/>
              </a:spcBef>
            </a:pPr>
            <a:r>
              <a:rPr sz="1700">
                <a:solidFill>
                  <a:srgbClr val="191919"/>
                </a:solidFill>
              </a:rPr>
              <a:t>If condition_concept_id = 0, this means: ____________________________</a:t>
            </a:r>
          </a:p>
          <a:p>
            <a:pPr>
              <a:spcBef>
                <a:spcPts val="600"/>
              </a:spcBef>
            </a:pPr>
            <a:r>
              <a:rPr sz="1700">
                <a:solidFill>
                  <a:srgbClr val="191919"/>
                </a:solidFill>
              </a:rPr>
              <a:t>Can you build a concept set on an ICD-10-CM code? ___________________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4B26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23544"/>
            <a:ext cx="12188952" cy="36576"/>
          </a:xfrm>
          <a:prstGeom prst="rect">
            <a:avLst/>
          </a:prstGeom>
          <a:solidFill>
            <a:srgbClr val="7B4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137160"/>
            <a:ext cx="11713464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Athena Exercise — Record Your Findings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1161288"/>
            <a:ext cx="11237976" cy="5495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700">
                <a:solidFill>
                  <a:srgbClr val="191919"/>
                </a:solidFill>
              </a:rPr>
              <a:t>Condition I searched for: _________________________________________</a:t>
            </a:r>
          </a:p>
          <a:p>
            <a:pPr>
              <a:spcBef>
                <a:spcPts val="600"/>
              </a:spcBef>
            </a:pPr>
            <a:r>
              <a:rPr sz="1700">
                <a:solidFill>
                  <a:srgbClr val="191919"/>
                </a:solidFill>
              </a:rPr>
              <a:t>Standard concept name: ___________________________________________</a:t>
            </a:r>
          </a:p>
          <a:p>
            <a:pPr>
              <a:spcBef>
                <a:spcPts val="600"/>
              </a:spcBef>
            </a:pPr>
            <a:r>
              <a:rPr sz="1700">
                <a:solidFill>
                  <a:srgbClr val="191919"/>
                </a:solidFill>
              </a:rPr>
              <a:t>Standard concept_id: _____________________________________________</a:t>
            </a:r>
          </a:p>
          <a:p>
            <a:pPr>
              <a:spcBef>
                <a:spcPts val="600"/>
              </a:spcBef>
            </a:pPr>
            <a:r>
              <a:rPr sz="1700">
                <a:solidFill>
                  <a:srgbClr val="191919"/>
                </a:solidFill>
              </a:rPr>
              <a:t>Vocabulary_id of the standard concept: ____________________________</a:t>
            </a:r>
          </a:p>
          <a:p>
            <a:pPr>
              <a:spcBef>
                <a:spcPts val="600"/>
              </a:spcBef>
            </a:pPr>
            <a:r>
              <a:rPr sz="1700">
                <a:solidFill>
                  <a:srgbClr val="191919"/>
                </a:solidFill>
              </a:rPr>
              <a:t>Number of ICD codes that 'Map to' this concept: ___________________</a:t>
            </a:r>
          </a:p>
          <a:p>
            <a:pPr>
              <a:spcBef>
                <a:spcPts val="600"/>
              </a:spcBef>
            </a:pPr>
            <a:r>
              <a:rPr sz="1700">
                <a:solidFill>
                  <a:srgbClr val="191919"/>
                </a:solidFill>
              </a:rPr>
              <a:t>Number of descendant concepts: ____________________________________</a:t>
            </a:r>
          </a:p>
          <a:p>
            <a:pPr>
              <a:spcBef>
                <a:spcPts val="600"/>
              </a:spcBef>
            </a:pPr>
            <a:r>
              <a:rPr sz="1700">
                <a:solidFill>
                  <a:srgbClr val="191919"/>
                </a:solidFill>
              </a:rPr>
              <a:t>One surprising concept I found in the hierarchy: ____________________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