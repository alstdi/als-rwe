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Participant Workbook: Treatment Pathway Analysis (ALS Medications)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Hands-on Lab</a:t>
            </a:r>
          </a:p>
          <a:p>
            <a:pPr marL="0" indent="0">
              <a:buNone/>
            </a:pPr>
            <a:r>
              <a:t>OHDSI / OMOP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Navigate ATLAS Cohort Pathways</a:t>
            </a:r>
          </a:p>
          <a:p>
            <a:pPr/>
            <a:r>
              <a:rPr sz="2400"/>
              <a:t>Run an ALS medication pathway analysis</a:t>
            </a:r>
          </a:p>
          <a:p>
            <a:pPr/>
            <a:r>
              <a:rPr sz="2400"/>
              <a:t>Interpret pathway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Access to ATLAS</a:t>
            </a:r>
          </a:p>
          <a:p>
            <a:pPr/>
            <a:r>
              <a:rPr sz="2400"/>
              <a:t>Target cohort and event cohorts generated</a:t>
            </a:r>
          </a:p>
          <a:p>
            <a:pPr/>
            <a:r>
              <a:rPr sz="2400"/>
              <a:t>Drug data mapped to OMOP CDM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Open Cohort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ATLAS → Cohort Pathways (left menu)</a:t>
            </a:r>
          </a:p>
          <a:p>
            <a:pPr/>
            <a:r>
              <a:rPr sz="2400"/>
              <a:t>Confirm you can see existing analyses.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Select Target Cohort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Choose the provided motor neuron disease cohort.</a:t>
            </a:r>
          </a:p>
          <a:p>
            <a:pPr marL="0" indent="0">
              <a:buNone/>
            </a:pPr>
            <a:r>
              <a:rPr sz="2400"/>
              <a:t>Checkpoint:</a:t>
            </a:r>
          </a:p>
          <a:p>
            <a:pPr/>
            <a:r>
              <a:rPr sz="2400"/>
              <a:t>✔ Cohort count is non-zero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Add the Event Cohorts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Riluzole</a:t>
            </a:r>
          </a:p>
          <a:p>
            <a:pPr/>
            <a:r>
              <a:rPr sz="2400"/>
              <a:t>Edaravone</a:t>
            </a:r>
          </a:p>
          <a:p>
            <a:pPr/>
            <a:r>
              <a:rPr sz="2400"/>
              <a:t>Tofersen</a:t>
            </a:r>
          </a:p>
          <a:p>
            <a:pPr/>
            <a:r>
              <a:rPr sz="2400"/>
              <a:t>Sodium phenylbutyrate and taurursodiol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Configure Pathway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Combination window: 30 days</a:t>
            </a:r>
          </a:p>
          <a:p>
            <a:pPr/>
            <a:r>
              <a:rPr sz="2400"/>
              <a:t>Minimum cell count: 5</a:t>
            </a:r>
          </a:p>
          <a:p>
            <a:pPr/>
            <a:r>
              <a:rPr sz="2400"/>
              <a:t>Maximum path length: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Run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Save, then generate against your data source.</a:t>
            </a:r>
          </a:p>
          <a:p>
            <a:pPr marL="0" indent="0">
              <a:buNone/>
            </a:pPr>
            <a:r>
              <a:rPr sz="2400"/>
              <a:t>Checkpoint:</a:t>
            </a:r>
          </a:p>
          <a:p>
            <a:pPr/>
            <a:r>
              <a:rPr sz="2400"/>
              <a:t>✔ The sunburst plot appears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1: Identify Dominant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Question:</a:t>
            </a:r>
          </a:p>
          <a:p>
            <a:pPr/>
            <a:r>
              <a:rPr sz="2400"/>
              <a:t>What is the most common first-line therapy?</a:t>
            </a:r>
          </a:p>
          <a:p>
            <a:pPr/>
            <a:r>
              <a:rPr sz="2400"/>
              <a:t>Write your answer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2: Edaravone After Riluzole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Question:</a:t>
            </a:r>
          </a:p>
          <a:p>
            <a:pPr/>
            <a:r>
              <a:rPr sz="2400"/>
              <a:t>What proportion of paths include edaravone after riluzole?</a:t>
            </a:r>
          </a:p>
          <a:p>
            <a:pPr/>
            <a:r>
              <a:rPr sz="2400"/>
              <a:t>Read it from the sunburst or the tabular 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3: Subgroup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Compare:</a:t>
            </a:r>
          </a:p>
          <a:p>
            <a:pPr/>
            <a:r>
              <a:rPr sz="2400"/>
              <a:t>Two target cohorts: age &lt;65 and age ≥65 at index</a:t>
            </a:r>
          </a:p>
          <a:p>
            <a:pPr marL="0" indent="0">
              <a:buNone/>
            </a:pPr>
            <a:r>
              <a:rPr sz="2400"/>
              <a:t>Question:</a:t>
            </a:r>
          </a:p>
          <a:p>
            <a:pPr/>
            <a:r>
              <a:rPr sz="2400"/>
              <a:t>Do escalation patterns differ?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Arc size = share of the cohort</a:t>
            </a:r>
          </a:p>
          <a:p>
            <a:pPr/>
            <a:r>
              <a:rPr sz="2400"/>
              <a:t>Branching = variation</a:t>
            </a:r>
          </a:p>
          <a:p>
            <a:pPr/>
            <a:r>
              <a:rPr sz="2400"/>
              <a:t>Context matters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Short follow-up in the target cohort</a:t>
            </a:r>
          </a:p>
          <a:p>
            <a:pPr/>
            <a:r>
              <a:rPr sz="2400"/>
              <a:t>Missing edaravone records (infusions may be recorded as procedures)</a:t>
            </a:r>
          </a:p>
          <a:p>
            <a:pPr/>
            <a:r>
              <a:rPr sz="2400"/>
              <a:t>Over-interpretation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You have completed the Treatment Pathway lab.</a:t>
            </a:r>
          </a:p>
          <a:p>
            <a:pPr marL="0" indent="0">
              <a:buNone/>
            </a:pPr>
            <a:r>
              <a:t>Be ready to discuss findings.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