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920240"/>
            <a:ext cx="10363200" cy="1280160"/>
          </a:xfrm>
        </p:spPr>
        <p:txBody>
          <a:bodyPr anchor="b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291840"/>
            <a:ext cx="10363200" cy="18288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Participant Workbook: Treatment Pathway Analysis (Diabetes)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Hands-on Lab</a:t>
            </a:r>
          </a:p>
          <a:p>
            <a:pPr marL="0" indent="0">
              <a:buNone/>
            </a:pPr>
            <a:r>
              <a:t>OHDSI / OMOP ATLAS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Navigate ATLAS Cohort Pathways</a:t>
            </a:r>
          </a:p>
          <a:p>
            <a:pPr/>
            <a:r>
              <a:rPr sz="2400"/>
              <a:t>Run a diabetes pathway analysis</a:t>
            </a:r>
          </a:p>
          <a:p>
            <a:pPr/>
            <a:r>
              <a:rPr sz="2400"/>
              <a:t>Interpret pathway results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Access to ATLAS</a:t>
            </a:r>
          </a:p>
          <a:p>
            <a:pPr/>
            <a:r>
              <a:rPr sz="2400"/>
              <a:t>Target cohort and event cohorts generated</a:t>
            </a:r>
          </a:p>
          <a:p>
            <a:pPr/>
            <a:r>
              <a:rPr sz="2400"/>
              <a:t>Drug data mapped to OMOP CDM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Open Cohort Pathways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ATLAS → Cohort Pathways (left menu)</a:t>
            </a:r>
          </a:p>
          <a:p>
            <a:pPr/>
            <a:r>
              <a:rPr sz="2400"/>
              <a:t>Confirm you can see existing analyses.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Select Target Cohort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Choose the provided Type 2 Diabetes cohort.</a:t>
            </a:r>
          </a:p>
          <a:p>
            <a:pPr marL="0" indent="0">
              <a:buNone/>
            </a:pPr>
            <a:r>
              <a:rPr sz="2400"/>
              <a:t>Checkpoint:</a:t>
            </a:r>
          </a:p>
          <a:p>
            <a:pPr/>
            <a:r>
              <a:rPr sz="2400"/>
              <a:t>✔ Cohort count is non-zero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Add the Event Cohorts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Metformin</a:t>
            </a:r>
          </a:p>
          <a:p>
            <a:pPr/>
            <a:r>
              <a:rPr sz="2400"/>
              <a:t>Sulfonylureas</a:t>
            </a:r>
          </a:p>
          <a:p>
            <a:pPr/>
            <a:r>
              <a:rPr sz="2400"/>
              <a:t>DPP-4 inhibitors</a:t>
            </a:r>
          </a:p>
          <a:p>
            <a:pPr/>
            <a:r>
              <a:rPr sz="2400"/>
              <a:t>GLP-1 RAs</a:t>
            </a:r>
          </a:p>
          <a:p>
            <a:pPr/>
            <a:r>
              <a:rPr sz="2400"/>
              <a:t>SGLT2 inhibitors</a:t>
            </a:r>
          </a:p>
          <a:p>
            <a:pPr/>
            <a:r>
              <a:rPr sz="2400"/>
              <a:t>Insulin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4: Configure Pathway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Combination window: 30 days</a:t>
            </a:r>
          </a:p>
          <a:p>
            <a:pPr/>
            <a:r>
              <a:rPr sz="2400"/>
              <a:t>Minimum cell count: 5</a:t>
            </a:r>
          </a:p>
          <a:p>
            <a:pPr/>
            <a:r>
              <a:rPr sz="2400"/>
              <a:t>Maximum path length: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5: Run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Save, then generate against your data source.</a:t>
            </a:r>
          </a:p>
          <a:p>
            <a:pPr marL="0" indent="0">
              <a:buNone/>
            </a:pPr>
            <a:r>
              <a:rPr sz="2400"/>
              <a:t>Checkpoint:</a:t>
            </a:r>
          </a:p>
          <a:p>
            <a:pPr/>
            <a:r>
              <a:rPr sz="2400"/>
              <a:t>✔ The sunburst plot appears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1: Identify Dominant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Question:</a:t>
            </a:r>
          </a:p>
          <a:p>
            <a:pPr/>
            <a:r>
              <a:rPr sz="2400"/>
              <a:t>What is the most common first-line therapy?</a:t>
            </a:r>
          </a:p>
          <a:p>
            <a:pPr/>
            <a:r>
              <a:rPr sz="2400"/>
              <a:t>Write your answer 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2: Insulin Escalation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Question:</a:t>
            </a:r>
          </a:p>
          <a:p>
            <a:pPr/>
            <a:r>
              <a:rPr sz="2400"/>
              <a:t>What proportion of patients reach insulin?</a:t>
            </a:r>
          </a:p>
          <a:p>
            <a:pPr/>
            <a:r>
              <a:rPr sz="2400"/>
              <a:t>Read it from the sunburst or the tabular 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3: Subgroup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2400"/>
              <a:t>Compare:</a:t>
            </a:r>
          </a:p>
          <a:p>
            <a:pPr/>
            <a:r>
              <a:rPr sz="2400"/>
              <a:t>Two target cohorts: age &lt;65 and age ≥65 at index</a:t>
            </a:r>
          </a:p>
          <a:p>
            <a:pPr marL="0" indent="0">
              <a:buNone/>
            </a:pPr>
            <a:r>
              <a:rPr sz="2400"/>
              <a:t>Question:</a:t>
            </a:r>
          </a:p>
          <a:p>
            <a:pPr/>
            <a:r>
              <a:rPr sz="2400"/>
              <a:t>Do escalation patterns differ?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Interpretation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Arc size = share of the cohort</a:t>
            </a:r>
          </a:p>
          <a:p>
            <a:pPr/>
            <a:r>
              <a:rPr sz="2400"/>
              <a:t>Branching = variation</a:t>
            </a:r>
          </a:p>
          <a:p>
            <a:pPr/>
            <a:r>
              <a:rPr sz="2400"/>
              <a:t>Context matters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Short follow-up in the target cohort</a:t>
            </a:r>
          </a:p>
          <a:p>
            <a:pPr/>
            <a:r>
              <a:rPr sz="2400"/>
              <a:t>Missing insulin exposure</a:t>
            </a:r>
          </a:p>
          <a:p>
            <a:pPr/>
            <a:r>
              <a:rPr sz="2400"/>
              <a:t>Over-interpretation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t>You have completed the Treatment Pathway lab.</a:t>
            </a:r>
          </a:p>
          <a:p>
            <a:pPr marL="0" indent="0">
              <a:buNone/>
            </a:pPr>
            <a:r>
              <a:t>Be ready to discuss findings.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62626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595959"/>
      </a:accent4>
      <a:accent5>
        <a:srgbClr val="BFBFBF"/>
      </a:accent5>
      <a:accent6>
        <a:srgbClr val="262626"/>
      </a:accent6>
      <a:hlink>
        <a:srgbClr val="000000"/>
      </a:hlink>
      <a:folHlink>
        <a:srgbClr val="40404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