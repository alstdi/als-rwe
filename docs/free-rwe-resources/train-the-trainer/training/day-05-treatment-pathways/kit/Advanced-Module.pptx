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Module: Treatment Pathway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OHDSI / OMOP</a:t>
            </a:r>
          </a:p>
          <a:p>
            <a:pPr marL="0" indent="0">
              <a:buNone/>
            </a:pPr>
            <a:r>
              <a:t>30–45 Minute Advanced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Persistence rules</a:t>
            </a:r>
          </a:p>
          <a:p>
            <a:pPr/>
            <a:r>
              <a:rPr sz="2400"/>
              <a:t>Switching vs add-on</a:t>
            </a:r>
          </a:p>
          <a:p>
            <a:pPr/>
            <a:r>
              <a:rPr sz="2400"/>
              <a:t>Sensitivity analyses</a:t>
            </a:r>
          </a:p>
          <a:p>
            <a:pPr/>
            <a:r>
              <a:rPr sz="2400"/>
              <a:t>Interpretation pitfalls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Intro to Advanced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Advanced focus:</a:t>
            </a:r>
          </a:p>
          <a:p>
            <a:pPr/>
            <a:r>
              <a:rPr sz="2400"/>
              <a:t>How design choices affect pathways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Persistence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Persistence defines time on treatment.</a:t>
            </a:r>
          </a:p>
          <a:p>
            <a:pPr/>
            <a:r>
              <a:rPr sz="2400"/>
              <a:t>Gaps ≠ discontinuation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Persistence Rules in ATLAS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Allowable gap</a:t>
            </a:r>
          </a:p>
          <a:p>
            <a:pPr/>
            <a:r>
              <a:rPr sz="2400"/>
              <a:t>Continuous exposure logic, set in each event cohort's exit rule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Persistence Sensitivity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Short gaps → more switching</a:t>
            </a:r>
          </a:p>
          <a:p>
            <a:pPr/>
            <a:r>
              <a:rPr sz="2400"/>
              <a:t>Long gaps → more persistence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Switching vs Add-On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Switching: sequential</a:t>
            </a:r>
          </a:p>
          <a:p>
            <a:pPr/>
            <a:r>
              <a:rPr sz="2400"/>
              <a:t>Add-on: overlapping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Combination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Controls overlap interpretation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Diabetes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Metformin → Metformin + GLP-1 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Follow-Up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Set by the target cohort's entry and exit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Maximum Path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Balance simplicity vs completeness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No causality</a:t>
            </a:r>
          </a:p>
          <a:p>
            <a:pPr/>
            <a:r>
              <a:rPr sz="2400"/>
              <a:t>Prior exposure matters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Claims vs EHR</a:t>
            </a:r>
          </a:p>
          <a:p>
            <a:pPr/>
            <a:r>
              <a:rPr sz="2400"/>
              <a:t>Regional variation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Start simple</a:t>
            </a:r>
          </a:p>
          <a:p>
            <a:pPr/>
            <a:r>
              <a:rPr sz="2400"/>
              <a:t>Change one parameter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Sequencing</a:t>
            </a:r>
          </a:p>
          <a:p>
            <a:pPr/>
            <a:r>
              <a:rPr sz="2400"/>
              <a:t>Utilization</a:t>
            </a:r>
          </a:p>
          <a:p>
            <a:pPr/>
            <a:r>
              <a:rPr sz="2400"/>
              <a:t>Hypothesis generation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Causal inference</a:t>
            </a:r>
          </a:p>
          <a:p>
            <a:pPr/>
            <a:r>
              <a:rPr sz="2400"/>
              <a:t>Comparative effectiveness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Rerun with different settings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Results are design-dependent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