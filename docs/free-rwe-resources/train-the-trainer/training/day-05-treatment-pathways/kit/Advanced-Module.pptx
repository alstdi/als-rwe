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alstdi-logo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901" name="ALS TDI 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65008" y="6043049"/>
            <a:ext cx="914400" cy="70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 Module</a:t>
            </a:r>
          </a:p>
          <a:p>
            <a:r>
              <a:t>Treatment Pathway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OHDSI / OMOP</a:t>
            </a:r>
          </a:p>
          <a:p>
            <a:r>
              <a:t>30–45 Minute Advanced Session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 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Persistence rules</a:t>
            </a:r>
          </a:p>
          <a:p>
            <a:r>
              <a:t>- Switching vs add-on</a:t>
            </a:r>
          </a:p>
          <a:p>
            <a:r>
              <a:t>- Sensitivity analyses</a:t>
            </a:r>
          </a:p>
          <a:p>
            <a:r>
              <a:t>- Interpretation pitfalls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Intro to Advanced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Advanced focus:</a:t>
            </a:r>
          </a:p>
          <a:p>
            <a:r>
              <a:t>How design choices affect pathways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Persistence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Persistence defines time on treatment.</a:t>
            </a:r>
          </a:p>
          <a:p>
            <a:r>
              <a:t>Gaps ≠ discontinuation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Persistence Rules in ATLAS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Allowable gap</a:t>
            </a:r>
          </a:p>
          <a:p>
            <a:r>
              <a:t>Continuous exposure logic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Persistence Sensitivity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Short gaps → more switching</a:t>
            </a:r>
          </a:p>
          <a:p>
            <a:r>
              <a:t>Long gaps → more persistence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Switching vs Add-On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Switching: sequential</a:t>
            </a:r>
          </a:p>
          <a:p>
            <a:r>
              <a:t>Add-on: overlapping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Combination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Controls overlap interpretation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Diabetes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Metformin → Metformin + GLP-1 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Time-at-Risk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Short vs long observation windows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Maximum Path Length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Balance simplicity vs completeness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Interpretation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 causality</a:t>
            </a:r>
          </a:p>
          <a:p>
            <a:r>
              <a:t>Prior exposure matters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Claims vs EHR</a:t>
            </a:r>
          </a:p>
          <a:p>
            <a:r>
              <a:t>Regional variation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Start simple</a:t>
            </a:r>
          </a:p>
          <a:p>
            <a:r>
              <a:t>Change one parameter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to Use Pathways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Sequencing</a:t>
            </a:r>
          </a:p>
          <a:p>
            <a:r>
              <a:t>Utilization</a:t>
            </a:r>
          </a:p>
          <a:p>
            <a:r>
              <a:t>Hypothesis generation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NOT to Use Pathways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Causal inference</a:t>
            </a:r>
          </a:p>
          <a:p>
            <a:r>
              <a:t>Comparative effectiveness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Rerun with different settings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Results are design-dependent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LS TDI">
      <a:dk1>
        <a:sysClr val="windowText" lastClr="000000"/>
      </a:dk1>
      <a:lt1>
        <a:sysClr val="window" lastClr="FFFFFF"/>
      </a:lt1>
      <a:dk2>
        <a:srgbClr val="6D2F77"/>
      </a:dk2>
      <a:lt2>
        <a:srgbClr val="F2EAF4"/>
      </a:lt2>
      <a:accent1>
        <a:srgbClr val="904199"/>
      </a:accent1>
      <a:accent2>
        <a:srgbClr val="B872C0"/>
      </a:accent2>
      <a:accent3>
        <a:srgbClr val="6D2F77"/>
      </a:accent3>
      <a:accent4>
        <a:srgbClr val="4A4A4A"/>
      </a:accent4>
      <a:accent5>
        <a:srgbClr val="D9C2DE"/>
      </a:accent5>
      <a:accent6>
        <a:srgbClr val="7A3580"/>
      </a:accent6>
      <a:hlink>
        <a:srgbClr val="904199"/>
      </a:hlink>
      <a:folHlink>
        <a:srgbClr val="6D2F77"/>
      </a:folHlink>
    </a:clrScheme>
    <a:fontScheme name="Office">
      <a:majorFont>
        <a:latin typeface="EB Garamon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