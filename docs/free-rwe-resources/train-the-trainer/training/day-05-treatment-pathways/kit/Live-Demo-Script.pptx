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920240"/>
            <a:ext cx="10363200" cy="1280160"/>
          </a:xfrm>
        </p:spPr>
        <p:txBody>
          <a:bodyPr anchor="b"/>
          <a:lstStyle>
            <a:lvl1pPr algn="l">
              <a:defRPr sz="4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3291840"/>
            <a:ext cx="10363200" cy="18288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l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b="1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Live ATLAS Demo Script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>
              <a:buNone/>
            </a:pPr>
            <a:r>
              <a:t>Facilitator Guide</a:t>
            </a:r>
          </a:p>
          <a:p>
            <a:pPr marL="0" indent="0">
              <a:buNone/>
            </a:pPr>
            <a:r>
              <a:t>Treatment Pathway Analysis – ALS Medications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Overview (30 Minutes)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Goal: Build and interpret a treatment pathway analysis</a:t>
            </a:r>
          </a:p>
          <a:p>
            <a:pPr/>
            <a:r>
              <a:rPr sz="2400"/>
              <a:t>Environment: Generic ATLAS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Minute 0–5: Orientation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2400"/>
              <a:t>Say:</a:t>
            </a:r>
          </a:p>
          <a:p>
            <a:pPr/>
            <a:r>
              <a:rPr sz="2400"/>
              <a:t>We will build a pathway analysis from scratch</a:t>
            </a:r>
          </a:p>
          <a:p>
            <a:pPr/>
            <a:r>
              <a:rPr sz="2400"/>
              <a:t>Results vary by database</a:t>
            </a:r>
          </a:p>
          <a:p>
            <a:pPr marL="0" indent="0">
              <a:buNone/>
            </a:pPr>
            <a:r>
              <a:rPr sz="2400"/>
              <a:t>Click:</a:t>
            </a:r>
          </a:p>
          <a:p>
            <a:pPr/>
            <a:r>
              <a:rPr sz="2400"/>
              <a:t>ATLAS Home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Minute 5–10: Navigate to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2400"/>
              <a:t>Click:</a:t>
            </a:r>
          </a:p>
          <a:p>
            <a:pPr/>
            <a:r>
              <a:rPr sz="2400"/>
              <a:t>ATLAS → Cohort Pathways (left menu)</a:t>
            </a:r>
          </a:p>
          <a:p>
            <a:pPr marL="0" indent="0">
              <a:buNone/>
            </a:pPr>
            <a:r>
              <a:rPr sz="2400"/>
              <a:t>Say:</a:t>
            </a:r>
          </a:p>
          <a:p>
            <a:pPr/>
            <a:r>
              <a:rPr sz="2400"/>
              <a:t>This tool visualizes treatment sequences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Minute 10–15: Select Target Cohort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2400"/>
              <a:t>Click:</a:t>
            </a:r>
          </a:p>
          <a:p>
            <a:pPr/>
            <a:r>
              <a:rPr sz="2400"/>
              <a:t>New</a:t>
            </a:r>
          </a:p>
          <a:p>
            <a:pPr/>
            <a:r>
              <a:rPr sz="2400"/>
              <a:t>Select the motor neuron disease cohort</a:t>
            </a:r>
          </a:p>
          <a:p>
            <a:pPr marL="0" indent="0">
              <a:buNone/>
            </a:pPr>
            <a:r>
              <a:rPr sz="2400"/>
              <a:t>Say:</a:t>
            </a:r>
          </a:p>
          <a:p>
            <a:pPr/>
            <a:r>
              <a:rPr sz="2400"/>
              <a:t>Cohort definition is foundational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Minute 15–20: Add the Event Cohorts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2400"/>
              <a:t>Click:</a:t>
            </a:r>
          </a:p>
          <a:p>
            <a:pPr/>
            <a:r>
              <a:rPr sz="2400"/>
              <a:t>Import the event cohorts (one per drug or drug class)</a:t>
            </a:r>
          </a:p>
          <a:p>
            <a:pPr marL="0" indent="0">
              <a:buNone/>
            </a:pPr>
            <a:r>
              <a:rPr sz="2400"/>
              <a:t>Say:</a:t>
            </a:r>
          </a:p>
          <a:p>
            <a:pPr/>
            <a:r>
              <a:rPr sz="2400"/>
              <a:t>Each step in a pathway is a cohort, built beforehand from a concept set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Minute 20–23: Configure Settings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2400"/>
              <a:t>Set:</a:t>
            </a:r>
          </a:p>
          <a:p>
            <a:pPr/>
            <a:r>
              <a:rPr sz="2400"/>
              <a:t>Combination window</a:t>
            </a:r>
          </a:p>
          <a:p>
            <a:pPr/>
            <a:r>
              <a:rPr sz="2400"/>
              <a:t>Minimum cell count, maximum path length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Minute 23–25: Run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2400"/>
              <a:t>Click:</a:t>
            </a:r>
          </a:p>
          <a:p>
            <a:pPr/>
            <a:r>
              <a:rPr sz="2400"/>
              <a:t>Save, then generate against a data source</a:t>
            </a:r>
          </a:p>
          <a:p>
            <a:pPr marL="0" indent="0">
              <a:buNone/>
            </a:pPr>
            <a:r>
              <a:rPr sz="2400"/>
              <a:t>Say:</a:t>
            </a:r>
          </a:p>
          <a:p>
            <a:pPr/>
            <a:r>
              <a:rPr sz="2400"/>
              <a:t>Runtime depends on database size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Minute 25–28: Interpret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2400"/>
              <a:t>Discuss:</a:t>
            </a:r>
          </a:p>
          <a:p>
            <a:pPr/>
            <a:r>
              <a:rPr sz="2400"/>
              <a:t>Arc size</a:t>
            </a:r>
          </a:p>
          <a:p>
            <a:pPr/>
            <a:r>
              <a:rPr sz="2400"/>
              <a:t>Branching</a:t>
            </a:r>
          </a:p>
          <a:p>
            <a:pPr/>
            <a:r>
              <a:rPr sz="2400"/>
              <a:t>Edaravone after riluzole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Minute 28–30: Pause for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2400"/>
              <a:t>Ask:</a:t>
            </a:r>
          </a:p>
          <a:p>
            <a:pPr/>
            <a:r>
              <a:rPr sz="2400"/>
              <a:t>What surprised you?</a:t>
            </a:r>
          </a:p>
          <a:p>
            <a:pPr/>
            <a:r>
              <a:rPr sz="2400"/>
              <a:t>Where do pathways diverge?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Troubleshooting: No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2400"/>
              <a:t>Check:</a:t>
            </a:r>
          </a:p>
          <a:p>
            <a:pPr/>
            <a:r>
              <a:rPr sz="2400"/>
              <a:t>Cohort size</a:t>
            </a:r>
          </a:p>
          <a:p>
            <a:pPr/>
            <a:r>
              <a:rPr sz="2400"/>
              <a:t>Drug mapping</a:t>
            </a:r>
          </a:p>
          <a:p>
            <a:pPr/>
            <a:r>
              <a:rPr sz="2400"/>
              <a:t>Target cohort follow-up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Troubleshooting: Unexpected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2400"/>
              <a:t>Explain:</a:t>
            </a:r>
          </a:p>
          <a:p>
            <a:pPr/>
            <a:r>
              <a:rPr sz="2400"/>
              <a:t>Data capture differences</a:t>
            </a:r>
          </a:p>
          <a:p>
            <a:pPr/>
            <a:r>
              <a:rPr sz="2400"/>
              <a:t>Combination products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Transition to Hands-On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t>Say:</a:t>
            </a:r>
          </a:p>
          <a:p>
            <a:pPr marL="0" indent="0">
              <a:buNone/>
            </a:pPr>
            <a:r>
              <a:t>Now follow the participant workbook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62626"/>
      </a:dk2>
      <a:lt2>
        <a:srgbClr val="F2F2F2"/>
      </a:lt2>
      <a:accent1>
        <a:srgbClr val="404040"/>
      </a:accent1>
      <a:accent2>
        <a:srgbClr val="7F7F7F"/>
      </a:accent2>
      <a:accent3>
        <a:srgbClr val="A6A6A6"/>
      </a:accent3>
      <a:accent4>
        <a:srgbClr val="595959"/>
      </a:accent4>
      <a:accent5>
        <a:srgbClr val="BFBFBF"/>
      </a:accent5>
      <a:accent6>
        <a:srgbClr val="262626"/>
      </a:accent6>
      <a:hlink>
        <a:srgbClr val="000000"/>
      </a:hlink>
      <a:folHlink>
        <a:srgbClr val="40404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