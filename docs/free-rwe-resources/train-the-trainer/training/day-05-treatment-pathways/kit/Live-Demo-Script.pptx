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ATLAS Demo 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Facilitator Guide</a:t>
            </a:r>
          </a:p>
          <a:p>
            <a:pPr marL="0" indent="0">
              <a:buNone/>
            </a:pPr>
            <a:r>
              <a:t>Treatment Pathway Analysis – Diabetes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Overview (30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Goal: Build and interpret a treatment pathway analysis</a:t>
            </a:r>
          </a:p>
          <a:p>
            <a:pPr/>
            <a:r>
              <a:rPr sz="2400"/>
              <a:t>Environment: Generic ATLAS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0–5: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Say:</a:t>
            </a:r>
          </a:p>
          <a:p>
            <a:pPr/>
            <a:r>
              <a:rPr sz="2400"/>
              <a:t>We will build a pathway analysis from scratch</a:t>
            </a:r>
          </a:p>
          <a:p>
            <a:pPr/>
            <a:r>
              <a:rPr sz="2400"/>
              <a:t>Results vary by database</a:t>
            </a:r>
          </a:p>
          <a:p>
            <a:pPr marL="0" indent="0">
              <a:buNone/>
            </a:pPr>
            <a:r>
              <a:rPr sz="2400"/>
              <a:t>Click:</a:t>
            </a:r>
          </a:p>
          <a:p>
            <a:pPr/>
            <a:r>
              <a:rPr sz="2400"/>
              <a:t>ATLAS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5–10: Navigate to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Click:</a:t>
            </a:r>
          </a:p>
          <a:p>
            <a:pPr/>
            <a:r>
              <a:rPr sz="2400"/>
              <a:t>ATLAS → Cohort Pathways (left menu)</a:t>
            </a:r>
          </a:p>
          <a:p>
            <a:pPr marL="0" indent="0">
              <a:buNone/>
            </a:pPr>
            <a:r>
              <a:rPr sz="2400"/>
              <a:t>Say:</a:t>
            </a:r>
          </a:p>
          <a:p>
            <a:pPr/>
            <a:r>
              <a:rPr sz="2400"/>
              <a:t>This tool visualizes treatment sequences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10–15: Select Target Cohort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Click:</a:t>
            </a:r>
          </a:p>
          <a:p>
            <a:pPr/>
            <a:r>
              <a:rPr sz="2400"/>
              <a:t>New</a:t>
            </a:r>
          </a:p>
          <a:p>
            <a:pPr/>
            <a:r>
              <a:rPr sz="2400"/>
              <a:t>Select Type 2 Diabetes cohort</a:t>
            </a:r>
          </a:p>
          <a:p>
            <a:pPr marL="0" indent="0">
              <a:buNone/>
            </a:pPr>
            <a:r>
              <a:rPr sz="2400"/>
              <a:t>Say:</a:t>
            </a:r>
          </a:p>
          <a:p>
            <a:pPr/>
            <a:r>
              <a:rPr sz="2400"/>
              <a:t>Cohort definition is foundational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15–20: Add the Event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Click:</a:t>
            </a:r>
          </a:p>
          <a:p>
            <a:pPr/>
            <a:r>
              <a:rPr sz="2400"/>
              <a:t>Import the event cohorts (one per drug or drug class)</a:t>
            </a:r>
          </a:p>
          <a:p>
            <a:pPr marL="0" indent="0">
              <a:buNone/>
            </a:pPr>
            <a:r>
              <a:rPr sz="2400"/>
              <a:t>Say:</a:t>
            </a:r>
          </a:p>
          <a:p>
            <a:pPr/>
            <a:r>
              <a:rPr sz="2400"/>
              <a:t>Each step in a pathway is a cohort, built beforehand from a concept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20–23: Configure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Set:</a:t>
            </a:r>
          </a:p>
          <a:p>
            <a:pPr/>
            <a:r>
              <a:rPr sz="2400"/>
              <a:t>Combination window</a:t>
            </a:r>
          </a:p>
          <a:p>
            <a:pPr/>
            <a:r>
              <a:rPr sz="2400"/>
              <a:t>Minimum cell count, maximum path length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23–25: Run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Click:</a:t>
            </a:r>
          </a:p>
          <a:p>
            <a:pPr/>
            <a:r>
              <a:rPr sz="2400"/>
              <a:t>Save, then generate against a data source</a:t>
            </a:r>
          </a:p>
          <a:p>
            <a:pPr marL="0" indent="0">
              <a:buNone/>
            </a:pPr>
            <a:r>
              <a:rPr sz="2400"/>
              <a:t>Say:</a:t>
            </a:r>
          </a:p>
          <a:p>
            <a:pPr/>
            <a:r>
              <a:rPr sz="2400"/>
              <a:t>Runtime depends on database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25–28: Interpret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Discuss:</a:t>
            </a:r>
          </a:p>
          <a:p>
            <a:pPr/>
            <a:r>
              <a:rPr sz="2400"/>
              <a:t>Arc size</a:t>
            </a:r>
          </a:p>
          <a:p>
            <a:pPr/>
            <a:r>
              <a:rPr sz="2400"/>
              <a:t>Branching</a:t>
            </a:r>
          </a:p>
          <a:p>
            <a:pPr/>
            <a:r>
              <a:rPr sz="2400"/>
              <a:t>Insulin escalation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28–30: Pause for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Ask:</a:t>
            </a:r>
          </a:p>
          <a:p>
            <a:pPr/>
            <a:r>
              <a:rPr sz="2400"/>
              <a:t>What surprised you?</a:t>
            </a:r>
          </a:p>
          <a:p>
            <a:pPr/>
            <a:r>
              <a:rPr sz="2400"/>
              <a:t>Where do pathways diverge?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Troubleshooting: No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Check:</a:t>
            </a:r>
          </a:p>
          <a:p>
            <a:pPr/>
            <a:r>
              <a:rPr sz="2400"/>
              <a:t>Cohort size</a:t>
            </a:r>
          </a:p>
          <a:p>
            <a:pPr/>
            <a:r>
              <a:rPr sz="2400"/>
              <a:t>Drug mapping</a:t>
            </a:r>
          </a:p>
          <a:p>
            <a:pPr/>
            <a:r>
              <a:rPr sz="2400"/>
              <a:t>Target cohort follow-up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Troubleshooting: Unexpected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Explain:</a:t>
            </a:r>
          </a:p>
          <a:p>
            <a:pPr/>
            <a:r>
              <a:rPr sz="2400"/>
              <a:t>Data capture differences</a:t>
            </a:r>
          </a:p>
          <a:p>
            <a:pPr/>
            <a:r>
              <a:rPr sz="2400"/>
              <a:t>Combination products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Say:</a:t>
            </a:r>
          </a:p>
          <a:p>
            <a:pPr marL="0" indent="0">
              <a:buNone/>
            </a:pPr>
            <a:r>
              <a:t>Now follow the participant workbook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