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920240"/>
            <a:ext cx="10363200" cy="1280160"/>
          </a:xfrm>
        </p:spPr>
        <p:txBody>
          <a:bodyPr anchor="b"/>
          <a:lstStyle>
            <a:lvl1pPr algn="l">
              <a:defRPr sz="4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3291840"/>
            <a:ext cx="10363200" cy="18288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l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b="1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Ingredient-Level Concept Set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t>OHDSI / OMOP</a:t>
            </a:r>
          </a:p>
          <a:p>
            <a:pPr marL="0" indent="0">
              <a:buNone/>
            </a:pPr>
            <a:r>
              <a:t>Treatment Pathway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 of This Concept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Standardize diabetes treatments</a:t>
            </a:r>
          </a:p>
          <a:p>
            <a:pPr/>
            <a:r>
              <a:rPr sz="2400"/>
              <a:t>Enable consistent pathway analysis</a:t>
            </a:r>
          </a:p>
          <a:p>
            <a:pPr/>
            <a:r>
              <a:rPr sz="2400"/>
              <a:t>One event cohort per drug or class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Ingredient-level only</a:t>
            </a:r>
          </a:p>
          <a:p>
            <a:pPr/>
            <a:r>
              <a:rPr sz="2400"/>
              <a:t>Descendants included</a:t>
            </a:r>
          </a:p>
          <a:p>
            <a:pPr/>
            <a:r>
              <a:rPr sz="2400"/>
              <a:t>Exclude devices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Biguanides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Metformin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Sulfonylureas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Glipizide</a:t>
            </a:r>
          </a:p>
          <a:p>
            <a:pPr/>
            <a:r>
              <a:rPr sz="2400"/>
              <a:t>Glyburide</a:t>
            </a:r>
          </a:p>
          <a:p>
            <a:pPr/>
            <a:r>
              <a:rPr sz="2400"/>
              <a:t>Glimepiride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DPP-4 Inhibitors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Sitagliptin</a:t>
            </a:r>
          </a:p>
          <a:p>
            <a:pPr/>
            <a:r>
              <a:rPr sz="2400"/>
              <a:t>Saxagliptin</a:t>
            </a:r>
          </a:p>
          <a:p>
            <a:pPr/>
            <a:r>
              <a:rPr sz="2400"/>
              <a:t>Linagliptin</a:t>
            </a:r>
          </a:p>
          <a:p>
            <a:pPr/>
            <a:r>
              <a:rPr sz="2400"/>
              <a:t>Alogliptin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GLP-1 Receptor Agonists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Liraglutide</a:t>
            </a:r>
          </a:p>
          <a:p>
            <a:pPr/>
            <a:r>
              <a:rPr sz="2400"/>
              <a:t>Semaglutide</a:t>
            </a:r>
          </a:p>
          <a:p>
            <a:pPr/>
            <a:r>
              <a:rPr sz="2400"/>
              <a:t>Dulaglutide</a:t>
            </a:r>
          </a:p>
          <a:p>
            <a:pPr/>
            <a:r>
              <a:rPr sz="2400"/>
              <a:t>Exenatide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SGLT2 Inhibitors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Canagliflozin</a:t>
            </a:r>
          </a:p>
          <a:p>
            <a:pPr/>
            <a:r>
              <a:rPr sz="2400"/>
              <a:t>Dapagliflozin</a:t>
            </a:r>
          </a:p>
          <a:p>
            <a:pPr/>
            <a:r>
              <a:rPr sz="2400"/>
              <a:t>Empagliflozin</a:t>
            </a:r>
          </a:p>
          <a:p>
            <a:pPr/>
            <a:r>
              <a:rPr sz="2400"/>
              <a:t>Ertugliflozin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Insulin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Basal (for example insulin glargine)</a:t>
            </a:r>
          </a:p>
          <a:p>
            <a:pPr/>
            <a:r>
              <a:rPr sz="2400"/>
              <a:t>Bolus (for example insulin lispro)</a:t>
            </a:r>
          </a:p>
          <a:p>
            <a:pPr/>
            <a:r>
              <a:rPr sz="2400"/>
              <a:t>Premixed products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Including Descendants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Include descendants</a:t>
            </a:r>
          </a:p>
          <a:p>
            <a:pPr/>
            <a:r>
              <a:rPr sz="2400"/>
              <a:t>Standard concepts only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Combination Products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Exclude or split by ingredient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ATLAS Import Guidance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Search ingredient → Include descendants → Save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Checklist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t>Check counts</a:t>
            </a:r>
          </a:p>
          <a:p>
            <a:pPr marL="0" indent="0">
              <a:buNone/>
            </a:pPr>
            <a:r>
              <a:t>Confirm insulin capture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62626"/>
      </a:dk2>
      <a:lt2>
        <a:srgbClr val="F2F2F2"/>
      </a:lt2>
      <a:accent1>
        <a:srgbClr val="404040"/>
      </a:accent1>
      <a:accent2>
        <a:srgbClr val="7F7F7F"/>
      </a:accent2>
      <a:accent3>
        <a:srgbClr val="A6A6A6"/>
      </a:accent3>
      <a:accent4>
        <a:srgbClr val="595959"/>
      </a:accent4>
      <a:accent5>
        <a:srgbClr val="BFBFBF"/>
      </a:accent5>
      <a:accent6>
        <a:srgbClr val="262626"/>
      </a:accent6>
      <a:hlink>
        <a:srgbClr val="000000"/>
      </a:hlink>
      <a:folHlink>
        <a:srgbClr val="40404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