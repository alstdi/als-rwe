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A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Step 1</c:v>
                </c:pt>
                <c:pt idx="1">
                  <c:v>Step 2</c:v>
                </c:pt>
                <c:pt idx="2">
                  <c:v>Step 3+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42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0C-4607-9968-E8381E615E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B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Step 1</c:v>
                </c:pt>
                <c:pt idx="1">
                  <c:v>Step 2</c:v>
                </c:pt>
                <c:pt idx="2">
                  <c:v>Step 3+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55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0C-4607-9968-E8381E615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856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8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53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OHDSI logo image: https://www.ohdsi.org/wp-content/uploads/2014/06/cropped-OHDSI-logo-with-text-horizontal-colored.png
- User-provided transcript ("Atlas Survey 4" demo) supplied in chat (foundation for content)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(Atlas Survey 4 demo) – describes Pathways designer flow (targets/event cohorts/settings/execution/import-export/versioning/messages)
- Cohort Pathways overview (ATLAS documentation): https://github.com/OHDSI/atlas-wiki/blob/master/Cohort%20Pathways.md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Cohort Pathways description (sequence of transitions between Event Cohorts within Target Cohorts; events include treatments/medicines): https://docs.finngen.fi/working-in-the-sandbox/which-tools-are-available/atlas/detailed-guide/cohort-pathways
- Cohort Pathways overview (ATLAS wiki): https://github.com/OHDSI/atlas-wiki/blob/master/Cohort%20Pathways.md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(Atlas Survey 4 demo) – positions Characterization, Incidence Rates, and Pathways as the three functions shown in Survey 4
- ATLAS User Process Guide (descriptions of Characterization / Incidence Rates / Cohort Pathways): https://labs.icahn.mssm.edu/msdw/wp-content/uploads/sites/350/2021/09/ATLAS-User-Process-Guide-1.pdf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Pathways designer tabs discussed: target populations, event cohorts, analysis settings, execution, report, import/export, versioning, messages
- Treatment pathways visualization formats (sunburst/sankey) mentioned in OHDSI community materials: https://www.ohdsi.org/wp-content/uploads/2022/09/OHDSI-Community-Call-05-09-2022-TreatmentPatterns-package.pdf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Pathways module described with: target populations, event cohorts, analysis settings, execution (with versions), import/export, versioning, messaging/validation
- Cohort Pathways documentation (ATLAS wiki): https://github.com/OHDSI/atlas-wiki/blob/master/Cohort%20Pathways.md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 used on slide (ATLAS Pathways results): https://ohdsi-korea.github.io/TheBookOfOhdsiKorea/images/Characterization/atlasPathwaysResults.png
- User-provided transcript – explains Pathways visualization and click-through to see details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Pathways supports multiple target cohorts; also highlights export/import + versioning for collaboration
- Cohort Pathways guide (how to create a pathway analysis with target/event cohorts): https://docs.finngen.fi/working-in-the-sandbox/which-tools-are-available/atlas/detailed-guide/cohort-pathways
[/Sources]
[Notes]
- Chart data is illustrative (example only), not taken from a real dataset.
[/Notes]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explicitly describes the four pathway tables and what each represents
- Cohort Pathways overview (ATLAS wiki): https://github.com/OHDSI/atlas-wiki/blob/master/Cohort%20Pathways.md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Pathways tabs include import/export, view SQL, versions, and messaging/validation
- ATLAS User Process Guide (mentions Cohort Pathways and exporting/reporting utilities): https://labs.icahn.mssm.edu/msdw/wp-content/uploads/sites/350/2021/09/ATLAS-User-Process-Guide-1.pdf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Cohort Pathways step-by-step guide (targets + event cohorts; run and review): https://docs.finngen.fi/working-in-the-sandbox/which-tools-are-available/atlas/detailed-guide/cohort-pathways
- User-provided transcript – Pathways designer flow and reporting emphasis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transcript – emphasizes Pathways as exploratory visualization + tables; highlights importance of exports and versioning
- OHDSI community slide deck comparing ATLAS Cohort Pathways vs TreatmentPatterns (exploratory; limited settings): https://www.ohdsi.org/wp-content/uploads/2022/09/OHDSI-Community-Call-05-09-2022-TreatmentPatterns-package.pdf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ATLAS wiki (Cohort Pathways): https://github.com/OHDSI/atlas-wiki/blob/master/Cohort%20Pathways.md
- Finngen Cohort Pathways guide: https://docs.finngen.fi/working-in-the-sandbox/which-tools-are-available/atlas/detailed-guide/cohort-pathways
- ATLAS User Process Guide (PDF): https://labs.icahn.mssm.edu/msdw/wp-content/uploads/sites/350/2021/09/ATLAS-User-Process-Guide-1.pdf
- OHDSI forums (Pathways FAQ): https://forums.ohdsi.org/t/cohort-pathways-in-atlas-faq/9511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1" name="ALS TD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008" y="6043049"/>
            <a:ext cx="914400" cy="7052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hds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83" y="320040"/>
            <a:ext cx="2341194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Pathway Analysis in ATLAS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2677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sequences of treatments over time • Compare pathways across populations &amp; subgroups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B2A3D"/>
          </a:solidFill>
          <a:ln w="12700">
            <a:solidFill>
              <a:srgbClr val="0B2A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0080" y="62453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goals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be able to do by the 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577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goals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Examine how patients move through sequences of treatments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ATLAS Cohort Pathways to visualize patterns of care (e.g., first-line → second-line)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pathway patterns across cohorts and (optionally) stratified 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Export/communicate pathway results for collaboration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Pathways concepts &amp; terminology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Designer walkthrough (targets, event cohorts, settings)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Reading the sunburst + tables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Comparing across populations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Hands-on exercise + best practices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246888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(recommended)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4805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create/find Cohort Definitions (target cohorts) and Concept Sets (for treatments) in ATLAS.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access to a configured WebAPI/CDM source to execute analyses.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treatment pathway?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ATLAS: sequences of “event cohorts” observed within a target cohort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1206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cohort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are we studying? (e.g., new users of first-line therapy)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cohorts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events define the pathway steps? (treatments, procedures, etc.)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steps are ordered over time (first observed, next observed, …)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Individual sequences are summarized into population patterns (sunburst + tables).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example (1 person)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194560"/>
            <a:ext cx="1005840" cy="731520"/>
          </a:xfrm>
          <a:prstGeom prst="roundRect">
            <a:avLst/>
          </a:prstGeom>
          <a:solidFill>
            <a:srgbClr val="0B2A3D"/>
          </a:solidFill>
          <a:ln w="12700">
            <a:solidFill>
              <a:srgbClr val="0B2A3D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3134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560320"/>
            <a:ext cx="50292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92440" y="2194560"/>
            <a:ext cx="1005840" cy="73152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92440" y="23134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560320"/>
            <a:ext cx="50292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2194560"/>
            <a:ext cx="1005840" cy="73152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23134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2560320"/>
            <a:ext cx="50292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378440" y="2194560"/>
            <a:ext cx="1005840" cy="73152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78440" y="23134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aggregates many such sequences into a population-level pattern.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3840480"/>
            <a:ext cx="5074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can answer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42976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common first treatments?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patients escalate/switch/add therapies?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patterns differ between cohorts (or strata)?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in the ATLAS analysis toolbox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relates to Characterization and Incidence (from the survey demo)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74720" cy="109728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proportions/distributions of features in a target cohort.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baseline descriptions, covariate balance, subgroup breakdowns.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8848" y="173736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1737360"/>
            <a:ext cx="3474720" cy="109728"/>
          </a:xfrm>
          <a:prstGeom prst="rect">
            <a:avLst/>
          </a:prstGeom>
          <a:solidFill>
            <a:srgbClr val="2C8F7A"/>
          </a:solidFill>
          <a:ln w="12700">
            <a:solidFill>
              <a:srgbClr val="2C8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27448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Rates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7448" y="242316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outcome rates within a target cohort (optionally stratified).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outcome frequency, time-at-risk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57616" y="173736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57616" y="1737360"/>
            <a:ext cx="3474720" cy="109728"/>
          </a:xfrm>
          <a:prstGeom prst="rect">
            <a:avLst/>
          </a:prstGeom>
          <a:solidFill>
            <a:srgbClr val="6B4FA1"/>
          </a:solidFill>
          <a:ln w="12700">
            <a:solidFill>
              <a:srgbClr val="6B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86216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Pathways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86216" y="242316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sequence of clinical events (including treatments) that occur within one or more populations.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treatment escalation/switch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cohorts → pathway design → results → sharing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920240" cy="1143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cohorts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cohort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cohorts for treatments)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537460"/>
            <a:ext cx="22860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1920240" cy="1143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7180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Pathway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23500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targets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 cohorts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analysis settings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537460"/>
            <a:ext cx="22860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37760" y="1965960"/>
            <a:ext cx="1920240" cy="1143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3500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CDM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generations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537460"/>
            <a:ext cx="22860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86600" y="1965960"/>
            <a:ext cx="1920240" cy="1143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6948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23500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Sunburst visualization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counts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cohorts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537460"/>
            <a:ext cx="228600" cy="0"/>
          </a:xfrm>
          <a:prstGeom prst="line">
            <a:avLst/>
          </a:prstGeom>
          <a:noFill/>
          <a:ln w="38100">
            <a:solidFill>
              <a:srgbClr val="7AA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35440" y="1965960"/>
            <a:ext cx="1920240" cy="1143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1832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Share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0" y="23500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design/results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messages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429000"/>
            <a:ext cx="108813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5661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“treatment pathways” work well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886200"/>
            <a:ext cx="10424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event cohorts mutually interpretable (e.g., drug classes)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Align index date &amp; follow-up rules with your question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an eye on event cohort count (too many → unreadable plots)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export/versioning for reproducible collaboration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Pathways: Designer walkthrough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configure before you run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53035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cohort(s): the population you want to study.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cohorts: the treatments/events you want to see in sequence.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settings: options controlling how pathways are constructed (we’ll treat these as “knobs,” not focus on every detail).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run the analysis and review generations (historical results).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Utilities: import/export for sharing designs.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messages: track changes; validation checks surface issues.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691640"/>
            <a:ext cx="4983480" cy="50749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12280" y="187452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tabs as a checklist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2286000"/>
            <a:ext cx="4480560" cy="475488"/>
          </a:xfrm>
          <a:prstGeom prst="roundRect">
            <a:avLst/>
          </a:prstGeom>
          <a:solidFill>
            <a:srgbClr val="0B2A3D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2395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2926080"/>
            <a:ext cx="4480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95160" y="3035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3566160"/>
            <a:ext cx="4480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3675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4206240"/>
            <a:ext cx="4480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4846320"/>
            <a:ext cx="4480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4956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5486400"/>
            <a:ext cx="4480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5160" y="5596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6126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 small (3–8 event cohorts). Add complexity only if the visualization stays readable.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sunburst plot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the pathway visualization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tlas_pathways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41" y="1691640"/>
            <a:ext cx="6578239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691640"/>
            <a:ext cx="658368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98080" y="1691640"/>
            <a:ext cx="40233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6680" y="2148840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ring outward represents the next step in the sequence.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Slice size ≈ how common that path is among the target cohort.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Colors map to event cohorts (treatments).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the legend to track which treatment each color represents.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Click-through in ATLAS reveals details for a selected segment (who followed that path).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pathways across populations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practical approaches: side-by-side visuals + quantitative exports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A: side-by-side in ATLAS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multiple target cohorts to the same Pathway analysis.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ATLAS shows a separate pathway result per target cohort.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Compare: dominant first step, branching, and depth (how many steps patients traverse).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440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B: export for deeper comparison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49834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CSV export to compare counts/percentages across cohorts, time windows, or sites.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results into R/Python/Excel for: differences, plots, or statistical summaries.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versioning notes so comparisons stay reproducible.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5166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patients reaching each step (example only)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629400" y="256032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629400" y="5623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idea with exported pathway tables to quantify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views: what the tables mean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summaries (as described in the demo)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Sequence table (sunburst “raw”)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each step-by-step sequence (e.g., Step1 → Step2 → Step3), with counts at each node.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039112"/>
            <a:ext cx="109728" cy="109728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Step distribution (ignores parent)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what happens in Step 1, Step 2, Step 3… regardless of how patients got there.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2039112"/>
            <a:ext cx="109728" cy="109728"/>
          </a:xfrm>
          <a:prstGeom prst="ellipse">
            <a:avLst/>
          </a:prstGeom>
          <a:solidFill>
            <a:srgbClr val="6B4FA1"/>
          </a:solidFill>
          <a:ln w="12700">
            <a:solidFill>
              <a:srgbClr val="6B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Event cohort presence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each treatment/event cohort appears anywhere in the pathway (regardless of step).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07992"/>
            <a:ext cx="109728" cy="109728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425196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Distinct event count per person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8463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people with 0, 1, 2, 3… distinct event cohorts observed (how “complex” care is).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507992"/>
            <a:ext cx="109728" cy="109728"/>
          </a:xfrm>
          <a:prstGeom prst="ellipse">
            <a:avLst/>
          </a:prstGeom>
          <a:solidFill>
            <a:srgbClr val="6B4FA1"/>
          </a:solidFill>
          <a:ln w="12700">
            <a:solidFill>
              <a:srgbClr val="6B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export, SQL, versions, messages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pathway work shareable and auditable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5778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use (and why)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1206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a pathway design across teams or environments.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what ATLAS is executing; useful for debugging or review.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save can create a version; use this to compare iterations and reproduce results.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/ 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checks warn about potential design issues before execution.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579496"/>
            <a:ext cx="5166360" cy="50749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checklist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5638" y="2794958"/>
            <a:ext cx="4402922" cy="3788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cohorts &amp; event cohorts clearly (they appear in legends/tables).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short “analysis note” per version: question + parameters + date.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design alongside key results (CSV/table exports).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results look odd: inspect SQL + confirm cohort logic.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build a treatment pathway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practice you can run in your ATLAS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(adapt to your dataset)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cohort: patients initiating a first-line therapy (new users), with ≥ 1 year follow-up.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cohorts: 5–8 treatment classes you want to track (e.g., antihypertensive classes or medication groups relevant to your question).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Create/confirm the Target Cohort and Event Cohorts (treatments) are available.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→ Cohort Pathways → “New” → select Target Cohort(s).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Event Cohorts (start with fewer; expand only if readable).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analysis settings (defaults are fine for first run).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→ open Reporting → inspect sunburst + tables.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target cohort (optional) to compare patterns.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+ save a version note capturing your question and settings.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common pitfalls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pathway results interpretable and actionable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9834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a clear question (initiation, escalation, switching, combinations).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event cohorts mutually exclusive when possible (or document overlaps).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event cohorts (readability matters).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coding: concept set coverage + ingredient vs brand mapping.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versioning/export so results can be reproduced across runs and sites.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166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7091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many event cohorts → unreadable sunburst and noisy tables.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Index/follow-up misalignment (e.g., insufficient observation time) changes the apparent pathway depth.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Comparing across cohorts without aligning definitions/parameters can mislead.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“First observed” ≠ “first prescribed” if data capture is incomplete — interpret with caution.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"/>
            <a:ext cx="2011680" cy="3200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C7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254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references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wiki: Cohort Pathways overview and tutorial links.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Finngen ATLAS sandbox guide: practical “click-by-click” walkthrough.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User Process Guide (PDF): broader ATLAS reporting/export tips.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OHDSI forums: Q&amp;A and troubleshooting for Pathways.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754880"/>
            <a:ext cx="10424160" cy="201168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4937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exercise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52578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pathway definition across two CDM sources (or time periods), export results, and compare differences in: dominant first step, pathway depth, and “distinct event count” distribution.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4404</TotalTime>
  <Words>2460</Words>
  <Application>Microsoft Office PowerPoint</Application>
  <PresentationFormat>Widescreen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OHDSI / ATLAS training (user-provided transcript foundation)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Danielle Boyce</cp:lastModifiedBy>
  <cp:revision>2</cp:revision>
  <dcterms:created xsi:type="dcterms:W3CDTF">2026-01-07T18:25:06Z</dcterms:created>
  <dcterms:modified xsi:type="dcterms:W3CDTF">2026-01-10T21:22:50Z</dcterms:modified>
</cp:coreProperties>
</file>