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Instructor Answer Key: Treatment Pathway Analysis (Diabetes)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Ranged / Descriptive Answers</a:t>
            </a:r>
          </a:p>
          <a:p>
            <a:pPr marL="0" indent="0">
              <a:buNone/>
            </a:pPr>
            <a:r>
              <a:t>For Instructor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Answer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Results vary by database</a:t>
            </a:r>
          </a:p>
          <a:p>
            <a:pPr/>
            <a:r>
              <a:rPr sz="2400"/>
              <a:t>Focus on patterns, not exact percentages</a:t>
            </a:r>
          </a:p>
          <a:p>
            <a:pPr/>
            <a:r>
              <a:rPr sz="2400"/>
              <a:t>Use ranges and directionality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1: Dominant First-Line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Often reported:</a:t>
            </a:r>
          </a:p>
          <a:p>
            <a:pPr/>
            <a:r>
              <a:rPr sz="2400"/>
              <a:t>Metformin as the largest first-ring arc</a:t>
            </a:r>
          </a:p>
          <a:p>
            <a:pPr marL="0" indent="0">
              <a:buNone/>
            </a:pPr>
            <a:r>
              <a:rPr sz="2400"/>
              <a:t>No fixed range:</a:t>
            </a:r>
          </a:p>
          <a:p>
            <a:pPr/>
            <a:r>
              <a:rPr sz="2400"/>
              <a:t>the percent depends on the database and the cohort definitions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If not metformin:</a:t>
            </a:r>
          </a:p>
          <a:p>
            <a:pPr/>
            <a:r>
              <a:rPr sz="2400"/>
              <a:t>Check cohort</a:t>
            </a:r>
          </a:p>
          <a:p>
            <a:pPr/>
            <a:r>
              <a:rPr sz="2400"/>
              <a:t>Prior exposure</a:t>
            </a:r>
          </a:p>
          <a:p>
            <a:pPr/>
            <a:r>
              <a:rPr sz="2400"/>
              <a:t>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2: Insulin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Record:</a:t>
            </a:r>
          </a:p>
          <a:p>
            <a:pPr/>
            <a:r>
              <a:rPr sz="2400"/>
              <a:t>The percent of paths that reach insulin</a:t>
            </a:r>
          </a:p>
          <a:p>
            <a:pPr marL="0" indent="0">
              <a:buNone/>
            </a:pPr>
            <a:r>
              <a:rPr sz="2400"/>
              <a:t>No fixed range:</a:t>
            </a:r>
          </a:p>
          <a:p>
            <a:pPr/>
            <a:r>
              <a:rPr sz="2400"/>
              <a:t>the percent depends on follow-up length and the population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Higher insulin:</a:t>
            </a:r>
          </a:p>
          <a:p>
            <a:pPr/>
            <a:r>
              <a:rPr sz="2400"/>
              <a:t>Longer follow-up</a:t>
            </a:r>
          </a:p>
          <a:p>
            <a:pPr/>
            <a:r>
              <a:rPr sz="2400"/>
              <a:t>Older/sicker</a:t>
            </a:r>
          </a:p>
          <a:p>
            <a:pPr/>
            <a:r>
              <a:rPr sz="2400"/>
              <a:t>Claims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3: Age Subgroups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Accept:</a:t>
            </a:r>
          </a:p>
          <a:p>
            <a:pPr/>
            <a:r>
              <a:rPr sz="2400"/>
              <a:t>A description of what the two age cohorts show</a:t>
            </a:r>
          </a:p>
          <a:p>
            <a:pPr/>
            <a:r>
              <a:rPr sz="2400"/>
              <a:t>Any visible difference acceptable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 –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400"/>
              <a:t>No difference:</a:t>
            </a:r>
          </a:p>
          <a:p>
            <a:pPr/>
            <a:r>
              <a:rPr sz="2400"/>
              <a:t>Small subgroups</a:t>
            </a:r>
          </a:p>
          <a:p>
            <a:pPr/>
            <a:r>
              <a:rPr sz="2400"/>
              <a:t>Short follow-up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Pathway Shape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Strong first ring</a:t>
            </a:r>
          </a:p>
          <a:p>
            <a:pPr/>
            <a:r>
              <a:rPr sz="2400"/>
              <a:t>More branching later</a:t>
            </a:r>
          </a:p>
          <a:p>
            <a:pPr/>
            <a:r>
              <a:rPr sz="2400"/>
              <a:t>Grey (end of pathway) grows in later rings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Misinterpretations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Exact % meaning</a:t>
            </a:r>
          </a:p>
          <a:p>
            <a:pPr/>
            <a:r>
              <a:rPr sz="2400"/>
              <a:t>Causality</a:t>
            </a:r>
          </a:p>
          <a:p>
            <a:pPr/>
            <a:r>
              <a:rPr sz="2400"/>
              <a:t>Guideline assumptions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Talking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Design drives results</a:t>
            </a:r>
          </a:p>
          <a:p>
            <a:pPr/>
            <a:r>
              <a:rPr sz="2400"/>
              <a:t>Descriptive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No drugs</a:t>
            </a:r>
          </a:p>
          <a:p>
            <a:pPr/>
            <a:r>
              <a:rPr sz="2400"/>
              <a:t>A first step that does not fit the cohort design (check prior exposure)</a:t>
            </a:r>
          </a:p>
          <a:p>
            <a:pPr/>
            <a:r>
              <a:rPr sz="2400"/>
              <a:t>Extreme fragmentation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Focus discussion on:</a:t>
            </a:r>
          </a:p>
          <a:p>
            <a:pPr marL="0" indent="0">
              <a:buNone/>
            </a:pPr>
            <a:r>
              <a:t>Why patterns differ</a:t>
            </a:r>
          </a:p>
          <a:p>
            <a:pPr marL="0" indent="0">
              <a:buNone/>
            </a:pPr>
            <a:r>
              <a:t>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