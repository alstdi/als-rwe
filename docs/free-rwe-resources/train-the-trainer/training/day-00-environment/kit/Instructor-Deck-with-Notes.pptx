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this module is intentionally brief on content so the group can spend maximum time verifying access. If everyone connects in 20 minutes, use the rest of the time to explore Athena.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table row by row. Have participants check each item live. Note: not everyone uses Databricks — ask the group what SQL client their site uses and make a note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a participant share their screen so the group can see the ATLAS interface. Confirm the ATLAS version — some sites are on older versions that lack certain features.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query fails: check (1) schema name spelling, (2) VPN connection, (3) user permissions on the schema. If the vocabulary table returns 0 rows, the CDM may not have a vocabulary loaded yet — flag to the trainer team.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Athena is always accessible without a VPN or institutional account. If a participant cannot reach Athena, the issue is network/firewall, not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is a frequent setup blocker for HADES. Common causes: (1) Java is not installed, (2) the Java and R architectures do not match, (3) RStudio was opened before Java was installed. Have participants restart RStudio after installing Java. The HADES R setup guide names the R version the packages are tested against (R 4.4.1 as of the guide read on 1 October 2026) and asks for a GitHub personal access token, because installing every HADES package anonymously runs into the GitHub download cap. Read the guide again before each delivery, since these details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during this exercise. The most common blockers: (1) ATLAS login fails — needs account provisioned by admin, (2) CDM connection fails — needs VPN + correct schema name, (3) Git SSH key not set 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or share this list at the start of the session so participants can self-diagnose. Most issues are resolved in 5 minutes once the cause is identified.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Environment Setup</a:t>
            </a:r>
          </a:p>
          <a:p>
            <a:r>
              <a:t>and Access</a:t>
            </a:r>
          </a:p>
        </p:txBody>
      </p:sp>
      <p:sp>
        <p:nvSpPr>
          <p:cNvPr id="3" name="Subtitle 2"/>
          <p:cNvSpPr>
            <a:spLocks noGrp="1"/>
          </p:cNvSpPr>
          <p:nvPr>
            <p:ph type="subTitle" idx="1"/>
          </p:nvPr>
        </p:nvSpPr>
        <p:spPr/>
        <p:txBody>
          <a:bodyPr/>
          <a:lstStyle/>
          <a:p>
            <a:pPr marL="0" indent="0">
              <a:buNone/>
            </a:pPr>
            <a:r>
              <a:t>MODULE 0</a:t>
            </a:r>
          </a:p>
          <a:p>
            <a:pPr marL="0" indent="0">
              <a:buNone/>
            </a:pPr>
            <a:r>
              <a:t>Verify all tools and data access before Day 1</a:t>
            </a:r>
          </a:p>
          <a:p>
            <a:pPr marL="0" indent="0">
              <a:buNone/>
            </a:pPr>
            <a: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r>
              <a:rPr sz="2400"/>
              <a:t>Thank you for being here and for investing your time in this work.</a:t>
            </a:r>
          </a:p>
          <a:p>
            <a:pPr/>
            <a:r>
              <a:rPr sz="2400"/>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Housekeeping</a:t>
            </a:r>
          </a:p>
        </p:txBody>
      </p:sp>
      <p:sp>
        <p:nvSpPr>
          <p:cNvPr id="3" name="Content Placeholder 2"/>
          <p:cNvSpPr>
            <a:spLocks noGrp="1"/>
          </p:cNvSpPr>
          <p:nvPr>
            <p:ph idx="1"/>
          </p:nvPr>
        </p:nvSpPr>
        <p:spPr/>
        <p:txBody>
          <a:bodyPr/>
          <a:lstStyle/>
          <a:p>
            <a:pPr/>
            <a:r>
              <a:rPr sz="2400"/>
              <a:t>Recording: today's session is recorded and shared within 24 hours.</a:t>
            </a:r>
          </a:p>
          <a:p>
            <a:pPr/>
            <a:r>
              <a:rPr sz="2400"/>
              <a:t>Questions: ask anytime in the chat — we'll pause at each section break.</a:t>
            </a:r>
          </a:p>
          <a:p>
            <a:pPr/>
            <a:r>
              <a:rPr sz="2400"/>
              <a:t>Materials: the slides, participant workbook, and Kahoot live in the program repo.</a:t>
            </a:r>
          </a:p>
          <a:p>
            <a:pPr/>
            <a:r>
              <a:rPr sz="2400"/>
              <a:t>Breaks: we'll take a short break partway through the session.</a:t>
            </a:r>
          </a:p>
          <a:p>
            <a:pPr/>
            <a:r>
              <a:rPr sz="2400"/>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graphicFrame>
        <p:nvGraphicFramePr>
          <p:cNvPr id="3" name="Table 2"/>
          <p:cNvGraphicFramePr>
            <a:graphicFrameLocks noGrp="1"/>
          </p:cNvGraphicFramePr>
          <p:nvPr/>
        </p:nvGraphicFramePr>
        <p:xfrm>
          <a:off x="612648" y="1417320"/>
          <a:ext cx="10966704" cy="4000500"/>
        </p:xfrm>
        <a:graphic>
          <a:graphicData uri="http://schemas.openxmlformats.org/drawingml/2006/table">
            <a:tbl>
              <a:tblPr firstRow="1">
                <a:tableStyleId>{5940675A-B579-460E-94D1-54222C63F5DA}</a:tableStyleId>
              </a:tblPr>
              <a:tblGrid>
                <a:gridCol w="2350008"/>
                <a:gridCol w="8616696"/>
              </a:tblGrid>
              <a:tr h="400050">
                <a:tc>
                  <a:txBody>
                    <a:bodyPr wrap="square"/>
                    <a:lstStyle/>
                    <a:p>
                      <a:r>
                        <a:rPr sz="1800" b="1">
                          <a:solidFill>
                            <a:srgbClr val="000000"/>
                          </a:solidFill>
                        </a:rPr>
                        <a:t>Time</a:t>
                      </a:r>
                    </a:p>
                  </a:txBody>
                  <a:tcPr marL="73152" marR="73152" marT="27432" marB="27432"/>
                </a:tc>
                <a:tc>
                  <a:txBody>
                    <a:bodyPr wrap="square"/>
                    <a:lstStyle/>
                    <a:p>
                      <a:r>
                        <a:rPr sz="1800" b="1">
                          <a:solidFill>
                            <a:srgbClr val="000000"/>
                          </a:solidFill>
                        </a:rPr>
                        <a:t>Topic</a:t>
                      </a:r>
                    </a:p>
                  </a:txBody>
                  <a:tcPr marL="73152" marR="73152" marT="27432" marB="27432"/>
                </a:tc>
              </a:tr>
              <a:tr h="400050">
                <a:tc>
                  <a:txBody>
                    <a:bodyPr wrap="square"/>
                    <a:lstStyle/>
                    <a:p>
                      <a:r>
                        <a:rPr sz="1800">
                          <a:solidFill>
                            <a:srgbClr val="000000"/>
                          </a:solidFill>
                        </a:rPr>
                        <a:t>0:00 – 0:10</a:t>
                      </a:r>
                    </a:p>
                  </a:txBody>
                  <a:tcPr marL="73152" marR="73152" marT="27432" marB="27432"/>
                </a:tc>
                <a:tc>
                  <a:txBody>
                    <a:bodyPr wrap="square"/>
                    <a:lstStyle/>
                    <a:p>
                      <a:r>
                        <a:rPr sz="1800">
                          <a:solidFill>
                            <a:srgbClr val="000000"/>
                          </a:solidFill>
                        </a:rPr>
                        <a:t>Welcome and overview of the environment setup process</a:t>
                      </a:r>
                    </a:p>
                  </a:txBody>
                  <a:tcPr marL="73152" marR="73152" marT="27432" marB="27432"/>
                </a:tc>
              </a:tr>
              <a:tr h="400050">
                <a:tc>
                  <a:txBody>
                    <a:bodyPr wrap="square"/>
                    <a:lstStyle/>
                    <a:p>
                      <a:r>
                        <a:rPr sz="1800">
                          <a:solidFill>
                            <a:srgbClr val="000000"/>
                          </a:solidFill>
                        </a:rPr>
                        <a:t>0:10 – 0:25</a:t>
                      </a:r>
                    </a:p>
                  </a:txBody>
                  <a:tcPr marL="73152" marR="73152" marT="27432" marB="27432"/>
                </a:tc>
                <a:tc>
                  <a:txBody>
                    <a:bodyPr wrap="square"/>
                    <a:lstStyle/>
                    <a:p>
                      <a:r>
                        <a:rPr sz="1800">
                          <a:solidFill>
                            <a:srgbClr val="000000"/>
                          </a:solidFill>
                        </a:rPr>
                        <a:t>ATLAS: login, concept set creation, cohort export</a:t>
                      </a:r>
                    </a:p>
                  </a:txBody>
                  <a:tcPr marL="73152" marR="73152" marT="27432" marB="27432"/>
                </a:tc>
              </a:tr>
              <a:tr h="400050">
                <a:tc>
                  <a:txBody>
                    <a:bodyPr wrap="square"/>
                    <a:lstStyle/>
                    <a:p>
                      <a:r>
                        <a:rPr sz="1800">
                          <a:solidFill>
                            <a:srgbClr val="000000"/>
                          </a:solidFill>
                        </a:rPr>
                        <a:t>0:25 – 0:40</a:t>
                      </a:r>
                    </a:p>
                  </a:txBody>
                  <a:tcPr marL="73152" marR="73152" marT="27432" marB="27432"/>
                </a:tc>
                <a:tc>
                  <a:txBody>
                    <a:bodyPr wrap="square"/>
                    <a:lstStyle/>
                    <a:p>
                      <a:r>
                        <a:rPr sz="1800">
                          <a:solidFill>
                            <a:srgbClr val="000000"/>
                          </a:solidFill>
                        </a:rPr>
                        <a:t>CDM database access: SQL client and basic queries</a:t>
                      </a:r>
                    </a:p>
                  </a:txBody>
                  <a:tcPr marL="73152" marR="73152" marT="27432" marB="27432"/>
                </a:tc>
              </a:tr>
              <a:tr h="400050">
                <a:tc>
                  <a:txBody>
                    <a:bodyPr wrap="square"/>
                    <a:lstStyle/>
                    <a:p>
                      <a:r>
                        <a:rPr sz="1800">
                          <a:solidFill>
                            <a:srgbClr val="000000"/>
                          </a:solidFill>
                        </a:rPr>
                        <a:t>0:40 – 0:50</a:t>
                      </a:r>
                    </a:p>
                  </a:txBody>
                  <a:tcPr marL="73152" marR="73152" marT="27432" marB="27432"/>
                </a:tc>
                <a:tc>
                  <a:txBody>
                    <a:bodyPr wrap="square"/>
                    <a:lstStyle/>
                    <a:p>
                      <a:r>
                        <a:rPr sz="1800">
                          <a:solidFill>
                            <a:srgbClr val="000000"/>
                          </a:solidFill>
                        </a:rPr>
                        <a:t>Athena browser walkthrough</a:t>
                      </a:r>
                    </a:p>
                  </a:txBody>
                  <a:tcPr marL="73152" marR="73152" marT="27432" marB="27432"/>
                </a:tc>
              </a:tr>
              <a:tr h="400050">
                <a:tc>
                  <a:txBody>
                    <a:bodyPr wrap="square"/>
                    <a:lstStyle/>
                    <a:p>
                      <a:r>
                        <a:rPr sz="1800">
                          <a:solidFill>
                            <a:srgbClr val="000000"/>
                          </a:solidFill>
                        </a:rPr>
                        <a:t>0:50 – 1:05</a:t>
                      </a:r>
                    </a:p>
                  </a:txBody>
                  <a:tcPr marL="73152" marR="73152" marT="27432" marB="27432"/>
                </a:tc>
                <a:tc>
                  <a:txBody>
                    <a:bodyPr wrap="square"/>
                    <a:lstStyle/>
                    <a:p>
                      <a:r>
                        <a:rPr sz="1800">
                          <a:solidFill>
                            <a:srgbClr val="000000"/>
                          </a:solidFill>
                        </a:rPr>
                        <a:t>Git / GitHub: clone the program repo</a:t>
                      </a:r>
                    </a:p>
                  </a:txBody>
                  <a:tcPr marL="73152" marR="73152" marT="27432" marB="27432"/>
                </a:tc>
              </a:tr>
              <a:tr h="400050">
                <a:tc>
                  <a:txBody>
                    <a:bodyPr wrap="square"/>
                    <a:lstStyle/>
                    <a:p>
                      <a:r>
                        <a:rPr sz="1800">
                          <a:solidFill>
                            <a:srgbClr val="000000"/>
                          </a:solidFill>
                        </a:rPr>
                        <a:t>1:05 – 1:20</a:t>
                      </a:r>
                    </a:p>
                  </a:txBody>
                  <a:tcPr marL="73152" marR="73152" marT="27432" marB="27432"/>
                </a:tc>
                <a:tc>
                  <a:txBody>
                    <a:bodyPr wrap="square"/>
                    <a:lstStyle/>
                    <a:p>
                      <a:r>
                        <a:rPr sz="1800">
                          <a:solidFill>
                            <a:srgbClr val="000000"/>
                          </a:solidFill>
                        </a:rPr>
                        <a:t>HADES setup (optional, Day 6 track)</a:t>
                      </a:r>
                    </a:p>
                  </a:txBody>
                  <a:tcPr marL="73152" marR="73152" marT="27432" marB="27432"/>
                </a:tc>
              </a:tr>
              <a:tr h="400050">
                <a:tc>
                  <a:txBody>
                    <a:bodyPr wrap="square"/>
                    <a:lstStyle/>
                    <a:p>
                      <a:r>
                        <a:rPr sz="1800">
                          <a:solidFill>
                            <a:srgbClr val="000000"/>
                          </a:solidFill>
                        </a:rPr>
                        <a:t>1:20 – 1:35</a:t>
                      </a:r>
                    </a:p>
                  </a:txBody>
                  <a:tcPr marL="73152" marR="73152" marT="27432" marB="27432"/>
                </a:tc>
                <a:tc>
                  <a:txBody>
                    <a:bodyPr wrap="square"/>
                    <a:lstStyle/>
                    <a:p>
                      <a:r>
                        <a:rPr sz="1800">
                          <a:solidFill>
                            <a:srgbClr val="000000"/>
                          </a:solidFill>
                        </a:rPr>
                        <a:t>Extraction method overview (ATLAS SQL export or local pipeline)</a:t>
                      </a:r>
                    </a:p>
                  </a:txBody>
                  <a:tcPr marL="73152" marR="73152" marT="27432" marB="27432"/>
                </a:tc>
              </a:tr>
              <a:tr h="400050">
                <a:tc>
                  <a:txBody>
                    <a:bodyPr wrap="square"/>
                    <a:lstStyle/>
                    <a:p>
                      <a:r>
                        <a:rPr sz="1800">
                          <a:solidFill>
                            <a:srgbClr val="000000"/>
                          </a:solidFill>
                        </a:rPr>
                        <a:t>1:35 – 1:55</a:t>
                      </a:r>
                    </a:p>
                  </a:txBody>
                  <a:tcPr marL="73152" marR="73152" marT="27432" marB="27432"/>
                </a:tc>
                <a:tc>
                  <a:txBody>
                    <a:bodyPr wrap="square"/>
                    <a:lstStyle/>
                    <a:p>
                      <a:r>
                        <a:rPr sz="1800">
                          <a:solidFill>
                            <a:srgbClr val="000000"/>
                          </a:solidFill>
                        </a:rPr>
                        <a:t>Checklist review, troubleshooting blockers</a:t>
                      </a:r>
                    </a:p>
                  </a:txBody>
                  <a:tcPr marL="73152" marR="73152" marT="27432" marB="27432"/>
                </a:tc>
              </a:tr>
              <a:tr h="400050">
                <a:tc>
                  <a:txBody>
                    <a:bodyPr wrap="square"/>
                    <a:lstStyle/>
                    <a:p>
                      <a:r>
                        <a:rPr sz="1800">
                          <a:solidFill>
                            <a:srgbClr val="000000"/>
                          </a:solidFill>
                        </a:rPr>
                        <a:t>1:55 – 2:00</a:t>
                      </a:r>
                    </a:p>
                  </a:txBody>
                  <a:tcPr marL="73152" marR="73152" marT="27432" marB="27432"/>
                </a:tc>
                <a:tc>
                  <a:txBody>
                    <a:bodyPr wrap="square"/>
                    <a:lstStyle/>
                    <a:p>
                      <a:r>
                        <a:rPr sz="1800">
                          <a:solidFill>
                            <a:srgbClr val="000000"/>
                          </a:solidFill>
                        </a:rPr>
                        <a:t>Wrap-up and next steps</a:t>
                      </a:r>
                    </a:p>
                  </a:txBody>
                  <a:tcPr marL="73152" marR="73152" marT="27432" marB="27432"/>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Kahoot!</a:t>
            </a:r>
          </a:p>
        </p:txBody>
      </p:sp>
      <p:sp>
        <p:nvSpPr>
          <p:cNvPr id="3" name="Text Placeholder 2"/>
          <p:cNvSpPr>
            <a:spLocks noGrp="1"/>
          </p:cNvSpPr>
          <p:nvPr>
            <p:ph type="body" idx="1"/>
          </p:nvPr>
        </p:nvSpPr>
        <p:spPr/>
        <p:txBody>
          <a:bodyPr/>
          <a:lstStyle/>
          <a:p>
            <a:pPr marL="0" indent="0">
              <a:buNone/>
            </a:pPr>
            <a:r>
              <a:t>Warm-up: a few quick questions before we dive in.</a:t>
            </a:r>
          </a:p>
          <a:p>
            <a:pPr marL="0" indent="0">
              <a:buNone/>
            </a:pPr>
            <a: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marL="0" indent="0">
              <a:buNone/>
            </a:pPr>
            <a:r>
              <a:rPr i="1" sz="2400"/>
              <a:t>By the end of this session, you will be able to:</a:t>
            </a:r>
          </a:p>
          <a:p>
            <a:pPr marL="0" indent="0">
              <a:buNone/>
            </a:pPr>
            <a:r>
              <a:rPr sz="2400"/>
              <a:t>1. Log in to ATLAS and successfully create, save, and export a concept set</a:t>
            </a:r>
          </a:p>
          <a:p>
            <a:pPr marL="0" indent="0">
              <a:buNone/>
            </a:pPr>
            <a:r>
              <a:rPr sz="2400"/>
              <a:t>2. Connect to the training OMOP CDM and run a basic SQL query</a:t>
            </a:r>
          </a:p>
          <a:p>
            <a:pPr marL="0" indent="0">
              <a:buNone/>
            </a:pPr>
            <a:r>
              <a:rPr sz="2400"/>
              <a:t>3. Identify your site's extraction method (exported ATLAS SQL or a local pipeline)</a:t>
            </a:r>
          </a:p>
          <a:p>
            <a:pPr marL="0" indent="0">
              <a:buNone/>
            </a:pPr>
            <a:r>
              <a:rPr sz="2400"/>
              <a:t>4. Confirm Git access and clone the program repository</a:t>
            </a:r>
          </a:p>
          <a:p>
            <a:pPr marL="0" indent="0">
              <a:buNone/>
            </a:pPr>
            <a:r>
              <a:rPr sz="2400"/>
              <a:t>5. Document and resolve any access blockers before Day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discuss</a:t>
            </a:r>
          </a:p>
        </p:txBody>
      </p:sp>
      <p:sp>
        <p:nvSpPr>
          <p:cNvPr id="3" name="Content Placeholder 2"/>
          <p:cNvSpPr>
            <a:spLocks noGrp="1"/>
          </p:cNvSpPr>
          <p:nvPr>
            <p:ph idx="1"/>
          </p:nvPr>
        </p:nvSpPr>
        <p:spPr/>
        <p:txBody>
          <a:bodyPr/>
          <a:lstStyle/>
          <a:p>
            <a:pPr marL="0" indent="0">
              <a:buNone/>
            </a:pPr>
            <a:r>
              <a:rPr b="1" sz="2400"/>
              <a:t>What tools does your site use day to day — and which one do you dread setting 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We Do This First</a:t>
            </a:r>
          </a:p>
        </p:txBody>
      </p:sp>
      <p:sp>
        <p:nvSpPr>
          <p:cNvPr id="3" name="Content Placeholder 2"/>
          <p:cNvSpPr>
            <a:spLocks noGrp="1"/>
          </p:cNvSpPr>
          <p:nvPr>
            <p:ph idx="1"/>
          </p:nvPr>
        </p:nvSpPr>
        <p:spPr/>
        <p:txBody>
          <a:bodyPr/>
          <a:lstStyle/>
          <a:p>
            <a:pPr/>
            <a:r>
              <a:rPr sz="2200"/>
              <a:t>Every exercise depends on working tool access — a broken connection on Day 2 costs 30 minutes of class time</a:t>
            </a:r>
          </a:p>
          <a:p>
            <a:pPr/>
            <a:r>
              <a:rPr sz="2200"/>
              <a:t>The OMOP CDM and the OHDSI tools follow the same design everywhere; versions and connection details differ by site</a:t>
            </a:r>
          </a:p>
          <a:p>
            <a:pPr/>
            <a:r>
              <a:rPr sz="2200"/>
              <a:t>Site-specific setup takes time: IT tickets, VPN rules, JDBC driver installs</a:t>
            </a:r>
          </a:p>
          <a:p>
            <a:pPr/>
            <a:r>
              <a:rPr sz="2200"/>
              <a:t>Goal: every participant arrives at Day 1 with confirmed, verified access — not 'it worked on my machine'</a:t>
            </a:r>
          </a:p>
          <a:p>
            <a:pPr/>
            <a:r>
              <a:rPr sz="2200"/>
              <a:t>If something is broken, we want to know NOW, not during the vocabulary lab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Need Access To</a:t>
            </a:r>
          </a:p>
        </p:txBody>
      </p:sp>
      <p:graphicFrame>
        <p:nvGraphicFramePr>
          <p:cNvPr id="3" name="Table 2"/>
          <p:cNvGraphicFramePr>
            <a:graphicFrameLocks noGrp="1"/>
          </p:cNvGraphicFramePr>
          <p:nvPr/>
        </p:nvGraphicFramePr>
        <p:xfrm>
          <a:off x="612648" y="1417320"/>
          <a:ext cx="10966703" cy="4743450"/>
        </p:xfrm>
        <a:graphic>
          <a:graphicData uri="http://schemas.openxmlformats.org/drawingml/2006/table">
            <a:tbl>
              <a:tblPr firstRow="1">
                <a:tableStyleId>{5940675A-B579-460E-94D1-54222C63F5DA}</a:tableStyleId>
              </a:tblPr>
              <a:tblGrid>
                <a:gridCol w="2214430"/>
                <a:gridCol w="5799699"/>
                <a:gridCol w="2952574"/>
              </a:tblGrid>
              <a:tr h="400050">
                <a:tc>
                  <a:txBody>
                    <a:bodyPr wrap="square"/>
                    <a:lstStyle/>
                    <a:p>
                      <a:r>
                        <a:rPr sz="1800" b="1">
                          <a:solidFill>
                            <a:srgbClr val="000000"/>
                          </a:solidFill>
                        </a:rPr>
                        <a:t>Tool</a:t>
                      </a:r>
                    </a:p>
                  </a:txBody>
                  <a:tcPr marL="73152" marR="73152" marT="27432" marB="27432"/>
                </a:tc>
                <a:tc>
                  <a:txBody>
                    <a:bodyPr wrap="square"/>
                    <a:lstStyle/>
                    <a:p>
                      <a:r>
                        <a:rPr sz="1800" b="1">
                          <a:solidFill>
                            <a:srgbClr val="000000"/>
                          </a:solidFill>
                        </a:rPr>
                        <a:t>What to Verify</a:t>
                      </a:r>
                    </a:p>
                  </a:txBody>
                  <a:tcPr marL="73152" marR="73152" marT="27432" marB="27432"/>
                </a:tc>
                <a:tc>
                  <a:txBody>
                    <a:bodyPr wrap="square"/>
                    <a:lstStyle/>
                    <a:p>
                      <a:r>
                        <a:rPr sz="1800" b="1">
                          <a:solidFill>
                            <a:srgbClr val="000000"/>
                          </a:solidFill>
                        </a:rPr>
                        <a:t>Site-Specific?</a:t>
                      </a:r>
                    </a:p>
                  </a:txBody>
                  <a:tcPr marL="73152" marR="73152" marT="27432" marB="27432"/>
                </a:tc>
              </a:tr>
              <a:tr h="400050">
                <a:tc>
                  <a:txBody>
                    <a:bodyPr wrap="square"/>
                    <a:lstStyle/>
                    <a:p>
                      <a:r>
                        <a:rPr sz="1800">
                          <a:solidFill>
                            <a:srgbClr val="000000"/>
                          </a:solidFill>
                        </a:rPr>
                        <a:t>ATLAS</a:t>
                      </a:r>
                    </a:p>
                  </a:txBody>
                  <a:tcPr marL="73152" marR="73152" marT="27432" marB="27432"/>
                </a:tc>
                <a:tc>
                  <a:txBody>
                    <a:bodyPr wrap="square"/>
                    <a:lstStyle/>
                    <a:p>
                      <a:r>
                        <a:rPr sz="1800">
                          <a:solidFill>
                            <a:srgbClr val="000000"/>
                          </a:solidFill>
                        </a:rPr>
                        <a:t>Log in, create/save/export a concept set (JSON)</a:t>
                      </a:r>
                    </a:p>
                  </a:txBody>
                  <a:tcPr marL="73152" marR="73152" marT="27432" marB="27432"/>
                </a:tc>
                <a:tc>
                  <a:txBody>
                    <a:bodyPr wrap="square"/>
                    <a:lstStyle/>
                    <a:p>
                      <a:r>
                        <a:rPr sz="1800">
                          <a:solidFill>
                            <a:srgbClr val="000000"/>
                          </a:solidFill>
                        </a:rPr>
                        <a:t>Yes — your site's URL</a:t>
                      </a:r>
                    </a:p>
                  </a:txBody>
                  <a:tcPr marL="73152" marR="73152" marT="27432" marB="27432"/>
                </a:tc>
              </a:tr>
              <a:tr h="685800">
                <a:tc>
                  <a:txBody>
                    <a:bodyPr wrap="square"/>
                    <a:lstStyle/>
                    <a:p>
                      <a:r>
                        <a:rPr sz="1800">
                          <a:solidFill>
                            <a:srgbClr val="000000"/>
                          </a:solidFill>
                        </a:rPr>
                        <a:t>OMOP CDM Database</a:t>
                      </a:r>
                    </a:p>
                  </a:txBody>
                  <a:tcPr marL="73152" marR="73152" marT="27432" marB="27432"/>
                </a:tc>
                <a:tc>
                  <a:txBody>
                    <a:bodyPr wrap="square"/>
                    <a:lstStyle/>
                    <a:p>
                      <a:r>
                        <a:rPr sz="1800">
                          <a:solidFill>
                            <a:srgbClr val="000000"/>
                          </a:solidFill>
                        </a:rPr>
                        <a:t>Read access; run SELECT * FROM person LIMIT 5 (SELECT TOP 5 on SQL Server)</a:t>
                      </a:r>
                    </a:p>
                  </a:txBody>
                  <a:tcPr marL="73152" marR="73152" marT="27432" marB="27432"/>
                </a:tc>
                <a:tc>
                  <a:txBody>
                    <a:bodyPr wrap="square"/>
                    <a:lstStyle/>
                    <a:p>
                      <a:r>
                        <a:rPr sz="1800">
                          <a:solidFill>
                            <a:srgbClr val="000000"/>
                          </a:solidFill>
                        </a:rPr>
                        <a:t>Yes — schema + warehouse</a:t>
                      </a:r>
                    </a:p>
                  </a:txBody>
                  <a:tcPr marL="73152" marR="73152" marT="27432" marB="27432"/>
                </a:tc>
              </a:tr>
              <a:tr h="400050">
                <a:tc>
                  <a:txBody>
                    <a:bodyPr wrap="square"/>
                    <a:lstStyle/>
                    <a:p>
                      <a:r>
                        <a:rPr sz="1800">
                          <a:solidFill>
                            <a:srgbClr val="000000"/>
                          </a:solidFill>
                        </a:rPr>
                        <a:t>Athena Browser</a:t>
                      </a:r>
                    </a:p>
                  </a:txBody>
                  <a:tcPr marL="73152" marR="73152" marT="27432" marB="27432"/>
                </a:tc>
                <a:tc>
                  <a:txBody>
                    <a:bodyPr wrap="square"/>
                    <a:lstStyle/>
                    <a:p>
                      <a:r>
                        <a:rPr sz="1800">
                          <a:solidFill>
                            <a:srgbClr val="000000"/>
                          </a:solidFill>
                        </a:rPr>
                        <a:t>Browse vocabularies at athena.ohdsi.org</a:t>
                      </a:r>
                    </a:p>
                  </a:txBody>
                  <a:tcPr marL="73152" marR="73152" marT="27432" marB="27432"/>
                </a:tc>
                <a:tc>
                  <a:txBody>
                    <a:bodyPr wrap="square"/>
                    <a:lstStyle/>
                    <a:p>
                      <a:r>
                        <a:rPr sz="1800">
                          <a:solidFill>
                            <a:srgbClr val="000000"/>
                          </a:solidFill>
                        </a:rPr>
                        <a:t>No — shared globally</a:t>
                      </a:r>
                    </a:p>
                  </a:txBody>
                  <a:tcPr marL="73152" marR="73152" marT="27432" marB="27432"/>
                </a:tc>
              </a:tr>
              <a:tr h="685800">
                <a:tc>
                  <a:txBody>
                    <a:bodyPr wrap="square"/>
                    <a:lstStyle/>
                    <a:p>
                      <a:r>
                        <a:rPr sz="1800">
                          <a:solidFill>
                            <a:srgbClr val="000000"/>
                          </a:solidFill>
                        </a:rPr>
                        <a:t>SQL Client</a:t>
                      </a:r>
                    </a:p>
                  </a:txBody>
                  <a:tcPr marL="73152" marR="73152" marT="27432" marB="27432"/>
                </a:tc>
                <a:tc>
                  <a:txBody>
                    <a:bodyPr wrap="square"/>
                    <a:lstStyle/>
                    <a:p>
                      <a:r>
                        <a:rPr sz="1800">
                          <a:solidFill>
                            <a:srgbClr val="000000"/>
                          </a:solidFill>
                        </a:rPr>
                        <a:t>Connect to CDM; Databricks, DBeaver, or site equivalent</a:t>
                      </a:r>
                    </a:p>
                  </a:txBody>
                  <a:tcPr marL="73152" marR="73152" marT="27432" marB="27432"/>
                </a:tc>
                <a:tc>
                  <a:txBody>
                    <a:bodyPr wrap="square"/>
                    <a:lstStyle/>
                    <a:p>
                      <a:r>
                        <a:rPr sz="1800">
                          <a:solidFill>
                            <a:srgbClr val="000000"/>
                          </a:solidFill>
                        </a:rPr>
                        <a:t>Yes — client varies</a:t>
                      </a:r>
                    </a:p>
                  </a:txBody>
                  <a:tcPr marL="73152" marR="73152" marT="27432" marB="27432"/>
                </a:tc>
              </a:tr>
              <a:tr h="400050">
                <a:tc>
                  <a:txBody>
                    <a:bodyPr wrap="square"/>
                    <a:lstStyle/>
                    <a:p>
                      <a:r>
                        <a:rPr sz="1800">
                          <a:solidFill>
                            <a:srgbClr val="000000"/>
                          </a:solidFill>
                        </a:rPr>
                        <a:t>Extraction Method</a:t>
                      </a:r>
                    </a:p>
                  </a:txBody>
                  <a:tcPr marL="73152" marR="73152" marT="27432" marB="27432"/>
                </a:tc>
                <a:tc>
                  <a:txBody>
                    <a:bodyPr wrap="square"/>
                    <a:lstStyle/>
                    <a:p>
                      <a:r>
                        <a:rPr sz="1800">
                          <a:solidFill>
                            <a:srgbClr val="000000"/>
                          </a:solidFill>
                        </a:rPr>
                        <a:t>ATLAS SQL export or a local pipeline</a:t>
                      </a:r>
                    </a:p>
                  </a:txBody>
                  <a:tcPr marL="73152" marR="73152" marT="27432" marB="27432"/>
                </a:tc>
                <a:tc>
                  <a:txBody>
                    <a:bodyPr wrap="square"/>
                    <a:lstStyle/>
                    <a:p>
                      <a:r>
                        <a:rPr sz="1800">
                          <a:solidFill>
                            <a:srgbClr val="000000"/>
                          </a:solidFill>
                        </a:rPr>
                        <a:t>Yes — varies widely</a:t>
                      </a:r>
                    </a:p>
                  </a:txBody>
                  <a:tcPr marL="73152" marR="73152" marT="27432" marB="27432"/>
                </a:tc>
              </a:tr>
              <a:tr h="685800">
                <a:tc>
                  <a:txBody>
                    <a:bodyPr wrap="square"/>
                    <a:lstStyle/>
                    <a:p>
                      <a:r>
                        <a:rPr sz="1800">
                          <a:solidFill>
                            <a:srgbClr val="000000"/>
                          </a:solidFill>
                        </a:rPr>
                        <a:t>R / HADES (Day 6)</a:t>
                      </a:r>
                    </a:p>
                  </a:txBody>
                  <a:tcPr marL="73152" marR="73152" marT="27432" marB="27432"/>
                </a:tc>
                <a:tc>
                  <a:txBody>
                    <a:bodyPr wrap="square"/>
                    <a:lstStyle/>
                    <a:p>
                      <a:r>
                        <a:rPr sz="1800">
                          <a:solidFill>
                            <a:srgbClr val="000000"/>
                          </a:solidFill>
                        </a:rPr>
                        <a:t>R 4.4.1 (the HADES target version), Java, GitHub token, DatabaseConnector loads</a:t>
                      </a:r>
                    </a:p>
                  </a:txBody>
                  <a:tcPr marL="73152" marR="73152" marT="27432" marB="27432"/>
                </a:tc>
                <a:tc>
                  <a:txBody>
                    <a:bodyPr wrap="square"/>
                    <a:lstStyle/>
                    <a:p>
                      <a:r>
                        <a:rPr sz="1800">
                          <a:solidFill>
                            <a:srgbClr val="000000"/>
                          </a:solidFill>
                        </a:rPr>
                        <a:t>Yes — local install</a:t>
                      </a:r>
                    </a:p>
                  </a:txBody>
                  <a:tcPr marL="73152" marR="73152" marT="27432" marB="27432"/>
                </a:tc>
              </a:tr>
              <a:tr h="400050">
                <a:tc>
                  <a:txBody>
                    <a:bodyPr wrap="square"/>
                    <a:lstStyle/>
                    <a:p>
                      <a:r>
                        <a:rPr sz="1800">
                          <a:solidFill>
                            <a:srgbClr val="000000"/>
                          </a:solidFill>
                        </a:rPr>
                        <a:t>Git / GitHub</a:t>
                      </a:r>
                    </a:p>
                  </a:txBody>
                  <a:tcPr marL="73152" marR="73152" marT="27432" marB="27432"/>
                </a:tc>
                <a:tc>
                  <a:txBody>
                    <a:bodyPr wrap="square"/>
                    <a:lstStyle/>
                    <a:p>
                      <a:r>
                        <a:rPr sz="1800">
                          <a:solidFill>
                            <a:srgbClr val="000000"/>
                          </a:solidFill>
                        </a:rPr>
                        <a:t>Clone program repo; push/pull without auth error</a:t>
                      </a:r>
                    </a:p>
                  </a:txBody>
                  <a:tcPr marL="73152" marR="73152" marT="27432" marB="27432"/>
                </a:tc>
                <a:tc>
                  <a:txBody>
                    <a:bodyPr wrap="square"/>
                    <a:lstStyle/>
                    <a:p>
                      <a:r>
                        <a:rPr sz="1800">
                          <a:solidFill>
                            <a:srgbClr val="000000"/>
                          </a:solidFill>
                        </a:rPr>
                        <a:t>Yes — repo URL</a:t>
                      </a:r>
                    </a:p>
                  </a:txBody>
                  <a:tcPr marL="73152" marR="73152" marT="27432" marB="27432"/>
                </a:tc>
              </a:tr>
              <a:tr h="685800">
                <a:tc>
                  <a:txBody>
                    <a:bodyPr wrap="square"/>
                    <a:lstStyle/>
                    <a:p>
                      <a:r>
                        <a:rPr sz="1800">
                          <a:solidFill>
                            <a:srgbClr val="000000"/>
                          </a:solidFill>
                        </a:rPr>
                        <a:t>Support Contacts</a:t>
                      </a:r>
                    </a:p>
                  </a:txBody>
                  <a:tcPr marL="73152" marR="73152" marT="27432" marB="27432"/>
                </a:tc>
                <a:tc>
                  <a:txBody>
                    <a:bodyPr wrap="square"/>
                    <a:lstStyle/>
                    <a:p>
                      <a:r>
                        <a:rPr sz="1800">
                          <a:solidFill>
                            <a:srgbClr val="000000"/>
                          </a:solidFill>
                        </a:rPr>
                        <a:t>Know who to call for data access, ATLAS admin, IT</a:t>
                      </a:r>
                    </a:p>
                  </a:txBody>
                  <a:tcPr marL="73152" marR="73152" marT="27432" marB="27432"/>
                </a:tc>
                <a:tc>
                  <a:txBody>
                    <a:bodyPr wrap="square"/>
                    <a:lstStyle/>
                    <a:p>
                      <a:r>
                        <a:rPr sz="1800">
                          <a:solidFill>
                            <a:srgbClr val="000000"/>
                          </a:solidFill>
                        </a:rPr>
                        <a:t>Always local</a:t>
                      </a:r>
                    </a:p>
                  </a:txBody>
                  <a:tcPr marL="73152" marR="73152" marT="27432" marB="27432"/>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ATLAS: What to Verify</a:t>
            </a:r>
          </a:p>
        </p:txBody>
      </p:sp>
      <p:sp>
        <p:nvSpPr>
          <p:cNvPr id="3" name="Content Placeholder 2"/>
          <p:cNvSpPr>
            <a:spLocks noGrp="1"/>
          </p:cNvSpPr>
          <p:nvPr>
            <p:ph idx="1"/>
          </p:nvPr>
        </p:nvSpPr>
        <p:spPr/>
        <p:txBody>
          <a:bodyPr/>
          <a:lstStyle/>
          <a:p>
            <a:pPr marL="0" indent="0">
              <a:buNone/>
            </a:pPr>
            <a:r>
              <a:rPr sz="2200"/>
              <a:t>1.  Navigate to your site's ATLAS URL and log in with your credentials</a:t>
            </a:r>
          </a:p>
          <a:p>
            <a:pPr marL="0" indent="0">
              <a:buNone/>
            </a:pPr>
            <a:r>
              <a:rPr sz="2200"/>
              <a:t>2.  Go to Concept Sets → New Concept Set</a:t>
            </a:r>
          </a:p>
          <a:p>
            <a:pPr marL="0" indent="0">
              <a:buNone/>
            </a:pPr>
            <a:r>
              <a:rPr sz="2200"/>
              <a:t>3.  Search for 'Metformin' — add it to the set with Include Descendants ON</a:t>
            </a:r>
          </a:p>
          <a:p>
            <a:pPr marL="0" indent="0">
              <a:buNone/>
            </a:pPr>
            <a:r>
              <a:rPr sz="2200"/>
              <a:t>4.  Save the set (name it 'TtT-Test — delete me')</a:t>
            </a:r>
          </a:p>
          <a:p>
            <a:pPr marL="0" indent="0">
              <a:buNone/>
            </a:pPr>
            <a:r>
              <a:rPr sz="2200"/>
              <a:t>5.  Click Export → verify JSON downloads</a:t>
            </a:r>
          </a:p>
          <a:p>
            <a:pPr marL="0" indent="0">
              <a:buNone/>
            </a:pPr>
            <a:r>
              <a:rPr sz="2200"/>
              <a:t>6.  Delete the test set</a:t>
            </a:r>
          </a:p>
          <a:p>
            <a:pPr/>
            <a:r>
              <a:rPr sz="2200"/>
              <a:t>If any step fails: note the error → send to your ATLAS admin before Day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CDM Access: Quick Verification Query</a:t>
            </a:r>
          </a:p>
        </p:txBody>
      </p:sp>
      <p:sp>
        <p:nvSpPr>
          <p:cNvPr id="3" name="Content Placeholder 2"/>
          <p:cNvSpPr>
            <a:spLocks noGrp="1"/>
          </p:cNvSpPr>
          <p:nvPr>
            <p:ph idx="1"/>
          </p:nvPr>
        </p:nvSpPr>
        <p:spPr/>
        <p:txBody>
          <a:bodyPr/>
          <a:lstStyle/>
          <a:p>
            <a:pPr marL="0" indent="0">
              <a:buNone/>
            </a:pPr>
            <a:r>
              <a:rPr i="1" sz="1600"/>
              <a:t>Run this in your SQL client (Databricks notebook, DBeaver, or equivalent):</a:t>
            </a:r>
          </a:p>
          <a:p>
            <a:pPr marL="0" indent="0">
              <a:buNone/>
            </a:pPr>
            <a:r>
              <a:rPr sz="1600">
                <a:latin typeface="Courier New"/>
              </a:rPr>
              <a:t>-- Replace [cdm_schema] with your actual schema name</a:t>
            </a:r>
          </a:p>
          <a:p>
            <a:pPr marL="0" indent="0">
              <a:buNone/>
            </a:pPr>
            <a:r>
              <a:rPr sz="1600">
                <a:latin typeface="Courier New"/>
              </a:rPr>
              <a:t>SELECT person_id,</a:t>
            </a:r>
          </a:p>
          <a:p>
            <a:pPr marL="0" indent="0">
              <a:buNone/>
            </a:pPr>
            <a:r>
              <a:rPr sz="1600">
                <a:latin typeface="Courier New"/>
              </a:rPr>
              <a:t>       year_of_birth,</a:t>
            </a:r>
          </a:p>
          <a:p>
            <a:pPr marL="0" indent="0">
              <a:buNone/>
            </a:pPr>
            <a:r>
              <a:rPr sz="1600">
                <a:latin typeface="Courier New"/>
              </a:rPr>
              <a:t>       gender_concept_id</a:t>
            </a:r>
          </a:p>
          <a:p>
            <a:pPr marL="0" indent="0">
              <a:buNone/>
            </a:pPr>
            <a:r>
              <a:rPr sz="1600">
                <a:latin typeface="Courier New"/>
              </a:rPr>
              <a:t>FROM [cdm_schema].person</a:t>
            </a:r>
          </a:p>
          <a:p>
            <a:pPr marL="0" indent="0">
              <a:buNone/>
            </a:pPr>
            <a:r>
              <a:rPr sz="1600">
                <a:latin typeface="Courier New"/>
              </a:rPr>
              <a:t>LIMIT 5;</a:t>
            </a:r>
          </a:p>
          <a:p>
            <a:pPr marL="0" indent="0">
              <a:buNone/>
            </a:pPr>
            <a:r>
              <a:rPr sz="1600">
                <a:latin typeface="Courier New"/>
              </a:rPr>
              <a:t/>
            </a:r>
          </a:p>
          <a:p>
            <a:pPr marL="0" indent="0">
              <a:buNone/>
            </a:pPr>
            <a:r>
              <a:rPr sz="1600">
                <a:latin typeface="Courier New"/>
              </a:rPr>
              <a:t>-- Also verify vocabulary tables are present:</a:t>
            </a:r>
          </a:p>
          <a:p>
            <a:pPr marL="0" indent="0">
              <a:buNone/>
            </a:pPr>
            <a:r>
              <a:rPr sz="1600">
                <a:latin typeface="Courier New"/>
              </a:rPr>
              <a:t>SELECT vocabulary_id, vocabulary_version</a:t>
            </a:r>
          </a:p>
          <a:p>
            <a:pPr marL="0" indent="0">
              <a:buNone/>
            </a:pPr>
            <a:r>
              <a:rPr sz="1600">
                <a:latin typeface="Courier New"/>
              </a:rPr>
              <a:t>FROM [cdm_schema].vocabulary</a:t>
            </a:r>
          </a:p>
          <a:p>
            <a:pPr marL="0" indent="0">
              <a:buNone/>
            </a:pPr>
            <a:r>
              <a:rPr sz="1600">
                <a:latin typeface="Courier New"/>
              </a:rPr>
              <a:t>LIMIT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Athena Browser: What It Is and Why You Need It</a:t>
            </a:r>
          </a:p>
        </p:txBody>
      </p:sp>
      <p:sp>
        <p:nvSpPr>
          <p:cNvPr id="3" name="Content Placeholder 2"/>
          <p:cNvSpPr>
            <a:spLocks noGrp="1"/>
          </p:cNvSpPr>
          <p:nvPr>
            <p:ph idx="1"/>
          </p:nvPr>
        </p:nvSpPr>
        <p:spPr/>
        <p:txBody>
          <a:bodyPr/>
          <a:lstStyle/>
          <a:p>
            <a:pPr/>
            <a:r>
              <a:rPr sz="2200"/>
              <a:t>Athena (athena.ohdsi.org) is the public OMOP vocabulary browser — no login required</a:t>
            </a:r>
          </a:p>
          <a:p>
            <a:pPr/>
            <a:r>
              <a:rPr sz="2200"/>
              <a:t>It is the primary tool for Day 1 and Day 2 vocabulary work</a:t>
            </a:r>
          </a:p>
          <a:p>
            <a:pPr/>
            <a:r>
              <a:rPr sz="2200"/>
              <a:t>What to verify today: open athena.ohdsi.org and search for 'Metformin'</a:t>
            </a:r>
          </a:p>
          <a:p>
            <a:pPr/>
            <a:r>
              <a:rPr sz="2200"/>
              <a:t>The ingredient row should show Standard in the Concept column (standard_concept = 'S' in the concept table)</a:t>
            </a:r>
          </a:p>
          <a:p>
            <a:pPr/>
            <a:r>
              <a:rPr sz="2200"/>
              <a:t>Also check: concept details page, relationships tab, and descendants</a:t>
            </a:r>
          </a:p>
          <a:p>
            <a:pPr/>
            <a:r>
              <a:rPr sz="2200"/>
              <a:t>Bookmark it — you will use Athena in every session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 and GitHub Setup</a:t>
            </a:r>
          </a:p>
        </p:txBody>
      </p:sp>
      <p:sp>
        <p:nvSpPr>
          <p:cNvPr id="3" name="Content Placeholder 2"/>
          <p:cNvSpPr>
            <a:spLocks noGrp="1"/>
          </p:cNvSpPr>
          <p:nvPr>
            <p:ph idx="1"/>
          </p:nvPr>
        </p:nvSpPr>
        <p:spPr/>
        <p:txBody>
          <a:bodyPr/>
          <a:lstStyle/>
          <a:p>
            <a:pPr/>
            <a:r>
              <a:rPr sz="2200"/>
              <a:t>Why Git? — all course materials, SQL scripts, and cohort exports are version-controlled here</a:t>
            </a:r>
          </a:p>
          <a:p>
            <a:pPr/>
            <a:r>
              <a:rPr sz="2200"/>
              <a:t>Verify: git --version in a terminal returns a version number</a:t>
            </a:r>
          </a:p>
          <a:p>
            <a:pPr marL="0" indent="0">
              <a:buNone/>
            </a:pPr>
            <a:r>
              <a:rPr sz="2200"/>
              <a:t>Clone the program repo:</a:t>
            </a:r>
          </a:p>
          <a:p>
            <a:pPr lvl="1"/>
            <a:r>
              <a:rPr sz="2000"/>
              <a:t>git clone https://github.com/ALSTDI/ALS-RWE.git</a:t>
            </a:r>
          </a:p>
          <a:p>
            <a:pPr/>
            <a:r>
              <a:rPr sz="2200"/>
              <a:t>Confirm you can pull updates: git pull in the cloned folder</a:t>
            </a:r>
          </a:p>
          <a:p>
            <a:pPr/>
            <a:r>
              <a:rPr sz="2200"/>
              <a:t>If using GitHub with SSH: confirm your SSH key is registered at github.com/settings/keys</a:t>
            </a:r>
          </a:p>
          <a:p>
            <a:pPr/>
            <a:r>
              <a:rPr sz="2200"/>
              <a:t>No Git experience? The GitHub Hello World guide takes 15 minutes: docs.github.com/quickstart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HADES Setup (Optional — Day 6 Track)</a:t>
            </a:r>
          </a:p>
        </p:txBody>
      </p:sp>
      <p:sp>
        <p:nvSpPr>
          <p:cNvPr id="3" name="Content Placeholder 2"/>
          <p:cNvSpPr>
            <a:spLocks noGrp="1"/>
          </p:cNvSpPr>
          <p:nvPr>
            <p:ph idx="1"/>
          </p:nvPr>
        </p:nvSpPr>
        <p:spPr/>
        <p:txBody>
          <a:bodyPr/>
          <a:lstStyle/>
          <a:p>
            <a:pPr/>
            <a:r>
              <a:rPr sz="1800"/>
              <a:t>Required only if you plan to attend Day 6 (advanced analytics with R packages)</a:t>
            </a:r>
          </a:p>
          <a:p>
            <a:pPr/>
            <a:r>
              <a:rPr sz="1800"/>
              <a:t>Prerequisites: R 4.4.1 (the HADES target version since June 2024) · RTools on Windows · RStudio or Posit Workbench · Java · a GitHub personal access token</a:t>
            </a:r>
          </a:p>
          <a:p>
            <a:pPr/>
            <a:r>
              <a:rPr sz="1800"/>
              <a:t>Verify Java inside RStudio: system('java -version')</a:t>
            </a:r>
          </a:p>
          <a:p>
            <a:pPr marL="0" indent="0">
              <a:buNone/>
            </a:pPr>
            <a:r>
              <a:rPr sz="1800"/>
              <a:t>Install DatabaseConnector:</a:t>
            </a:r>
          </a:p>
          <a:p>
            <a:pPr lvl="1"/>
            <a:r>
              <a:rPr sz="1600"/>
              <a:t>install.packages('DatabaseConnector')</a:t>
            </a:r>
          </a:p>
          <a:p>
            <a:pPr marL="0" indent="0">
              <a:buNone/>
            </a:pPr>
            <a:r>
              <a:rPr sz="1800"/>
              <a:t>Install HADES (all packages):</a:t>
            </a:r>
          </a:p>
          <a:p>
            <a:pPr lvl="1"/>
            <a:r>
              <a:rPr sz="1600"/>
              <a:t>remotes::install_github('OHDSI/Hades')</a:t>
            </a:r>
          </a:p>
          <a:p>
            <a:pPr/>
            <a:r>
              <a:rPr sz="1800"/>
              <a:t>Test: library(DatabaseConnector) should load without error</a:t>
            </a:r>
          </a:p>
          <a:p>
            <a:pPr/>
            <a:r>
              <a:rPr sz="1800"/>
              <a:t>If Java fails: redo the Java step in the HADES R setup guide (ohdsi.github.io/Hades/rSetup.html), restart RStudio, and test again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Extraction Method Overview</a:t>
            </a:r>
          </a:p>
        </p:txBody>
      </p:sp>
      <p:sp>
        <p:nvSpPr>
          <p:cNvPr id="3" name="Content Placeholder 2"/>
          <p:cNvSpPr>
            <a:spLocks noGrp="1"/>
          </p:cNvSpPr>
          <p:nvPr>
            <p:ph idx="1"/>
          </p:nvPr>
        </p:nvSpPr>
        <p:spPr/>
        <p:txBody>
          <a:bodyPr/>
          <a:lstStyle/>
          <a:p>
            <a:pPr/>
            <a:r>
              <a:rPr sz="2400"/>
              <a:t>Data extraction is site-specific — there is no single correct method</a:t>
            </a:r>
          </a:p>
          <a:p>
            <a:pPr marL="0" indent="0">
              <a:buNone/>
            </a:pPr>
            <a:r>
              <a:rPr sz="2400"/>
              <a:t>Common approaches:</a:t>
            </a:r>
          </a:p>
          <a:p>
            <a:pPr lvl="1"/>
            <a:r>
              <a:rPr sz="2200"/>
              <a:t>Exported Atlas SQL: run cohort SQL in your SQL client</a:t>
            </a:r>
          </a:p>
          <a:p>
            <a:pPr lvl="1"/>
            <a:r>
              <a:rPr sz="2200"/>
              <a:t>Local pipeline: site-developed ETL or extraction workflow</a:t>
            </a:r>
          </a:p>
          <a:p>
            <a:pPr/>
            <a:r>
              <a:rPr sz="2400"/>
              <a:t>Day 4 will cover extraction in detail — today, just confirm you know which method your site uses</a:t>
            </a:r>
          </a:p>
          <a:p>
            <a:pPr/>
            <a:r>
              <a:rPr sz="2400"/>
              <a:t>Fill in the 'Your site's extraction setup' table in the Day 4 module before that session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Environment Checklist — Work Through It Now</a:t>
            </a:r>
          </a:p>
        </p:txBody>
      </p:sp>
      <p:sp>
        <p:nvSpPr>
          <p:cNvPr id="3" name="Content Placeholder 2"/>
          <p:cNvSpPr>
            <a:spLocks noGrp="1"/>
          </p:cNvSpPr>
          <p:nvPr>
            <p:ph idx="1"/>
          </p:nvPr>
        </p:nvSpPr>
        <p:spPr/>
        <p:txBody>
          <a:bodyPr/>
          <a:lstStyle/>
          <a:p>
            <a:pPr/>
            <a:r>
              <a:rPr sz="2200"/>
              <a:t>Time: ~25 minutes</a:t>
            </a:r>
          </a:p>
          <a:p>
            <a:pPr/>
            <a:r>
              <a:rPr sz="2200"/>
              <a:t>Tool: ATLAS · SQL Client (Databricks / DBeaver) · Athena · Git</a:t>
            </a:r>
          </a:p>
          <a:p>
            <a:pPr marL="0" indent="0">
              <a:buNone/>
            </a:pPr>
            <a:r>
              <a:rPr sz="2200"/>
              <a:t>1. Open the Environment Checklist Template in the course materials</a:t>
            </a:r>
          </a:p>
          <a:p>
            <a:pPr marL="0" indent="0">
              <a:buNone/>
            </a:pPr>
            <a:r>
              <a:rPr sz="2200"/>
              <a:t>2. Work through each section: ATLAS, CDM, Athena, SQL Client, Git</a:t>
            </a:r>
          </a:p>
          <a:p>
            <a:pPr marL="0" indent="0">
              <a:buNone/>
            </a:pPr>
            <a:r>
              <a:rPr sz="2200"/>
              <a:t>3. Mark items Pass or Blocked — be honest about what isn't working</a:t>
            </a:r>
          </a:p>
          <a:p>
            <a:pPr marL="0" indent="0">
              <a:buNone/>
            </a:pPr>
            <a:r>
              <a:rPr sz="2200"/>
              <a:t>4. Record the error message (not just 'it failed') for any blocked items</a:t>
            </a:r>
          </a:p>
          <a:p>
            <a:pPr marL="0" indent="0">
              <a:buNone/>
            </a:pPr>
            <a:r>
              <a:rPr sz="2200"/>
              <a:t>5. Share blockers with the trainer — we'll troubleshoot together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Setup Issues</a:t>
            </a:r>
          </a:p>
        </p:txBody>
      </p:sp>
      <p:sp>
        <p:nvSpPr>
          <p:cNvPr id="3" name="Content Placeholder 2"/>
          <p:cNvSpPr>
            <a:spLocks noGrp="1"/>
          </p:cNvSpPr>
          <p:nvPr>
            <p:ph idx="1"/>
          </p:nvPr>
        </p:nvSpPr>
        <p:spPr/>
        <p:txBody>
          <a:bodyPr/>
          <a:lstStyle/>
          <a:p>
            <a:pPr/>
            <a:r>
              <a:t>ATLAS login fails: account hasn't been provisioned — contact your ATLAS admin</a:t>
            </a:r>
          </a:p>
          <a:p>
            <a:pPr/>
            <a:r>
              <a:t>CDM connection error 'schema not found': check capitalization and use quotes around schema name</a:t>
            </a:r>
          </a:p>
          <a:p>
            <a:pPr/>
            <a:r>
              <a:t>CDM connection timeout: check VPN connection first; confirm database port is open</a:t>
            </a:r>
          </a:p>
          <a:p>
            <a:pPr/>
            <a:r>
              <a:t>Git clone fails: SSH key not registered, or need HTTPS instead of SSH</a:t>
            </a:r>
          </a:p>
          <a:p>
            <a:pPr/>
            <a:r>
              <a:t>R / HADES 'package not found': run install.packages('remotes') first</a:t>
            </a:r>
          </a:p>
          <a:p>
            <a:pPr/>
            <a:r>
              <a:t>Java error in DatabaseConnector: reinstall Java as described in the HADES R setup guide, then restart RStudio</a:t>
            </a:r>
          </a:p>
          <a:p>
            <a:pPr/>
            <a:r>
              <a:t>Athena unreachable: network firewall blocking external HTTPS — use personal hotspot to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marL="0" indent="0">
              <a:buNone/>
            </a:pPr>
            <a:r>
              <a:rPr sz="2400"/>
              <a:t>✓  Verified access to ATLAS, CDM, Athena, SQL client, and GitHub</a:t>
            </a:r>
          </a:p>
          <a:p>
            <a:pPr marL="0" indent="0">
              <a:buNone/>
            </a:pPr>
            <a:r>
              <a:rPr sz="2400"/>
              <a:t>✓  Completed and submitted the Environment Checklist</a:t>
            </a:r>
          </a:p>
          <a:p>
            <a:pPr marL="0" indent="0">
              <a:buNone/>
            </a:pPr>
            <a:r>
              <a:rPr sz="2400"/>
              <a:t>✓  Identified site's extraction method and SQL client</a:t>
            </a:r>
          </a:p>
          <a:p>
            <a:pPr marL="0" indent="0">
              <a:buNone/>
            </a:pPr>
            <a:r>
              <a:rPr sz="2400"/>
              <a:t>✓  All blockers documented and sent to the support contact</a:t>
            </a:r>
          </a:p>
          <a:p>
            <a:pPr marL="0" indent="0">
              <a:buNone/>
            </a:pPr>
            <a:r>
              <a:rPr sz="2400"/>
              <a:t>✓  Ready to start Day 1: OMOP Common Data Model</a:t>
            </a:r>
          </a:p>
          <a:p>
            <a:pPr/>
            <a:r>
              <a:rPr i="1" sz="2400"/>
              <a:t>Next session: Day 1 · OMOP Common Data Model — bring your SQL client and Athena open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Questions?</a:t>
            </a:r>
          </a:p>
        </p:txBody>
      </p:sp>
      <p:sp>
        <p:nvSpPr>
          <p:cNvPr id="3" name="Text Placeholder 2"/>
          <p:cNvSpPr>
            <a:spLocks noGrp="1"/>
          </p:cNvSpPr>
          <p:nvPr>
            <p:ph type="body" idx="1"/>
          </p:nvPr>
        </p:nvSpPr>
        <p:spPr/>
        <p:txBody>
          <a:bodyPr/>
          <a:lstStyle/>
          <a:p>
            <a:pPr marL="0" indent="0">
              <a:buNone/>
            </a:pPr>
            <a:r>
              <a:t>Danielle Boyce</a:t>
            </a:r>
          </a:p>
          <a:p>
            <a:pPr marL="0" indent="0">
              <a:buNone/>
            </a:pPr>
            <a:r>
              <a:t>dboyce@als.net</a:t>
            </a:r>
          </a:p>
          <a:p>
            <a:pPr marL="0" indent="0">
              <a:buNone/>
            </a:pPr>
            <a: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