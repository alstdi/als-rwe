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Set the tone: this is where every network study actually begins, not with a clever method but with a plain question and no idea whether the data can answer it. In the next 30 minutes we go from zero to a defensible go/no-go decision, using the public ATLAS demo so nobody needs institutional access yet. Tell them the whole module rides on one running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Normalize the discomfort. The mixed room, clinical and technical, all feel the same disorientation here. Reframe it: not knowing who to ask is the starting line, not a personal deficiency. Everything today is about turning that disorientation into a short list of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a promise, not a syllabus. Point out that each objective maps to one segment of the next 30 minutes. The last one is the real deliverable: a decision they can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question slowly. Everyone, clinical or technical, can reason about diabetes and pregnancy, which is why it works for this room. Flag now that this question has a hidden hard part we will hit in two slides: you have to identify and date a pregnancy. Invite them to hold their own question in mind and map it to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the whole module. The job of feasibility assessment is to move the moment of failure from month six to minute five. Everything else today is technique in service of that move. If they remember one slide, this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 to bottom. The point is that a question becomes checkable only once it is this specific. Then land the closer: notice that the target, prior condition, exposure, and outcome all hang off being able to identify and date a pregnancy. That is the load-bearing element and the next slide is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are the spine of the rest of the module. Each later segment answers one or two of them. Emphasize check 1 versus check 2: a concept can exist in the vocabulary and appear zero times in your data. That single distinction prevents most feasibility confusion, and the ATLAS demo will make it visceral.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scare them off the question; use it to make them planners. The lesson is that the pregnancy-timing layer is the part that takes work, so name it on day one. This is also a credibility moment with the OBGYN fellows, who know pregnancy dating is hard clinically and will appreciate that the data problem mirrors the clinical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shortcuts beat the org chart: ask whether your institution is an OHDSI collaborator, and ask a colleague who has published a cohort study who they worked with. A name is faster than a directory. The right-hand card matters because people conflate platforms. Be specific or you get handed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every bullet. Highlight the two that save the most pain: whether childbearing-age and obstetric data are captured (the load-bearing element), and whether aggregate counts are allowed before full IRB, so they do not generate anything they are not cleared to. Mention the take-home has a copy-paste first-contact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heart of the demo that follows. Existence lives in the vocabulary and is the same everywhere; presence lives in the specific instance and is what determines feasibility. Keep those two apart and confusion drops away. The bottom line explains why the unmapped rate is a real steward question, not a technicality.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but high-value, especially for clinical fellows new to the model. The single most common false negative in feasibility is looking in the wrong table. Establish the reflex: identify the domain, then go to that table, then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honestly before you open the tool. The demo data cannot answer our pregnancy question, and that is exactly why it is the perfect teaching database: it lets us watch infeasibility happen cleanly and safely. Diabetes will look great; the pregnancy filter will empty the cohort. Prime them to watch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live if the connection is good, otherwise narrate from screenshots; either way the sequence is the same. In Search, show diabetes with big counts, then preeclampsia with tiny counts, first hint of trouble. Build concept sets, then a cohort whose entry is a pregnancy event with prior diabetes required. Then generate. The next slide is the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Before you explain, ask the room why the cohort is empty. Let a clinical fellow and a technical fellow each guess. The answer they should reach on their own: the concepts exist but the population does not. This is the beat the whole module is built around. If they leave with one idea, it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transferable habit, the thing that outlives the demo. Two empties look identical on screen and call for opposite moves. A concept problem might be a mapping fix. A population problem means the source can never answer the question, so you take it elsewhere, which leads straight into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them the free public tool is where you design and validate the logic at no cost, then point that logic at data that can actually answer the question. This is documented as a design goal of the public instance in the Book of OHDSI. It also means the work they do in the demo today is not throwaway.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maternal-child work the relevant subgroups are often too small at one site, so the network is frequently the only path to enough power. Be honest about what it is not: not instant, not a single sign-on to raw data, not a replacement for local governance. What it is: a disciplined way to answer across many populations without exposing anyone's people. You do not need to master HADES or Strategus for feasibility, only to know they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decision as the deliverable. The one-page worksheet in the take-home turns this slide into something they fill in for their own question. Reinforce that a no discovered here saved them the study; that reframe is the whole return on the last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habit, not the tooling. The fellows who finish with a running network study are not the ones with the cleverest questions; they are the ones who checked feasibility first and spent their real time on what survived. Point them to the take-home pages and encourage them to run their own question through the worksheet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533"/>
        </a:solidFill>
      </p:bgPr>
    </p:bg>
    <p:spTree>
      <p:nvGrpSpPr>
        <p:cNvPr id="1" name=""/>
        <p:cNvGrpSpPr/>
        <p:nvPr/>
      </p:nvGrpSpPr>
      <p:grpSpPr>
        <a:xfrm>
          <a:off x="0" y="0"/>
          <a:ext cx="0" cy="0"/>
          <a:chOff x="0" y="0"/>
          <a:chExt cx="0" cy="0"/>
        </a:xfrm>
      </p:grpSpPr>
      <p:sp>
        <p:nvSpPr>
          <p:cNvPr id="2" name="Shape 0"/>
          <p:cNvSpPr/>
          <p:nvPr/>
        </p:nvSpPr>
        <p:spPr>
          <a:xfrm>
            <a:off x="7680960" y="-1188720"/>
            <a:ext cx="2926080" cy="2926080"/>
          </a:xfrm>
          <a:prstGeom prst="ellipse">
            <a:avLst/>
          </a:prstGeom>
          <a:solidFill>
            <a:srgbClr val="3D1F44"/>
          </a:solidFill>
          <a:ln/>
        </p:spPr>
      </p:sp>
      <p:sp>
        <p:nvSpPr>
          <p:cNvPr id="3" name="Shape 1"/>
          <p:cNvSpPr/>
          <p:nvPr/>
        </p:nvSpPr>
        <p:spPr>
          <a:xfrm>
            <a:off x="8229600" y="3474720"/>
            <a:ext cx="2377440" cy="2377440"/>
          </a:xfrm>
          <a:prstGeom prst="ellipse">
            <a:avLst/>
          </a:prstGeom>
          <a:solidFill>
            <a:srgbClr val="3D1F44"/>
          </a:solidFill>
          <a:ln/>
        </p:spPr>
      </p:sp>
      <p:sp>
        <p:nvSpPr>
          <p:cNvPr id="4" name="Shape 2"/>
          <p:cNvSpPr/>
          <p:nvPr/>
        </p:nvSpPr>
        <p:spPr>
          <a:xfrm>
            <a:off x="502920" y="548640"/>
            <a:ext cx="640080" cy="640080"/>
          </a:xfrm>
          <a:prstGeom prst="ellipse">
            <a:avLst/>
          </a:prstGeom>
          <a:solidFill>
            <a:srgbClr val="904199"/>
          </a:solidFill>
          <a:ln/>
        </p:spPr>
      </p:sp>
      <p:pic>
        <p:nvPicPr>
          <p:cNvPr id="5" name="Image 0" descr="preencoded.png">    </p:cNvPr>
          <p:cNvPicPr>
            <a:picLocks noChangeAspect="1"/>
          </p:cNvPicPr>
          <p:nvPr/>
        </p:nvPicPr>
        <p:blipFill>
          <a:blip r:embed="rId1"/>
          <a:stretch>
            <a:fillRect/>
          </a:stretch>
        </p:blipFill>
        <p:spPr>
          <a:xfrm>
            <a:off x="650138" y="695858"/>
            <a:ext cx="345643" cy="345643"/>
          </a:xfrm>
          <a:prstGeom prst="rect">
            <a:avLst/>
          </a:prstGeom>
        </p:spPr>
      </p:pic>
      <p:sp>
        <p:nvSpPr>
          <p:cNvPr id="6" name="Text 3"/>
          <p:cNvSpPr/>
          <p:nvPr/>
        </p:nvSpPr>
        <p:spPr>
          <a:xfrm>
            <a:off x="502920" y="1417320"/>
            <a:ext cx="8229600" cy="274320"/>
          </a:xfrm>
          <a:prstGeom prst="rect">
            <a:avLst/>
          </a:prstGeom>
          <a:noFill/>
          <a:ln/>
        </p:spPr>
        <p:txBody>
          <a:bodyPr wrap="square" lIns="0" tIns="0" rIns="0" bIns="0" rtlCol="0" anchor="ctr"/>
          <a:lstStyle/>
          <a:p>
            <a:pPr indent="0" marL="0">
              <a:buNone/>
            </a:pPr>
            <a:r>
              <a:rPr lang="en-US" sz="1200" b="1" spc="200" kern="0" dirty="0">
                <a:solidFill>
                  <a:srgbClr val="C9A9D0"/>
                </a:solidFill>
                <a:latin typeface="Calibri" pitchFamily="34" charset="0"/>
                <a:ea typeface="Calibri" pitchFamily="34" charset="-122"/>
                <a:cs typeface="Calibri" pitchFamily="34" charset="-120"/>
              </a:rPr>
              <a:t>MATERNAL &amp; CHILD HEALTH RESEARCH FELLOWSHIP   ·   OMOP / OHDSI</a:t>
            </a:r>
            <a:endParaRPr lang="en-US" sz="1200" dirty="0"/>
          </a:p>
        </p:txBody>
      </p:sp>
      <p:sp>
        <p:nvSpPr>
          <p:cNvPr id="7" name="Text 4"/>
          <p:cNvSpPr/>
          <p:nvPr/>
        </p:nvSpPr>
        <p:spPr>
          <a:xfrm>
            <a:off x="475488" y="1783080"/>
            <a:ext cx="822960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Is My Question Feasible?</a:t>
            </a:r>
            <a:endParaRPr lang="en-US" sz="5200" dirty="0"/>
          </a:p>
        </p:txBody>
      </p:sp>
      <p:sp>
        <p:nvSpPr>
          <p:cNvPr id="8" name="Text 5"/>
          <p:cNvSpPr/>
          <p:nvPr/>
        </p:nvSpPr>
        <p:spPr>
          <a:xfrm>
            <a:off x="502920" y="2880360"/>
            <a:ext cx="7863840" cy="548640"/>
          </a:xfrm>
          <a:prstGeom prst="rect">
            <a:avLst/>
          </a:prstGeom>
          <a:noFill/>
          <a:ln/>
        </p:spPr>
        <p:txBody>
          <a:bodyPr wrap="square" lIns="0" tIns="0" rIns="0" bIns="0" rtlCol="0" anchor="ctr"/>
          <a:lstStyle/>
          <a:p>
            <a:pPr indent="0" marL="0">
              <a:buNone/>
            </a:pPr>
            <a:r>
              <a:rPr lang="en-US" sz="1900" dirty="0">
                <a:solidFill>
                  <a:srgbClr val="B872C0"/>
                </a:solidFill>
                <a:latin typeface="Calibri" pitchFamily="34" charset="0"/>
                <a:ea typeface="Calibri" pitchFamily="34" charset="-122"/>
                <a:cs typeface="Calibri" pitchFamily="34" charset="-120"/>
              </a:rPr>
              <a:t>A first look at your OMOP instance, from zero to a go / no-go decision</a:t>
            </a:r>
            <a:endParaRPr lang="en-US" sz="1900" dirty="0"/>
          </a:p>
        </p:txBody>
      </p:sp>
      <p:sp>
        <p:nvSpPr>
          <p:cNvPr id="9" name="Text 6"/>
          <p:cNvSpPr/>
          <p:nvPr/>
        </p:nvSpPr>
        <p:spPr>
          <a:xfrm>
            <a:off x="502920" y="4343400"/>
            <a:ext cx="8229600" cy="274320"/>
          </a:xfrm>
          <a:prstGeom prst="rect">
            <a:avLst/>
          </a:prstGeom>
          <a:noFill/>
          <a:ln/>
        </p:spPr>
        <p:txBody>
          <a:bodyPr wrap="square" lIns="0" tIns="0" rIns="0" bIns="0" rtlCol="0" anchor="ctr"/>
          <a:lstStyle/>
          <a:p>
            <a:pPr indent="0" marL="0">
              <a:buNone/>
            </a:pPr>
            <a:r>
              <a:rPr lang="en-US" sz="1250" dirty="0">
                <a:solidFill>
                  <a:srgbClr val="C9A9D0"/>
                </a:solidFill>
                <a:latin typeface="Calibri" pitchFamily="34" charset="0"/>
                <a:ea typeface="Calibri" pitchFamily="34" charset="-122"/>
                <a:cs typeface="Calibri" pitchFamily="34" charset="-120"/>
              </a:rPr>
              <a:t>Module 1   ·   ~30 minutes   ·   guided walkthrough with the public ATLAS demo</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WHERE EVERY STUDY BEGINS</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You are in their shoes</a:t>
            </a:r>
            <a:endParaRPr lang="en-US" sz="3200" dirty="0"/>
          </a:p>
        </p:txBody>
      </p:sp>
      <p:sp>
        <p:nvSpPr>
          <p:cNvPr id="4" name="Shape 2"/>
          <p:cNvSpPr/>
          <p:nvPr/>
        </p:nvSpPr>
        <p:spPr>
          <a:xfrm>
            <a:off x="502920" y="1737360"/>
            <a:ext cx="2606040" cy="1920240"/>
          </a:xfrm>
          <a:prstGeom prst="roundRect">
            <a:avLst>
              <a:gd name="adj" fmla="val 4286"/>
            </a:avLst>
          </a:prstGeom>
          <a:solidFill>
            <a:srgbClr val="F5EDF8"/>
          </a:solidFill>
          <a:ln/>
          <a:effectLst>
            <a:outerShdw sx="100000" sy="100000" kx="0" ky="0" algn="bl" rotWithShape="0" blurRad="88900" dist="25400" dir="5400000">
              <a:srgbClr val="000000">
                <a:alpha val="13000"/>
              </a:srgbClr>
            </a:outerShdw>
          </a:effectLst>
        </p:spPr>
      </p:sp>
      <p:sp>
        <p:nvSpPr>
          <p:cNvPr id="5" name="Shape 3"/>
          <p:cNvSpPr/>
          <p:nvPr/>
        </p:nvSpPr>
        <p:spPr>
          <a:xfrm>
            <a:off x="758952" y="1993392"/>
            <a:ext cx="566928" cy="566928"/>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889345" y="2123785"/>
            <a:ext cx="306141" cy="306141"/>
          </a:xfrm>
          <a:prstGeom prst="rect">
            <a:avLst/>
          </a:prstGeom>
        </p:spPr>
      </p:pic>
      <p:sp>
        <p:nvSpPr>
          <p:cNvPr id="7" name="Text 4"/>
          <p:cNvSpPr/>
          <p:nvPr/>
        </p:nvSpPr>
        <p:spPr>
          <a:xfrm>
            <a:off x="758952" y="2697480"/>
            <a:ext cx="2148840" cy="502920"/>
          </a:xfrm>
          <a:prstGeom prst="rect">
            <a:avLst/>
          </a:prstGeom>
          <a:noFill/>
          <a:ln/>
        </p:spPr>
        <p:txBody>
          <a:bodyPr wrap="square" lIns="0" tIns="0" rIns="0" bIns="0" rtlCol="0" anchor="ctr"/>
          <a:lstStyle/>
          <a:p>
            <a:pPr indent="0" marL="0">
              <a:buNone/>
            </a:pPr>
            <a:r>
              <a:rPr lang="en-US" sz="1550" b="1" dirty="0">
                <a:solidFill>
                  <a:srgbClr val="2B2230"/>
                </a:solidFill>
                <a:latin typeface="Cambria" pitchFamily="34" charset="0"/>
                <a:ea typeface="Cambria" pitchFamily="34" charset="-122"/>
                <a:cs typeface="Cambria" pitchFamily="34" charset="-120"/>
              </a:rPr>
              <a:t>You have a question.</a:t>
            </a:r>
            <a:endParaRPr lang="en-US" sz="1550" dirty="0"/>
          </a:p>
        </p:txBody>
      </p:sp>
      <p:sp>
        <p:nvSpPr>
          <p:cNvPr id="8" name="Text 5"/>
          <p:cNvSpPr/>
          <p:nvPr/>
        </p:nvSpPr>
        <p:spPr>
          <a:xfrm>
            <a:off x="758952" y="3127248"/>
            <a:ext cx="2148840" cy="457200"/>
          </a:xfrm>
          <a:prstGeom prst="rect">
            <a:avLst/>
          </a:prstGeom>
          <a:noFill/>
          <a:ln/>
        </p:spPr>
        <p:txBody>
          <a:bodyPr wrap="square" lIns="0" tIns="0" rIns="0" bIns="0" rtlCol="0" anchor="ctr"/>
          <a:lstStyle/>
          <a:p>
            <a:pPr indent="0" marL="0">
              <a:buNone/>
            </a:pPr>
            <a:r>
              <a:rPr lang="en-US" sz="1200" dirty="0">
                <a:solidFill>
                  <a:srgbClr val="6E6676"/>
                </a:solidFill>
                <a:latin typeface="Calibri" pitchFamily="34" charset="0"/>
                <a:ea typeface="Calibri" pitchFamily="34" charset="-122"/>
                <a:cs typeface="Calibri" pitchFamily="34" charset="-120"/>
              </a:rPr>
              <a:t>A real maternal-child question you care about.</a:t>
            </a:r>
            <a:endParaRPr lang="en-US" sz="1200" dirty="0"/>
          </a:p>
        </p:txBody>
      </p:sp>
      <p:sp>
        <p:nvSpPr>
          <p:cNvPr id="9" name="Shape 6"/>
          <p:cNvSpPr/>
          <p:nvPr/>
        </p:nvSpPr>
        <p:spPr>
          <a:xfrm>
            <a:off x="3300984" y="1737360"/>
            <a:ext cx="2606040" cy="1920240"/>
          </a:xfrm>
          <a:prstGeom prst="roundRect">
            <a:avLst>
              <a:gd name="adj" fmla="val 4286"/>
            </a:avLst>
          </a:prstGeom>
          <a:solidFill>
            <a:srgbClr val="F5EDF8"/>
          </a:solidFill>
          <a:ln/>
          <a:effectLst>
            <a:outerShdw sx="100000" sy="100000" kx="0" ky="0" algn="bl" rotWithShape="0" blurRad="88900" dist="25400" dir="5400000">
              <a:srgbClr val="000000">
                <a:alpha val="13000"/>
              </a:srgbClr>
            </a:outerShdw>
          </a:effectLst>
        </p:spPr>
      </p:sp>
      <p:sp>
        <p:nvSpPr>
          <p:cNvPr id="10" name="Shape 7"/>
          <p:cNvSpPr/>
          <p:nvPr/>
        </p:nvSpPr>
        <p:spPr>
          <a:xfrm>
            <a:off x="3557016" y="1993392"/>
            <a:ext cx="566928" cy="566928"/>
          </a:xfrm>
          <a:prstGeom prst="ellipse">
            <a:avLst/>
          </a:prstGeom>
          <a:solidFill>
            <a:srgbClr val="904199"/>
          </a:solidFill>
          <a:ln/>
        </p:spPr>
      </p:sp>
      <p:pic>
        <p:nvPicPr>
          <p:cNvPr id="11" name="Image 1" descr="preencoded.png">    </p:cNvPr>
          <p:cNvPicPr>
            <a:picLocks noChangeAspect="1"/>
          </p:cNvPicPr>
          <p:nvPr/>
        </p:nvPicPr>
        <p:blipFill>
          <a:blip r:embed="rId2"/>
          <a:stretch>
            <a:fillRect/>
          </a:stretch>
        </p:blipFill>
        <p:spPr>
          <a:xfrm>
            <a:off x="3687409" y="2123785"/>
            <a:ext cx="306141" cy="306141"/>
          </a:xfrm>
          <a:prstGeom prst="rect">
            <a:avLst/>
          </a:prstGeom>
        </p:spPr>
      </p:pic>
      <p:sp>
        <p:nvSpPr>
          <p:cNvPr id="12" name="Text 8"/>
          <p:cNvSpPr/>
          <p:nvPr/>
        </p:nvSpPr>
        <p:spPr>
          <a:xfrm>
            <a:off x="3557016" y="2697480"/>
            <a:ext cx="2148840" cy="502920"/>
          </a:xfrm>
          <a:prstGeom prst="rect">
            <a:avLst/>
          </a:prstGeom>
          <a:noFill/>
          <a:ln/>
        </p:spPr>
        <p:txBody>
          <a:bodyPr wrap="square" lIns="0" tIns="0" rIns="0" bIns="0" rtlCol="0" anchor="ctr"/>
          <a:lstStyle/>
          <a:p>
            <a:pPr indent="0" marL="0">
              <a:buNone/>
            </a:pPr>
            <a:r>
              <a:rPr lang="en-US" sz="1550" b="1" dirty="0">
                <a:solidFill>
                  <a:srgbClr val="2B2230"/>
                </a:solidFill>
                <a:latin typeface="Cambria" pitchFamily="34" charset="0"/>
                <a:ea typeface="Cambria" pitchFamily="34" charset="-122"/>
                <a:cs typeface="Cambria" pitchFamily="34" charset="-120"/>
              </a:rPr>
              <a:t>You don't know the instance.</a:t>
            </a:r>
            <a:endParaRPr lang="en-US" sz="1550" dirty="0"/>
          </a:p>
        </p:txBody>
      </p:sp>
      <p:sp>
        <p:nvSpPr>
          <p:cNvPr id="13" name="Text 9"/>
          <p:cNvSpPr/>
          <p:nvPr/>
        </p:nvSpPr>
        <p:spPr>
          <a:xfrm>
            <a:off x="3557016" y="3127248"/>
            <a:ext cx="2148840" cy="457200"/>
          </a:xfrm>
          <a:prstGeom prst="rect">
            <a:avLst/>
          </a:prstGeom>
          <a:noFill/>
          <a:ln/>
        </p:spPr>
        <p:txBody>
          <a:bodyPr wrap="square" lIns="0" tIns="0" rIns="0" bIns="0" rtlCol="0" anchor="ctr"/>
          <a:lstStyle/>
          <a:p>
            <a:pPr indent="0" marL="0">
              <a:buNone/>
            </a:pPr>
            <a:r>
              <a:rPr lang="en-US" sz="1200" dirty="0">
                <a:solidFill>
                  <a:srgbClr val="6E6676"/>
                </a:solidFill>
                <a:latin typeface="Calibri" pitchFamily="34" charset="0"/>
                <a:ea typeface="Calibri" pitchFamily="34" charset="-122"/>
                <a:cs typeface="Calibri" pitchFamily="34" charset="-120"/>
              </a:rPr>
              <a:t>Who runs the OMOP data, what's in it, how it's mapped.</a:t>
            </a:r>
            <a:endParaRPr lang="en-US" sz="1200" dirty="0"/>
          </a:p>
        </p:txBody>
      </p:sp>
      <p:sp>
        <p:nvSpPr>
          <p:cNvPr id="14" name="Shape 10"/>
          <p:cNvSpPr/>
          <p:nvPr/>
        </p:nvSpPr>
        <p:spPr>
          <a:xfrm>
            <a:off x="6099048" y="1737360"/>
            <a:ext cx="2606040" cy="1920240"/>
          </a:xfrm>
          <a:prstGeom prst="roundRect">
            <a:avLst>
              <a:gd name="adj" fmla="val 4286"/>
            </a:avLst>
          </a:prstGeom>
          <a:solidFill>
            <a:srgbClr val="F5EDF8"/>
          </a:solidFill>
          <a:ln/>
          <a:effectLst>
            <a:outerShdw sx="100000" sy="100000" kx="0" ky="0" algn="bl" rotWithShape="0" blurRad="88900" dist="25400" dir="5400000">
              <a:srgbClr val="000000">
                <a:alpha val="13000"/>
              </a:srgbClr>
            </a:outerShdw>
          </a:effectLst>
        </p:spPr>
      </p:sp>
      <p:sp>
        <p:nvSpPr>
          <p:cNvPr id="15" name="Shape 11"/>
          <p:cNvSpPr/>
          <p:nvPr/>
        </p:nvSpPr>
        <p:spPr>
          <a:xfrm>
            <a:off x="6355080" y="1993392"/>
            <a:ext cx="566928" cy="566928"/>
          </a:xfrm>
          <a:prstGeom prst="ellipse">
            <a:avLst/>
          </a:prstGeom>
          <a:solidFill>
            <a:srgbClr val="904199"/>
          </a:solidFill>
          <a:ln/>
        </p:spPr>
      </p:sp>
      <p:pic>
        <p:nvPicPr>
          <p:cNvPr id="16" name="Image 2" descr="preencoded.png">    </p:cNvPr>
          <p:cNvPicPr>
            <a:picLocks noChangeAspect="1"/>
          </p:cNvPicPr>
          <p:nvPr/>
        </p:nvPicPr>
        <p:blipFill>
          <a:blip r:embed="rId3"/>
          <a:stretch>
            <a:fillRect/>
          </a:stretch>
        </p:blipFill>
        <p:spPr>
          <a:xfrm>
            <a:off x="6485473" y="2123785"/>
            <a:ext cx="306141" cy="306141"/>
          </a:xfrm>
          <a:prstGeom prst="rect">
            <a:avLst/>
          </a:prstGeom>
        </p:spPr>
      </p:pic>
      <p:sp>
        <p:nvSpPr>
          <p:cNvPr id="17" name="Text 12"/>
          <p:cNvSpPr/>
          <p:nvPr/>
        </p:nvSpPr>
        <p:spPr>
          <a:xfrm>
            <a:off x="6355080" y="2697480"/>
            <a:ext cx="2148840" cy="502920"/>
          </a:xfrm>
          <a:prstGeom prst="rect">
            <a:avLst/>
          </a:prstGeom>
          <a:noFill/>
          <a:ln/>
        </p:spPr>
        <p:txBody>
          <a:bodyPr wrap="square" lIns="0" tIns="0" rIns="0" bIns="0" rtlCol="0" anchor="ctr"/>
          <a:lstStyle/>
          <a:p>
            <a:pPr indent="0" marL="0">
              <a:buNone/>
            </a:pPr>
            <a:r>
              <a:rPr lang="en-US" sz="1550" b="1" dirty="0">
                <a:solidFill>
                  <a:srgbClr val="2B2230"/>
                </a:solidFill>
                <a:latin typeface="Cambria" pitchFamily="34" charset="0"/>
                <a:ea typeface="Cambria" pitchFamily="34" charset="-122"/>
                <a:cs typeface="Cambria" pitchFamily="34" charset="-120"/>
              </a:rPr>
              <a:t>You don't know if it can answer it.</a:t>
            </a:r>
            <a:endParaRPr lang="en-US" sz="1550" dirty="0"/>
          </a:p>
        </p:txBody>
      </p:sp>
      <p:sp>
        <p:nvSpPr>
          <p:cNvPr id="18" name="Text 13"/>
          <p:cNvSpPr/>
          <p:nvPr/>
        </p:nvSpPr>
        <p:spPr>
          <a:xfrm>
            <a:off x="6355080" y="3127248"/>
            <a:ext cx="2148840" cy="457200"/>
          </a:xfrm>
          <a:prstGeom prst="rect">
            <a:avLst/>
          </a:prstGeom>
          <a:noFill/>
          <a:ln/>
        </p:spPr>
        <p:txBody>
          <a:bodyPr wrap="square" lIns="0" tIns="0" rIns="0" bIns="0" rtlCol="0" anchor="ctr"/>
          <a:lstStyle/>
          <a:p>
            <a:pPr indent="0" marL="0">
              <a:buNone/>
            </a:pPr>
            <a:r>
              <a:rPr lang="en-US" sz="1200" dirty="0">
                <a:solidFill>
                  <a:srgbClr val="6E6676"/>
                </a:solidFill>
                <a:latin typeface="Calibri" pitchFamily="34" charset="0"/>
                <a:ea typeface="Calibri" pitchFamily="34" charset="-122"/>
                <a:cs typeface="Calibri" pitchFamily="34" charset="-120"/>
              </a:rPr>
              <a:t>Whether the right people are even in the source.</a:t>
            </a:r>
            <a:endParaRPr lang="en-US" sz="1200" dirty="0"/>
          </a:p>
        </p:txBody>
      </p:sp>
      <p:sp>
        <p:nvSpPr>
          <p:cNvPr id="19" name="Text 14"/>
          <p:cNvSpPr/>
          <p:nvPr/>
        </p:nvSpPr>
        <p:spPr>
          <a:xfrm>
            <a:off x="502920" y="3977640"/>
            <a:ext cx="8229600" cy="457200"/>
          </a:xfrm>
          <a:prstGeom prst="rect">
            <a:avLst/>
          </a:prstGeom>
          <a:noFill/>
          <a:ln/>
        </p:spPr>
        <p:txBody>
          <a:bodyPr wrap="square" lIns="0" tIns="0" rIns="0" bIns="0" rtlCol="0" anchor="ctr"/>
          <a:lstStyle/>
          <a:p>
            <a:pPr indent="0" marL="0">
              <a:buNone/>
            </a:pPr>
            <a:r>
              <a:rPr lang="en-US" sz="1600" b="1" dirty="0">
                <a:solidFill>
                  <a:srgbClr val="2B2230"/>
                </a:solidFill>
                <a:latin typeface="Calibri" pitchFamily="34" charset="0"/>
                <a:ea typeface="Calibri" pitchFamily="34" charset="-122"/>
                <a:cs typeface="Calibri" pitchFamily="34" charset="-120"/>
              </a:rPr>
              <a:t>That is not a gap in your knowledge. </a:t>
            </a:r>
            <a:pPr indent="0" marL="0">
              <a:buNone/>
            </a:pPr>
            <a:r>
              <a:rPr lang="en-US" sz="1600" b="1" dirty="0">
                <a:solidFill>
                  <a:srgbClr val="904199"/>
                </a:solidFill>
                <a:latin typeface="Calibri" pitchFamily="34" charset="0"/>
                <a:ea typeface="Calibri" pitchFamily="34" charset="-122"/>
                <a:cs typeface="Calibri" pitchFamily="34" charset="-120"/>
              </a:rPr>
              <a:t>It is the first real step of the study.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BY THE END OF THIS MODULE</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What you'll be able to do</a:t>
            </a:r>
            <a:endParaRPr lang="en-US" sz="3200" dirty="0"/>
          </a:p>
        </p:txBody>
      </p:sp>
      <p:sp>
        <p:nvSpPr>
          <p:cNvPr id="4" name="Shape 2"/>
          <p:cNvSpPr/>
          <p:nvPr/>
        </p:nvSpPr>
        <p:spPr>
          <a:xfrm>
            <a:off x="548640" y="1691640"/>
            <a:ext cx="457200" cy="457200"/>
          </a:xfrm>
          <a:prstGeom prst="ellipse">
            <a:avLst/>
          </a:prstGeom>
          <a:solidFill>
            <a:srgbClr val="904199"/>
          </a:solidFill>
          <a:ln/>
        </p:spPr>
      </p:sp>
      <p:pic>
        <p:nvPicPr>
          <p:cNvPr id="5" name="Image 0" descr="preencoded.png">    </p:cNvPr>
          <p:cNvPicPr>
            <a:picLocks noChangeAspect="1"/>
          </p:cNvPicPr>
          <p:nvPr/>
        </p:nvPicPr>
        <p:blipFill>
          <a:blip r:embed="rId1"/>
          <a:stretch>
            <a:fillRect/>
          </a:stretch>
        </p:blipFill>
        <p:spPr>
          <a:xfrm>
            <a:off x="653796" y="1796796"/>
            <a:ext cx="246888" cy="246888"/>
          </a:xfrm>
          <a:prstGeom prst="rect">
            <a:avLst/>
          </a:prstGeom>
        </p:spPr>
      </p:pic>
      <p:sp>
        <p:nvSpPr>
          <p:cNvPr id="6" name="Text 3"/>
          <p:cNvSpPr/>
          <p:nvPr/>
        </p:nvSpPr>
        <p:spPr>
          <a:xfrm>
            <a:off x="1170432" y="1673352"/>
            <a:ext cx="7498080" cy="502920"/>
          </a:xfrm>
          <a:prstGeom prst="rect">
            <a:avLst/>
          </a:prstGeom>
          <a:noFill/>
          <a:ln/>
        </p:spPr>
        <p:txBody>
          <a:bodyPr wrap="square" lIns="0" tIns="0" rIns="0" bIns="0" rtlCol="0" anchor="ctr"/>
          <a:lstStyle/>
          <a:p>
            <a:pPr indent="0" marL="0">
              <a:buNone/>
            </a:pPr>
            <a:r>
              <a:rPr lang="en-US" sz="1550" dirty="0">
                <a:solidFill>
                  <a:srgbClr val="2B2230"/>
                </a:solidFill>
                <a:latin typeface="Calibri" pitchFamily="34" charset="0"/>
                <a:ea typeface="Calibri" pitchFamily="34" charset="-122"/>
                <a:cs typeface="Calibri" pitchFamily="34" charset="-120"/>
              </a:rPr>
              <a:t>Turn a loose idea into a feasibility-testable specification.</a:t>
            </a:r>
            <a:endParaRPr lang="en-US" sz="1550" dirty="0"/>
          </a:p>
        </p:txBody>
      </p:sp>
      <p:sp>
        <p:nvSpPr>
          <p:cNvPr id="7" name="Shape 4"/>
          <p:cNvSpPr/>
          <p:nvPr/>
        </p:nvSpPr>
        <p:spPr>
          <a:xfrm>
            <a:off x="548640" y="2350008"/>
            <a:ext cx="457200" cy="457200"/>
          </a:xfrm>
          <a:prstGeom prst="ellipse">
            <a:avLst/>
          </a:prstGeom>
          <a:solidFill>
            <a:srgbClr val="B872C0"/>
          </a:solidFill>
          <a:ln/>
        </p:spPr>
      </p:sp>
      <p:pic>
        <p:nvPicPr>
          <p:cNvPr id="8" name="Image 1" descr="preencoded.png">    </p:cNvPr>
          <p:cNvPicPr>
            <a:picLocks noChangeAspect="1"/>
          </p:cNvPicPr>
          <p:nvPr/>
        </p:nvPicPr>
        <p:blipFill>
          <a:blip r:embed="rId2"/>
          <a:stretch>
            <a:fillRect/>
          </a:stretch>
        </p:blipFill>
        <p:spPr>
          <a:xfrm>
            <a:off x="653796" y="2455164"/>
            <a:ext cx="246888" cy="246888"/>
          </a:xfrm>
          <a:prstGeom prst="rect">
            <a:avLst/>
          </a:prstGeom>
        </p:spPr>
      </p:pic>
      <p:sp>
        <p:nvSpPr>
          <p:cNvPr id="9" name="Text 5"/>
          <p:cNvSpPr/>
          <p:nvPr/>
        </p:nvSpPr>
        <p:spPr>
          <a:xfrm>
            <a:off x="1170432" y="2331720"/>
            <a:ext cx="7498080" cy="502920"/>
          </a:xfrm>
          <a:prstGeom prst="rect">
            <a:avLst/>
          </a:prstGeom>
          <a:noFill/>
          <a:ln/>
        </p:spPr>
        <p:txBody>
          <a:bodyPr wrap="square" lIns="0" tIns="0" rIns="0" bIns="0" rtlCol="0" anchor="ctr"/>
          <a:lstStyle/>
          <a:p>
            <a:pPr indent="0" marL="0">
              <a:buNone/>
            </a:pPr>
            <a:r>
              <a:rPr lang="en-US" sz="1550" dirty="0">
                <a:solidFill>
                  <a:srgbClr val="2B2230"/>
                </a:solidFill>
                <a:latin typeface="Calibri" pitchFamily="34" charset="0"/>
                <a:ea typeface="Calibri" pitchFamily="34" charset="-122"/>
                <a:cs typeface="Calibri" pitchFamily="34" charset="-120"/>
              </a:rPr>
              <a:t>Find who owns your OMOP instance and ask the right questions.</a:t>
            </a:r>
            <a:endParaRPr lang="en-US" sz="1550" dirty="0"/>
          </a:p>
        </p:txBody>
      </p:sp>
      <p:sp>
        <p:nvSpPr>
          <p:cNvPr id="10" name="Shape 6"/>
          <p:cNvSpPr/>
          <p:nvPr/>
        </p:nvSpPr>
        <p:spPr>
          <a:xfrm>
            <a:off x="548640" y="3008376"/>
            <a:ext cx="457200" cy="457200"/>
          </a:xfrm>
          <a:prstGeom prst="ellipse">
            <a:avLst/>
          </a:prstGeom>
          <a:solidFill>
            <a:srgbClr val="904199"/>
          </a:solidFill>
          <a:ln/>
        </p:spPr>
      </p:sp>
      <p:pic>
        <p:nvPicPr>
          <p:cNvPr id="11" name="Image 2" descr="preencoded.png">    </p:cNvPr>
          <p:cNvPicPr>
            <a:picLocks noChangeAspect="1"/>
          </p:cNvPicPr>
          <p:nvPr/>
        </p:nvPicPr>
        <p:blipFill>
          <a:blip r:embed="rId3"/>
          <a:stretch>
            <a:fillRect/>
          </a:stretch>
        </p:blipFill>
        <p:spPr>
          <a:xfrm>
            <a:off x="653796" y="3113532"/>
            <a:ext cx="246888" cy="246888"/>
          </a:xfrm>
          <a:prstGeom prst="rect">
            <a:avLst/>
          </a:prstGeom>
        </p:spPr>
      </p:pic>
      <p:sp>
        <p:nvSpPr>
          <p:cNvPr id="12" name="Text 7"/>
          <p:cNvSpPr/>
          <p:nvPr/>
        </p:nvSpPr>
        <p:spPr>
          <a:xfrm>
            <a:off x="1170432" y="2990088"/>
            <a:ext cx="7498080" cy="502920"/>
          </a:xfrm>
          <a:prstGeom prst="rect">
            <a:avLst/>
          </a:prstGeom>
          <a:noFill/>
          <a:ln/>
        </p:spPr>
        <p:txBody>
          <a:bodyPr wrap="square" lIns="0" tIns="0" rIns="0" bIns="0" rtlCol="0" anchor="ctr"/>
          <a:lstStyle/>
          <a:p>
            <a:pPr indent="0" marL="0">
              <a:buNone/>
            </a:pPr>
            <a:r>
              <a:rPr lang="en-US" sz="1550" dirty="0">
                <a:solidFill>
                  <a:srgbClr val="2B2230"/>
                </a:solidFill>
                <a:latin typeface="Calibri" pitchFamily="34" charset="0"/>
                <a:ea typeface="Calibri" pitchFamily="34" charset="-122"/>
                <a:cs typeface="Calibri" pitchFamily="34" charset="-120"/>
              </a:rPr>
              <a:t>Read a vocabulary well enough to know if your concepts exist and are mapped.</a:t>
            </a:r>
            <a:endParaRPr lang="en-US" sz="1550" dirty="0"/>
          </a:p>
        </p:txBody>
      </p:sp>
      <p:sp>
        <p:nvSpPr>
          <p:cNvPr id="13" name="Shape 8"/>
          <p:cNvSpPr/>
          <p:nvPr/>
        </p:nvSpPr>
        <p:spPr>
          <a:xfrm>
            <a:off x="548640" y="3666744"/>
            <a:ext cx="457200" cy="457200"/>
          </a:xfrm>
          <a:prstGeom prst="ellipse">
            <a:avLst/>
          </a:prstGeom>
          <a:solidFill>
            <a:srgbClr val="B872C0"/>
          </a:solidFill>
          <a:ln/>
        </p:spPr>
      </p:sp>
      <p:pic>
        <p:nvPicPr>
          <p:cNvPr id="14" name="Image 3" descr="preencoded.png">    </p:cNvPr>
          <p:cNvPicPr>
            <a:picLocks noChangeAspect="1"/>
          </p:cNvPicPr>
          <p:nvPr/>
        </p:nvPicPr>
        <p:blipFill>
          <a:blip r:embed="rId4"/>
          <a:stretch>
            <a:fillRect/>
          </a:stretch>
        </p:blipFill>
        <p:spPr>
          <a:xfrm>
            <a:off x="653796" y="3771900"/>
            <a:ext cx="246888" cy="246888"/>
          </a:xfrm>
          <a:prstGeom prst="rect">
            <a:avLst/>
          </a:prstGeom>
        </p:spPr>
      </p:pic>
      <p:sp>
        <p:nvSpPr>
          <p:cNvPr id="15" name="Text 9"/>
          <p:cNvSpPr/>
          <p:nvPr/>
        </p:nvSpPr>
        <p:spPr>
          <a:xfrm>
            <a:off x="1170432" y="3648456"/>
            <a:ext cx="7498080" cy="502920"/>
          </a:xfrm>
          <a:prstGeom prst="rect">
            <a:avLst/>
          </a:prstGeom>
          <a:noFill/>
          <a:ln/>
        </p:spPr>
        <p:txBody>
          <a:bodyPr wrap="square" lIns="0" tIns="0" rIns="0" bIns="0" rtlCol="0" anchor="ctr"/>
          <a:lstStyle/>
          <a:p>
            <a:pPr indent="0" marL="0">
              <a:buNone/>
            </a:pPr>
            <a:r>
              <a:rPr lang="en-US" sz="1550" dirty="0">
                <a:solidFill>
                  <a:srgbClr val="2B2230"/>
                </a:solidFill>
                <a:latin typeface="Calibri" pitchFamily="34" charset="0"/>
                <a:ea typeface="Calibri" pitchFamily="34" charset="-122"/>
                <a:cs typeface="Calibri" pitchFamily="34" charset="-120"/>
              </a:rPr>
              <a:t>Use ATLAS to test concept presence and cohort counts, and read what they prove.</a:t>
            </a:r>
            <a:endParaRPr lang="en-US" sz="1550" dirty="0"/>
          </a:p>
        </p:txBody>
      </p:sp>
      <p:sp>
        <p:nvSpPr>
          <p:cNvPr id="16" name="Shape 10"/>
          <p:cNvSpPr/>
          <p:nvPr/>
        </p:nvSpPr>
        <p:spPr>
          <a:xfrm>
            <a:off x="548640" y="4325112"/>
            <a:ext cx="457200" cy="457200"/>
          </a:xfrm>
          <a:prstGeom prst="ellipse">
            <a:avLst/>
          </a:prstGeom>
          <a:solidFill>
            <a:srgbClr val="904199"/>
          </a:solidFill>
          <a:ln/>
        </p:spPr>
      </p:sp>
      <p:pic>
        <p:nvPicPr>
          <p:cNvPr id="17" name="Image 4" descr="preencoded.png">    </p:cNvPr>
          <p:cNvPicPr>
            <a:picLocks noChangeAspect="1"/>
          </p:cNvPicPr>
          <p:nvPr/>
        </p:nvPicPr>
        <p:blipFill>
          <a:blip r:embed="rId5"/>
          <a:stretch>
            <a:fillRect/>
          </a:stretch>
        </p:blipFill>
        <p:spPr>
          <a:xfrm>
            <a:off x="653796" y="4430268"/>
            <a:ext cx="246888" cy="246888"/>
          </a:xfrm>
          <a:prstGeom prst="rect">
            <a:avLst/>
          </a:prstGeom>
        </p:spPr>
      </p:pic>
      <p:sp>
        <p:nvSpPr>
          <p:cNvPr id="18" name="Text 11"/>
          <p:cNvSpPr/>
          <p:nvPr/>
        </p:nvSpPr>
        <p:spPr>
          <a:xfrm>
            <a:off x="1170432" y="4306824"/>
            <a:ext cx="7498080" cy="502920"/>
          </a:xfrm>
          <a:prstGeom prst="rect">
            <a:avLst/>
          </a:prstGeom>
          <a:noFill/>
          <a:ln/>
        </p:spPr>
        <p:txBody>
          <a:bodyPr wrap="square" lIns="0" tIns="0" rIns="0" bIns="0" rtlCol="0" anchor="ctr"/>
          <a:lstStyle/>
          <a:p>
            <a:pPr indent="0" marL="0">
              <a:buNone/>
            </a:pPr>
            <a:r>
              <a:rPr lang="en-US" sz="1550" dirty="0">
                <a:solidFill>
                  <a:srgbClr val="2B2230"/>
                </a:solidFill>
                <a:latin typeface="Calibri" pitchFamily="34" charset="0"/>
                <a:ea typeface="Calibri" pitchFamily="34" charset="-122"/>
                <a:cs typeface="Calibri" pitchFamily="34" charset="-120"/>
              </a:rPr>
              <a:t>Decide: feasible here, feasible via the network, or reframe, before a protocol.</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1533"/>
        </a:solidFill>
      </p:bgPr>
    </p:bg>
    <p:spTree>
      <p:nvGrpSpPr>
        <p:cNvPr id="1" name=""/>
        <p:cNvGrpSpPr/>
        <p:nvPr/>
      </p:nvGrpSpPr>
      <p:grpSpPr>
        <a:xfrm>
          <a:off x="0" y="0"/>
          <a:ext cx="0" cy="0"/>
          <a:chOff x="0" y="0"/>
          <a:chExt cx="0" cy="0"/>
        </a:xfrm>
      </p:grpSpPr>
      <p:sp>
        <p:nvSpPr>
          <p:cNvPr id="2" name="Shape 0"/>
          <p:cNvSpPr/>
          <p:nvPr/>
        </p:nvSpPr>
        <p:spPr>
          <a:xfrm>
            <a:off x="7955280" y="3108960"/>
            <a:ext cx="2743200" cy="2743200"/>
          </a:xfrm>
          <a:prstGeom prst="ellipse">
            <a:avLst/>
          </a:prstGeom>
          <a:solidFill>
            <a:srgbClr val="3D1F44"/>
          </a:solidFill>
          <a:ln/>
        </p:spPr>
      </p:sp>
      <p:sp>
        <p:nvSpPr>
          <p:cNvPr id="3" name="Text 1"/>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B872C0"/>
                </a:solidFill>
                <a:latin typeface="Calibri" pitchFamily="34" charset="0"/>
                <a:ea typeface="Calibri" pitchFamily="34" charset="-122"/>
                <a:cs typeface="Calibri" pitchFamily="34" charset="-120"/>
              </a:rPr>
              <a:t>ONE QUESTION, ALL THE WAY THROUGH</a:t>
            </a:r>
            <a:endParaRPr lang="en-US" sz="1150" dirty="0"/>
          </a:p>
        </p:txBody>
      </p:sp>
      <p:sp>
        <p:nvSpPr>
          <p:cNvPr id="4" name="Text 2"/>
          <p:cNvSpPr/>
          <p:nvPr/>
        </p:nvSpPr>
        <p:spPr>
          <a:xfrm>
            <a:off x="502920" y="658368"/>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running example</a:t>
            </a:r>
            <a:endParaRPr lang="en-US" sz="3000" dirty="0"/>
          </a:p>
        </p:txBody>
      </p:sp>
      <p:sp>
        <p:nvSpPr>
          <p:cNvPr id="5" name="Shape 3"/>
          <p:cNvSpPr/>
          <p:nvPr/>
        </p:nvSpPr>
        <p:spPr>
          <a:xfrm>
            <a:off x="502920" y="1600200"/>
            <a:ext cx="548640" cy="548640"/>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629107" y="1726387"/>
            <a:ext cx="296266" cy="296266"/>
          </a:xfrm>
          <a:prstGeom prst="rect">
            <a:avLst/>
          </a:prstGeom>
        </p:spPr>
      </p:pic>
      <p:sp>
        <p:nvSpPr>
          <p:cNvPr id="7" name="Text 4"/>
          <p:cNvSpPr/>
          <p:nvPr/>
        </p:nvSpPr>
        <p:spPr>
          <a:xfrm>
            <a:off x="1234440" y="1554480"/>
            <a:ext cx="7315200" cy="1737360"/>
          </a:xfrm>
          <a:prstGeom prst="rect">
            <a:avLst/>
          </a:prstGeom>
          <a:noFill/>
          <a:ln/>
        </p:spPr>
        <p:txBody>
          <a:bodyPr wrap="square" lIns="0" tIns="0" rIns="0" bIns="0" rtlCol="0" anchor="ctr"/>
          <a:lstStyle/>
          <a:p>
            <a:pPr indent="0" marL="0">
              <a:lnSpc>
                <a:spcPct val="105000"/>
              </a:lnSpc>
              <a:buNone/>
            </a:pPr>
            <a:r>
              <a:rPr lang="en-US" sz="2000" i="1" dirty="0">
                <a:solidFill>
                  <a:srgbClr val="FFFFFF"/>
                </a:solidFill>
                <a:latin typeface="Cambria" pitchFamily="34" charset="0"/>
                <a:ea typeface="Cambria" pitchFamily="34" charset="-122"/>
                <a:cs typeface="Cambria" pitchFamily="34" charset="-120"/>
              </a:rPr>
              <a:t>Among pregnant people with pregestational diabetes (type 1 or type 2, diagnosed before the pregnancy), how often does preeclampsia occur, and does that differ by first-trimester glucose-lowering medication, metformin versus insulin?</a:t>
            </a:r>
            <a:endParaRPr lang="en-US" sz="2000" dirty="0"/>
          </a:p>
        </p:txBody>
      </p:sp>
      <p:sp>
        <p:nvSpPr>
          <p:cNvPr id="8" name="Text 5"/>
          <p:cNvSpPr/>
          <p:nvPr/>
        </p:nvSpPr>
        <p:spPr>
          <a:xfrm>
            <a:off x="1234440" y="3977640"/>
            <a:ext cx="7315200" cy="365760"/>
          </a:xfrm>
          <a:prstGeom prst="rect">
            <a:avLst/>
          </a:prstGeom>
          <a:noFill/>
          <a:ln/>
        </p:spPr>
        <p:txBody>
          <a:bodyPr wrap="square" lIns="0" tIns="0" rIns="0" bIns="0" rtlCol="0" anchor="ctr"/>
          <a:lstStyle/>
          <a:p>
            <a:pPr indent="0" marL="0">
              <a:buNone/>
            </a:pPr>
            <a:r>
              <a:rPr lang="en-US" sz="1400" dirty="0">
                <a:solidFill>
                  <a:srgbClr val="C9A9D0"/>
                </a:solidFill>
                <a:latin typeface="Calibri" pitchFamily="34" charset="0"/>
                <a:ea typeface="Calibri" pitchFamily="34" charset="-122"/>
                <a:cs typeface="Calibri" pitchFamily="34" charset="-120"/>
              </a:rPr>
              <a:t>Swap in your own question wherever you like. The steps do not change.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THE ONE IDEA TO HOLD ONTO</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2900" b="1" dirty="0">
                <a:solidFill>
                  <a:srgbClr val="2B2230"/>
                </a:solidFill>
                <a:latin typeface="Cambria" pitchFamily="34" charset="0"/>
                <a:ea typeface="Cambria" pitchFamily="34" charset="-122"/>
                <a:cs typeface="Cambria" pitchFamily="34" charset="-120"/>
              </a:rPr>
              <a:t>Feasibility is cheap. The wrong data is expensive.</a:t>
            </a:r>
            <a:endParaRPr lang="en-US" sz="2900" dirty="0"/>
          </a:p>
        </p:txBody>
      </p:sp>
      <p:sp>
        <p:nvSpPr>
          <p:cNvPr id="4" name="Shape 2"/>
          <p:cNvSpPr/>
          <p:nvPr/>
        </p:nvSpPr>
        <p:spPr>
          <a:xfrm>
            <a:off x="502920" y="1874520"/>
            <a:ext cx="3977640" cy="2423160"/>
          </a:xfrm>
          <a:prstGeom prst="roundRect">
            <a:avLst>
              <a:gd name="adj" fmla="val 3396"/>
            </a:avLst>
          </a:prstGeom>
          <a:solidFill>
            <a:srgbClr val="FDF2E3"/>
          </a:solidFill>
          <a:ln/>
          <a:effectLst>
            <a:outerShdw sx="100000" sy="100000" kx="0" ky="0" algn="bl" rotWithShape="0" blurRad="88900" dist="25400" dir="5400000">
              <a:srgbClr val="000000">
                <a:alpha val="13000"/>
              </a:srgbClr>
            </a:outerShdw>
          </a:effectLst>
        </p:spPr>
      </p:sp>
      <p:sp>
        <p:nvSpPr>
          <p:cNvPr id="5" name="Shape 3"/>
          <p:cNvSpPr/>
          <p:nvPr/>
        </p:nvSpPr>
        <p:spPr>
          <a:xfrm>
            <a:off x="777240" y="2148840"/>
            <a:ext cx="548640" cy="548640"/>
          </a:xfrm>
          <a:prstGeom prst="ellipse">
            <a:avLst/>
          </a:prstGeom>
          <a:solidFill>
            <a:srgbClr val="E8890C"/>
          </a:solidFill>
          <a:ln/>
        </p:spPr>
      </p:sp>
      <p:pic>
        <p:nvPicPr>
          <p:cNvPr id="6" name="Image 0" descr="preencoded.png">    </p:cNvPr>
          <p:cNvPicPr>
            <a:picLocks noChangeAspect="1"/>
          </p:cNvPicPr>
          <p:nvPr/>
        </p:nvPicPr>
        <p:blipFill>
          <a:blip r:embed="rId1"/>
          <a:stretch>
            <a:fillRect/>
          </a:stretch>
        </p:blipFill>
        <p:spPr>
          <a:xfrm>
            <a:off x="903427" y="2275027"/>
            <a:ext cx="296266" cy="296266"/>
          </a:xfrm>
          <a:prstGeom prst="rect">
            <a:avLst/>
          </a:prstGeom>
        </p:spPr>
      </p:pic>
      <p:sp>
        <p:nvSpPr>
          <p:cNvPr id="7" name="Text 4"/>
          <p:cNvSpPr/>
          <p:nvPr/>
        </p:nvSpPr>
        <p:spPr>
          <a:xfrm>
            <a:off x="777240" y="2788920"/>
            <a:ext cx="3383280" cy="36576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Discover it late</a:t>
            </a:r>
            <a:endParaRPr lang="en-US" sz="1700" dirty="0"/>
          </a:p>
        </p:txBody>
      </p:sp>
      <p:sp>
        <p:nvSpPr>
          <p:cNvPr id="8" name="Text 5"/>
          <p:cNvSpPr/>
          <p:nvPr/>
        </p:nvSpPr>
        <p:spPr>
          <a:xfrm>
            <a:off x="777240" y="3108960"/>
            <a:ext cx="3383280" cy="640080"/>
          </a:xfrm>
          <a:prstGeom prst="rect">
            <a:avLst/>
          </a:prstGeom>
          <a:noFill/>
          <a:ln/>
        </p:spPr>
        <p:txBody>
          <a:bodyPr wrap="square" lIns="0" tIns="0" rIns="0" bIns="0" rtlCol="0" anchor="ctr"/>
          <a:lstStyle/>
          <a:p>
            <a:pPr indent="0" marL="0">
              <a:buNone/>
            </a:pPr>
            <a:r>
              <a:rPr lang="en-US" sz="4000" b="1" dirty="0">
                <a:solidFill>
                  <a:srgbClr val="B45309"/>
                </a:solidFill>
                <a:latin typeface="Cambria" pitchFamily="34" charset="0"/>
                <a:ea typeface="Cambria" pitchFamily="34" charset="-122"/>
                <a:cs typeface="Cambria" pitchFamily="34" charset="-120"/>
              </a:rPr>
              <a:t>Month 6</a:t>
            </a:r>
            <a:endParaRPr lang="en-US" sz="4000" dirty="0"/>
          </a:p>
        </p:txBody>
      </p:sp>
      <p:sp>
        <p:nvSpPr>
          <p:cNvPr id="9" name="Text 6"/>
          <p:cNvSpPr/>
          <p:nvPr/>
        </p:nvSpPr>
        <p:spPr>
          <a:xfrm>
            <a:off x="777240" y="3767328"/>
            <a:ext cx="3429000" cy="457200"/>
          </a:xfrm>
          <a:prstGeom prst="rect">
            <a:avLst/>
          </a:prstGeom>
          <a:noFill/>
          <a:ln/>
        </p:spPr>
        <p:txBody>
          <a:bodyPr wrap="square" lIns="0" tIns="0" rIns="0" bIns="0" rtlCol="0" anchor="ctr"/>
          <a:lstStyle/>
          <a:p>
            <a:pPr indent="0" marL="0">
              <a:buNone/>
            </a:pPr>
            <a:r>
              <a:rPr lang="en-US" sz="1250" dirty="0">
                <a:solidFill>
                  <a:srgbClr val="2B2230"/>
                </a:solidFill>
                <a:latin typeface="Calibri" pitchFamily="34" charset="0"/>
                <a:ea typeface="Calibri" pitchFamily="34" charset="-122"/>
                <a:cs typeface="Calibri" pitchFamily="34" charset="-120"/>
              </a:rPr>
              <a:t>Protocol written, IRB filed, and only then the data cannot answer it.</a:t>
            </a:r>
            <a:endParaRPr lang="en-US" sz="1250" dirty="0"/>
          </a:p>
        </p:txBody>
      </p:sp>
      <p:sp>
        <p:nvSpPr>
          <p:cNvPr id="10" name="Shape 7"/>
          <p:cNvSpPr/>
          <p:nvPr/>
        </p:nvSpPr>
        <p:spPr>
          <a:xfrm>
            <a:off x="4663440" y="1874520"/>
            <a:ext cx="3977640" cy="2423160"/>
          </a:xfrm>
          <a:prstGeom prst="roundRect">
            <a:avLst>
              <a:gd name="adj" fmla="val 3396"/>
            </a:avLst>
          </a:prstGeom>
          <a:solidFill>
            <a:srgbClr val="F5EDF8"/>
          </a:solidFill>
          <a:ln/>
          <a:effectLst>
            <a:outerShdw sx="100000" sy="100000" kx="0" ky="0" algn="bl" rotWithShape="0" blurRad="88900" dist="25400" dir="5400000">
              <a:srgbClr val="000000">
                <a:alpha val="13000"/>
              </a:srgbClr>
            </a:outerShdw>
          </a:effectLst>
        </p:spPr>
      </p:sp>
      <p:sp>
        <p:nvSpPr>
          <p:cNvPr id="11" name="Shape 8"/>
          <p:cNvSpPr/>
          <p:nvPr/>
        </p:nvSpPr>
        <p:spPr>
          <a:xfrm>
            <a:off x="4937760" y="2148840"/>
            <a:ext cx="548640" cy="548640"/>
          </a:xfrm>
          <a:prstGeom prst="ellipse">
            <a:avLst/>
          </a:prstGeom>
          <a:solidFill>
            <a:srgbClr val="904199"/>
          </a:solidFill>
          <a:ln/>
        </p:spPr>
      </p:sp>
      <p:pic>
        <p:nvPicPr>
          <p:cNvPr id="12" name="Image 1" descr="preencoded.png">    </p:cNvPr>
          <p:cNvPicPr>
            <a:picLocks noChangeAspect="1"/>
          </p:cNvPicPr>
          <p:nvPr/>
        </p:nvPicPr>
        <p:blipFill>
          <a:blip r:embed="rId2"/>
          <a:stretch>
            <a:fillRect/>
          </a:stretch>
        </p:blipFill>
        <p:spPr>
          <a:xfrm>
            <a:off x="5063947" y="2275027"/>
            <a:ext cx="296266" cy="296266"/>
          </a:xfrm>
          <a:prstGeom prst="rect">
            <a:avLst/>
          </a:prstGeom>
        </p:spPr>
      </p:pic>
      <p:sp>
        <p:nvSpPr>
          <p:cNvPr id="13" name="Text 9"/>
          <p:cNvSpPr/>
          <p:nvPr/>
        </p:nvSpPr>
        <p:spPr>
          <a:xfrm>
            <a:off x="4937760" y="2788920"/>
            <a:ext cx="3383280" cy="365760"/>
          </a:xfrm>
          <a:prstGeom prst="rect">
            <a:avLst/>
          </a:prstGeom>
          <a:noFill/>
          <a:ln/>
        </p:spPr>
        <p:txBody>
          <a:bodyPr wrap="square" lIns="0" tIns="0" rIns="0" bIns="0" rtlCol="0" anchor="ctr"/>
          <a:lstStyle/>
          <a:p>
            <a:pPr indent="0" marL="0">
              <a:buNone/>
            </a:pPr>
            <a:r>
              <a:rPr lang="en-US" sz="1700" b="1" dirty="0">
                <a:solidFill>
                  <a:srgbClr val="904199"/>
                </a:solidFill>
                <a:latin typeface="Cambria" pitchFamily="34" charset="0"/>
                <a:ea typeface="Cambria" pitchFamily="34" charset="-122"/>
                <a:cs typeface="Cambria" pitchFamily="34" charset="-120"/>
              </a:rPr>
              <a:t>Catch it early</a:t>
            </a:r>
            <a:endParaRPr lang="en-US" sz="1700" dirty="0"/>
          </a:p>
        </p:txBody>
      </p:sp>
      <p:sp>
        <p:nvSpPr>
          <p:cNvPr id="14" name="Text 10"/>
          <p:cNvSpPr/>
          <p:nvPr/>
        </p:nvSpPr>
        <p:spPr>
          <a:xfrm>
            <a:off x="4937760" y="3108960"/>
            <a:ext cx="3383280" cy="640080"/>
          </a:xfrm>
          <a:prstGeom prst="rect">
            <a:avLst/>
          </a:prstGeom>
          <a:noFill/>
          <a:ln/>
        </p:spPr>
        <p:txBody>
          <a:bodyPr wrap="square" lIns="0" tIns="0" rIns="0" bIns="0" rtlCol="0" anchor="ctr"/>
          <a:lstStyle/>
          <a:p>
            <a:pPr indent="0" marL="0">
              <a:buNone/>
            </a:pPr>
            <a:r>
              <a:rPr lang="en-US" sz="4000" b="1" dirty="0">
                <a:solidFill>
                  <a:srgbClr val="904199"/>
                </a:solidFill>
                <a:latin typeface="Cambria" pitchFamily="34" charset="0"/>
                <a:ea typeface="Cambria" pitchFamily="34" charset="-122"/>
                <a:cs typeface="Cambria" pitchFamily="34" charset="-120"/>
              </a:rPr>
              <a:t>Minute 5</a:t>
            </a:r>
            <a:endParaRPr lang="en-US" sz="4000" dirty="0"/>
          </a:p>
        </p:txBody>
      </p:sp>
      <p:sp>
        <p:nvSpPr>
          <p:cNvPr id="15" name="Text 11"/>
          <p:cNvSpPr/>
          <p:nvPr/>
        </p:nvSpPr>
        <p:spPr>
          <a:xfrm>
            <a:off x="4937760" y="3767328"/>
            <a:ext cx="3429000" cy="457200"/>
          </a:xfrm>
          <a:prstGeom prst="rect">
            <a:avLst/>
          </a:prstGeom>
          <a:noFill/>
          <a:ln/>
        </p:spPr>
        <p:txBody>
          <a:bodyPr wrap="square" lIns="0" tIns="0" rIns="0" bIns="0" rtlCol="0" anchor="ctr"/>
          <a:lstStyle/>
          <a:p>
            <a:pPr indent="0" marL="0">
              <a:buNone/>
            </a:pPr>
            <a:r>
              <a:rPr lang="en-US" sz="1250" dirty="0">
                <a:solidFill>
                  <a:srgbClr val="2B2230"/>
                </a:solidFill>
                <a:latin typeface="Calibri" pitchFamily="34" charset="0"/>
                <a:ea typeface="Calibri" pitchFamily="34" charset="-122"/>
                <a:cs typeface="Calibri" pitchFamily="34" charset="-120"/>
              </a:rPr>
              <a:t>A few searches and one cohort tell you before you write a word.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SEGMENT 1 · SHARPEN THE QUESTION</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Turn the idea into cohort logic</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1554480"/>
                <a:gridCol w="3291840"/>
                <a:gridCol w="3291840"/>
              </a:tblGrid>
              <a:tr h="384048">
                <a:tc>
                  <a:txBody>
                    <a:bodyPr/>
                    <a:lstStyle/>
                    <a:p>
                      <a:pPr algn="l" indent="0" marL="0">
                        <a:buNone/>
                      </a:pPr>
                      <a:r>
                        <a:rPr lang="en-US" sz="1230" b="1" dirty="0">
                          <a:solidFill>
                            <a:srgbClr val="FFFFFF"/>
                          </a:solidFill>
                          <a:latin typeface="Calibri" pitchFamily="34" charset="0"/>
                          <a:ea typeface="Calibri" pitchFamily="34" charset="-122"/>
                          <a:cs typeface="Calibri" pitchFamily="34" charset="-120"/>
                        </a:rPr>
                        <a:t>Component</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b="1" dirty="0">
                          <a:solidFill>
                            <a:srgbClr val="FFFFFF"/>
                          </a:solidFill>
                          <a:latin typeface="Calibri" pitchFamily="34" charset="0"/>
                          <a:ea typeface="Calibri" pitchFamily="34" charset="-122"/>
                          <a:cs typeface="Calibri" pitchFamily="34" charset="-120"/>
                        </a:rPr>
                        <a:t>The question needs</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b="1" dirty="0">
                          <a:solidFill>
                            <a:srgbClr val="FFFFFF"/>
                          </a:solidFill>
                          <a:latin typeface="Calibri" pitchFamily="34" charset="0"/>
                          <a:ea typeface="Calibri" pitchFamily="34" charset="-122"/>
                          <a:cs typeface="Calibri" pitchFamily="34" charset="-120"/>
                        </a:rPr>
                        <a:t>So the data must contain</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r>
              <a:tr h="384048">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Target</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Pregnant people, with a datable pregnancy</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Obstetric &amp; delivery records, childbearing age</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r>
              <a:tr h="384048">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Prior condition</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Pregestational T1 or T2 diabetes</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Diabetes records dated before pregnancy start</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r>
              <a:tr h="384048">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Exposure</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Metformin vs insulin, first trimester</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Drug records in the pregnancy window</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r>
              <a:tr h="384048">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Outcome</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Preeclampsia during pregnancy</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Preeclampsia records during the episode</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r>
              <a:tr h="384048">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Time</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Index date + observation around it</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c>
                  <a:txBody>
                    <a:bodyPr/>
                    <a:lstStyle/>
                    <a:p>
                      <a:pPr algn="l" indent="0" marL="0">
                        <a:buNone/>
                      </a:pPr>
                      <a:r>
                        <a:rPr lang="en-US" sz="1230" dirty="0">
                          <a:solidFill>
                            <a:srgbClr val="2B2230"/>
                          </a:solidFill>
                          <a:latin typeface="Calibri" pitchFamily="34" charset="0"/>
                          <a:ea typeface="Calibri" pitchFamily="34" charset="-122"/>
                          <a:cs typeface="Calibri" pitchFamily="34" charset="-120"/>
                        </a:rPr>
                        <a:t>A defined observation period</a:t>
                      </a:r>
                      <a:endParaRPr lang="en-US" sz="1230" dirty="0">
                        <a:latin typeface="Calibri" charset="0"/>
                        <a:ea typeface="Calibri" charset="0"/>
                        <a:cs typeface="Calibri" charset="0"/>
                      </a:endParaRPr>
                    </a:p>
                  </a:txBody>
                  <a:tcPr marL="91440" marR="91440" marT="45720" marB="45720" anchor="ctr">
                    <a:lnL w="6350" cap="flat" cmpd="sng" algn="ctr">
                      <a:solidFill>
                        <a:srgbClr val="E6D7EA"/>
                      </a:solidFill>
                      <a:prstDash val="solid"/>
                      <a:round/>
                      <a:headEnd type="none" w="med" len="med"/>
                      <a:tailEnd type="none" w="med" len="med"/>
                    </a:lnL>
                    <a:lnR w="6350" cap="flat" cmpd="sng" algn="ctr">
                      <a:solidFill>
                        <a:srgbClr val="E6D7EA"/>
                      </a:solidFill>
                      <a:prstDash val="solid"/>
                      <a:round/>
                      <a:headEnd type="none" w="med" len="med"/>
                      <a:tailEnd type="none" w="med" len="med"/>
                    </a:lnR>
                    <a:lnT w="6350" cap="flat" cmpd="sng" algn="ctr">
                      <a:solidFill>
                        <a:srgbClr val="E6D7EA"/>
                      </a:solidFill>
                      <a:prstDash val="solid"/>
                      <a:round/>
                      <a:headEnd type="none" w="med" len="med"/>
                      <a:tailEnd type="none" w="med" len="med"/>
                    </a:lnT>
                    <a:lnB w="6350" cap="flat" cmpd="sng" algn="ctr">
                      <a:solidFill>
                        <a:srgbClr val="E6D7EA"/>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1600200"/>
            <a:ext cx="8138160" cy="384048"/>
          </a:xfrm>
          <a:prstGeom prst="rect">
            <a:avLst/>
          </a:prstGeom>
          <a:solidFill>
            <a:srgbClr val="904199"/>
          </a:solidFill>
          <a:ln/>
        </p:spPr>
      </p:sp>
      <p:sp>
        <p:nvSpPr>
          <p:cNvPr id="6" name="Text 3"/>
          <p:cNvSpPr/>
          <p:nvPr/>
        </p:nvSpPr>
        <p:spPr>
          <a:xfrm>
            <a:off x="566928" y="1600200"/>
            <a:ext cx="1463040" cy="384048"/>
          </a:xfrm>
          <a:prstGeom prst="rect">
            <a:avLst/>
          </a:prstGeom>
          <a:noFill/>
          <a:ln/>
        </p:spPr>
        <p:txBody>
          <a:bodyPr wrap="square" lIns="0" tIns="0" rIns="0" bIns="0" rtlCol="0" anchor="ctr"/>
          <a:lstStyle/>
          <a:p>
            <a:pPr indent="0" marL="0">
              <a:buNone/>
            </a:pPr>
            <a:r>
              <a:rPr lang="en-US" sz="1230" b="1" dirty="0">
                <a:solidFill>
                  <a:srgbClr val="FFFFFF"/>
                </a:solidFill>
                <a:latin typeface="Calibri" pitchFamily="34" charset="0"/>
                <a:ea typeface="Calibri" pitchFamily="34" charset="-122"/>
                <a:cs typeface="Calibri" pitchFamily="34" charset="-120"/>
              </a:rPr>
              <a:t>Component</a:t>
            </a:r>
            <a:endParaRPr lang="en-US" sz="1230" dirty="0"/>
          </a:p>
        </p:txBody>
      </p:sp>
      <p:sp>
        <p:nvSpPr>
          <p:cNvPr id="7" name="Text 4"/>
          <p:cNvSpPr/>
          <p:nvPr/>
        </p:nvSpPr>
        <p:spPr>
          <a:xfrm>
            <a:off x="2121408" y="1600200"/>
            <a:ext cx="3200400" cy="384048"/>
          </a:xfrm>
          <a:prstGeom prst="rect">
            <a:avLst/>
          </a:prstGeom>
          <a:noFill/>
          <a:ln/>
        </p:spPr>
        <p:txBody>
          <a:bodyPr wrap="square" lIns="0" tIns="0" rIns="0" bIns="0" rtlCol="0" anchor="ctr"/>
          <a:lstStyle/>
          <a:p>
            <a:pPr indent="0" marL="0">
              <a:buNone/>
            </a:pPr>
            <a:r>
              <a:rPr lang="en-US" sz="1230" b="1" dirty="0">
                <a:solidFill>
                  <a:srgbClr val="FFFFFF"/>
                </a:solidFill>
                <a:latin typeface="Calibri" pitchFamily="34" charset="0"/>
                <a:ea typeface="Calibri" pitchFamily="34" charset="-122"/>
                <a:cs typeface="Calibri" pitchFamily="34" charset="-120"/>
              </a:rPr>
              <a:t>The question needs</a:t>
            </a:r>
            <a:endParaRPr lang="en-US" sz="1230" dirty="0"/>
          </a:p>
        </p:txBody>
      </p:sp>
      <p:sp>
        <p:nvSpPr>
          <p:cNvPr id="8" name="Text 5"/>
          <p:cNvSpPr/>
          <p:nvPr/>
        </p:nvSpPr>
        <p:spPr>
          <a:xfrm>
            <a:off x="5413248" y="1600200"/>
            <a:ext cx="3200400" cy="384048"/>
          </a:xfrm>
          <a:prstGeom prst="rect">
            <a:avLst/>
          </a:prstGeom>
          <a:noFill/>
          <a:ln/>
        </p:spPr>
        <p:txBody>
          <a:bodyPr wrap="square" lIns="0" tIns="0" rIns="0" bIns="0" rtlCol="0" anchor="ctr"/>
          <a:lstStyle/>
          <a:p>
            <a:pPr indent="0" marL="0">
              <a:buNone/>
            </a:pPr>
            <a:r>
              <a:rPr lang="en-US" sz="1230" b="1" dirty="0">
                <a:solidFill>
                  <a:srgbClr val="FFFFFF"/>
                </a:solidFill>
                <a:latin typeface="Calibri" pitchFamily="34" charset="0"/>
                <a:ea typeface="Calibri" pitchFamily="34" charset="-122"/>
                <a:cs typeface="Calibri" pitchFamily="34" charset="-120"/>
              </a:rPr>
              <a:t>So the data must contain</a:t>
            </a:r>
            <a:endParaRPr lang="en-US" sz="1230" dirty="0"/>
          </a:p>
        </p:txBody>
      </p:sp>
      <p:sp>
        <p:nvSpPr>
          <p:cNvPr id="9" name="Text 6"/>
          <p:cNvSpPr/>
          <p:nvPr/>
        </p:nvSpPr>
        <p:spPr>
          <a:xfrm>
            <a:off x="502920" y="4160520"/>
            <a:ext cx="8229600" cy="365760"/>
          </a:xfrm>
          <a:prstGeom prst="rect">
            <a:avLst/>
          </a:prstGeom>
          <a:noFill/>
          <a:ln/>
        </p:spPr>
        <p:txBody>
          <a:bodyPr wrap="square" lIns="0" tIns="0" rIns="0" bIns="0" rtlCol="0" anchor="ctr"/>
          <a:lstStyle/>
          <a:p>
            <a:pPr indent="0" marL="0">
              <a:buNone/>
            </a:pPr>
            <a:r>
              <a:rPr lang="en-US" sz="1400" dirty="0">
                <a:solidFill>
                  <a:srgbClr val="2B2230"/>
                </a:solidFill>
                <a:latin typeface="Calibri" pitchFamily="34" charset="0"/>
                <a:ea typeface="Calibri" pitchFamily="34" charset="-122"/>
                <a:cs typeface="Calibri" pitchFamily="34" charset="-120"/>
              </a:rPr>
              <a:t>Four of five rows depend on one hard thing: </a:t>
            </a:r>
            <a:pPr indent="0" marL="0">
              <a:buNone/>
            </a:pPr>
            <a:r>
              <a:rPr lang="en-US" sz="1400" b="1" dirty="0">
                <a:solidFill>
                  <a:srgbClr val="B45309"/>
                </a:solidFill>
                <a:latin typeface="Calibri" pitchFamily="34" charset="0"/>
                <a:ea typeface="Calibri" pitchFamily="34" charset="-122"/>
                <a:cs typeface="Calibri" pitchFamily="34" charset="-120"/>
              </a:rPr>
              <a:t>dating a pregnancy.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THE FEASIBILITY MINDSET</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Feasibility is six concrete checks</a:t>
            </a:r>
            <a:endParaRPr lang="en-US" sz="3200" dirty="0"/>
          </a:p>
        </p:txBody>
      </p:sp>
      <p:sp>
        <p:nvSpPr>
          <p:cNvPr id="4" name="Shape 2"/>
          <p:cNvSpPr/>
          <p:nvPr/>
        </p:nvSpPr>
        <p:spPr>
          <a:xfrm>
            <a:off x="502920" y="1645920"/>
            <a:ext cx="457200" cy="457200"/>
          </a:xfrm>
          <a:prstGeom prst="ellipse">
            <a:avLst/>
          </a:prstGeom>
          <a:solidFill>
            <a:srgbClr val="904199"/>
          </a:solidFill>
          <a:ln/>
        </p:spPr>
      </p:sp>
      <p:sp>
        <p:nvSpPr>
          <p:cNvPr id="5" name="Text 3"/>
          <p:cNvSpPr/>
          <p:nvPr/>
        </p:nvSpPr>
        <p:spPr>
          <a:xfrm>
            <a:off x="502920" y="1645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124712" y="1591056"/>
            <a:ext cx="3429000" cy="32004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Concepts exist</a:t>
            </a:r>
            <a:endParaRPr lang="en-US" sz="1500" dirty="0"/>
          </a:p>
        </p:txBody>
      </p:sp>
      <p:sp>
        <p:nvSpPr>
          <p:cNvPr id="7" name="Text 5"/>
          <p:cNvSpPr/>
          <p:nvPr/>
        </p:nvSpPr>
        <p:spPr>
          <a:xfrm>
            <a:off x="1124712" y="1901952"/>
            <a:ext cx="3429000" cy="548640"/>
          </a:xfrm>
          <a:prstGeom prst="rect">
            <a:avLst/>
          </a:prstGeom>
          <a:noFill/>
          <a:ln/>
        </p:spPr>
        <p:txBody>
          <a:bodyPr wrap="square" lIns="0" tIns="0" rIns="0" bIns="0" rtlCol="0" anchor="ctr"/>
          <a:lstStyle/>
          <a:p>
            <a:pPr indent="0" marL="0">
              <a:buNone/>
            </a:pPr>
            <a:r>
              <a:rPr lang="en-US" sz="1180" dirty="0">
                <a:solidFill>
                  <a:srgbClr val="6E6676"/>
                </a:solidFill>
                <a:latin typeface="Calibri" pitchFamily="34" charset="0"/>
                <a:ea typeface="Calibri" pitchFamily="34" charset="-122"/>
                <a:cs typeface="Calibri" pitchFamily="34" charset="-120"/>
              </a:rPr>
              <a:t>Standard concepts found for each element, right domain.</a:t>
            </a:r>
            <a:endParaRPr lang="en-US" sz="1180" dirty="0"/>
          </a:p>
        </p:txBody>
      </p:sp>
      <p:sp>
        <p:nvSpPr>
          <p:cNvPr id="8" name="Shape 6"/>
          <p:cNvSpPr/>
          <p:nvPr/>
        </p:nvSpPr>
        <p:spPr>
          <a:xfrm>
            <a:off x="4663440" y="1645920"/>
            <a:ext cx="457200" cy="457200"/>
          </a:xfrm>
          <a:prstGeom prst="ellipse">
            <a:avLst/>
          </a:prstGeom>
          <a:solidFill>
            <a:srgbClr val="B872C0"/>
          </a:solidFill>
          <a:ln/>
        </p:spPr>
      </p:sp>
      <p:sp>
        <p:nvSpPr>
          <p:cNvPr id="9" name="Text 7"/>
          <p:cNvSpPr/>
          <p:nvPr/>
        </p:nvSpPr>
        <p:spPr>
          <a:xfrm>
            <a:off x="4663440" y="1645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0" name="Text 8"/>
          <p:cNvSpPr/>
          <p:nvPr/>
        </p:nvSpPr>
        <p:spPr>
          <a:xfrm>
            <a:off x="5285232" y="1591056"/>
            <a:ext cx="3429000" cy="32004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Concepts are present</a:t>
            </a:r>
            <a:endParaRPr lang="en-US" sz="1500" dirty="0"/>
          </a:p>
        </p:txBody>
      </p:sp>
      <p:sp>
        <p:nvSpPr>
          <p:cNvPr id="11" name="Text 9"/>
          <p:cNvSpPr/>
          <p:nvPr/>
        </p:nvSpPr>
        <p:spPr>
          <a:xfrm>
            <a:off x="5285232" y="1901952"/>
            <a:ext cx="3429000" cy="548640"/>
          </a:xfrm>
          <a:prstGeom prst="rect">
            <a:avLst/>
          </a:prstGeom>
          <a:noFill/>
          <a:ln/>
        </p:spPr>
        <p:txBody>
          <a:bodyPr wrap="square" lIns="0" tIns="0" rIns="0" bIns="0" rtlCol="0" anchor="ctr"/>
          <a:lstStyle/>
          <a:p>
            <a:pPr indent="0" marL="0">
              <a:buNone/>
            </a:pPr>
            <a:r>
              <a:rPr lang="en-US" sz="1180" dirty="0">
                <a:solidFill>
                  <a:srgbClr val="6E6676"/>
                </a:solidFill>
                <a:latin typeface="Calibri" pitchFamily="34" charset="0"/>
                <a:ea typeface="Calibri" pitchFamily="34" charset="-122"/>
                <a:cs typeface="Calibri" pitchFamily="34" charset="-120"/>
              </a:rPr>
              <a:t>Nonzero record counts in your source, not just the vocabulary.</a:t>
            </a:r>
            <a:endParaRPr lang="en-US" sz="1180" dirty="0"/>
          </a:p>
        </p:txBody>
      </p:sp>
      <p:sp>
        <p:nvSpPr>
          <p:cNvPr id="12" name="Shape 10"/>
          <p:cNvSpPr/>
          <p:nvPr/>
        </p:nvSpPr>
        <p:spPr>
          <a:xfrm>
            <a:off x="502920" y="2587752"/>
            <a:ext cx="457200" cy="457200"/>
          </a:xfrm>
          <a:prstGeom prst="ellipse">
            <a:avLst/>
          </a:prstGeom>
          <a:solidFill>
            <a:srgbClr val="904199"/>
          </a:solidFill>
          <a:ln/>
        </p:spPr>
      </p:sp>
      <p:sp>
        <p:nvSpPr>
          <p:cNvPr id="13" name="Text 11"/>
          <p:cNvSpPr/>
          <p:nvPr/>
        </p:nvSpPr>
        <p:spPr>
          <a:xfrm>
            <a:off x="50292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4" name="Text 12"/>
          <p:cNvSpPr/>
          <p:nvPr/>
        </p:nvSpPr>
        <p:spPr>
          <a:xfrm>
            <a:off x="1124712" y="2532888"/>
            <a:ext cx="3429000" cy="32004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Population fits</a:t>
            </a:r>
            <a:endParaRPr lang="en-US" sz="1500" dirty="0"/>
          </a:p>
        </p:txBody>
      </p:sp>
      <p:sp>
        <p:nvSpPr>
          <p:cNvPr id="15" name="Text 13"/>
          <p:cNvSpPr/>
          <p:nvPr/>
        </p:nvSpPr>
        <p:spPr>
          <a:xfrm>
            <a:off x="1124712" y="2843784"/>
            <a:ext cx="3429000" cy="548640"/>
          </a:xfrm>
          <a:prstGeom prst="rect">
            <a:avLst/>
          </a:prstGeom>
          <a:noFill/>
          <a:ln/>
        </p:spPr>
        <p:txBody>
          <a:bodyPr wrap="square" lIns="0" tIns="0" rIns="0" bIns="0" rtlCol="0" anchor="ctr"/>
          <a:lstStyle/>
          <a:p>
            <a:pPr indent="0" marL="0">
              <a:buNone/>
            </a:pPr>
            <a:r>
              <a:rPr lang="en-US" sz="1180" dirty="0">
                <a:solidFill>
                  <a:srgbClr val="6E6676"/>
                </a:solidFill>
                <a:latin typeface="Calibri" pitchFamily="34" charset="0"/>
                <a:ea typeface="Calibri" pitchFamily="34" charset="-122"/>
                <a:cs typeface="Calibri" pitchFamily="34" charset="-120"/>
              </a:rPr>
              <a:t>The right people are in the source. Childbearing age, obstetric care.</a:t>
            </a:r>
            <a:endParaRPr lang="en-US" sz="1180" dirty="0"/>
          </a:p>
        </p:txBody>
      </p:sp>
      <p:sp>
        <p:nvSpPr>
          <p:cNvPr id="16" name="Shape 14"/>
          <p:cNvSpPr/>
          <p:nvPr/>
        </p:nvSpPr>
        <p:spPr>
          <a:xfrm>
            <a:off x="4663440" y="2587752"/>
            <a:ext cx="457200" cy="457200"/>
          </a:xfrm>
          <a:prstGeom prst="ellipse">
            <a:avLst/>
          </a:prstGeom>
          <a:solidFill>
            <a:srgbClr val="B872C0"/>
          </a:solidFill>
          <a:ln/>
        </p:spPr>
      </p:sp>
      <p:sp>
        <p:nvSpPr>
          <p:cNvPr id="17" name="Text 15"/>
          <p:cNvSpPr/>
          <p:nvPr/>
        </p:nvSpPr>
        <p:spPr>
          <a:xfrm>
            <a:off x="46634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18" name="Text 16"/>
          <p:cNvSpPr/>
          <p:nvPr/>
        </p:nvSpPr>
        <p:spPr>
          <a:xfrm>
            <a:off x="5285232" y="2532888"/>
            <a:ext cx="3429000" cy="32004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Time can be anchored</a:t>
            </a:r>
            <a:endParaRPr lang="en-US" sz="1500" dirty="0"/>
          </a:p>
        </p:txBody>
      </p:sp>
      <p:sp>
        <p:nvSpPr>
          <p:cNvPr id="19" name="Text 17"/>
          <p:cNvSpPr/>
          <p:nvPr/>
        </p:nvSpPr>
        <p:spPr>
          <a:xfrm>
            <a:off x="5285232" y="2843784"/>
            <a:ext cx="3429000" cy="548640"/>
          </a:xfrm>
          <a:prstGeom prst="rect">
            <a:avLst/>
          </a:prstGeom>
          <a:noFill/>
          <a:ln/>
        </p:spPr>
        <p:txBody>
          <a:bodyPr wrap="square" lIns="0" tIns="0" rIns="0" bIns="0" rtlCol="0" anchor="ctr"/>
          <a:lstStyle/>
          <a:p>
            <a:pPr indent="0" marL="0">
              <a:buNone/>
            </a:pPr>
            <a:r>
              <a:rPr lang="en-US" sz="1180" dirty="0">
                <a:solidFill>
                  <a:srgbClr val="6E6676"/>
                </a:solidFill>
                <a:latin typeface="Calibri" pitchFamily="34" charset="0"/>
                <a:ea typeface="Calibri" pitchFamily="34" charset="-122"/>
                <a:cs typeface="Calibri" pitchFamily="34" charset="-120"/>
              </a:rPr>
              <a:t>A datable index event with observation time around it.</a:t>
            </a:r>
            <a:endParaRPr lang="en-US" sz="1180" dirty="0"/>
          </a:p>
        </p:txBody>
      </p:sp>
      <p:sp>
        <p:nvSpPr>
          <p:cNvPr id="20" name="Shape 18"/>
          <p:cNvSpPr/>
          <p:nvPr/>
        </p:nvSpPr>
        <p:spPr>
          <a:xfrm>
            <a:off x="502920" y="3529584"/>
            <a:ext cx="457200" cy="457200"/>
          </a:xfrm>
          <a:prstGeom prst="ellipse">
            <a:avLst/>
          </a:prstGeom>
          <a:solidFill>
            <a:srgbClr val="904199"/>
          </a:solidFill>
          <a:ln/>
        </p:spPr>
      </p:sp>
      <p:sp>
        <p:nvSpPr>
          <p:cNvPr id="21" name="Text 19"/>
          <p:cNvSpPr/>
          <p:nvPr/>
        </p:nvSpPr>
        <p:spPr>
          <a:xfrm>
            <a:off x="502920" y="35295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22" name="Text 20"/>
          <p:cNvSpPr/>
          <p:nvPr/>
        </p:nvSpPr>
        <p:spPr>
          <a:xfrm>
            <a:off x="1124712" y="3474720"/>
            <a:ext cx="3429000" cy="32004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Enough of it</a:t>
            </a:r>
            <a:endParaRPr lang="en-US" sz="1500" dirty="0"/>
          </a:p>
        </p:txBody>
      </p:sp>
      <p:sp>
        <p:nvSpPr>
          <p:cNvPr id="23" name="Text 21"/>
          <p:cNvSpPr/>
          <p:nvPr/>
        </p:nvSpPr>
        <p:spPr>
          <a:xfrm>
            <a:off x="1124712" y="3785616"/>
            <a:ext cx="3429000" cy="548640"/>
          </a:xfrm>
          <a:prstGeom prst="rect">
            <a:avLst/>
          </a:prstGeom>
          <a:noFill/>
          <a:ln/>
        </p:spPr>
        <p:txBody>
          <a:bodyPr wrap="square" lIns="0" tIns="0" rIns="0" bIns="0" rtlCol="0" anchor="ctr"/>
          <a:lstStyle/>
          <a:p>
            <a:pPr indent="0" marL="0">
              <a:buNone/>
            </a:pPr>
            <a:r>
              <a:rPr lang="en-US" sz="1180" dirty="0">
                <a:solidFill>
                  <a:srgbClr val="6E6676"/>
                </a:solidFill>
                <a:latin typeface="Calibri" pitchFamily="34" charset="0"/>
                <a:ea typeface="Calibri" pitchFamily="34" charset="-122"/>
                <a:cs typeface="Calibri" pitchFamily="34" charset="-120"/>
              </a:rPr>
              <a:t>The count meeting all criteria at once supports the comparison.</a:t>
            </a:r>
            <a:endParaRPr lang="en-US" sz="1180" dirty="0"/>
          </a:p>
        </p:txBody>
      </p:sp>
      <p:sp>
        <p:nvSpPr>
          <p:cNvPr id="24" name="Shape 22"/>
          <p:cNvSpPr/>
          <p:nvPr/>
        </p:nvSpPr>
        <p:spPr>
          <a:xfrm>
            <a:off x="4663440" y="3529584"/>
            <a:ext cx="457200" cy="457200"/>
          </a:xfrm>
          <a:prstGeom prst="ellipse">
            <a:avLst/>
          </a:prstGeom>
          <a:solidFill>
            <a:srgbClr val="B872C0"/>
          </a:solidFill>
          <a:ln/>
        </p:spPr>
      </p:sp>
      <p:sp>
        <p:nvSpPr>
          <p:cNvPr id="25" name="Text 23"/>
          <p:cNvSpPr/>
          <p:nvPr/>
        </p:nvSpPr>
        <p:spPr>
          <a:xfrm>
            <a:off x="4663440" y="35295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6</a:t>
            </a:r>
            <a:endParaRPr lang="en-US" sz="1700" dirty="0"/>
          </a:p>
        </p:txBody>
      </p:sp>
      <p:sp>
        <p:nvSpPr>
          <p:cNvPr id="26" name="Text 24"/>
          <p:cNvSpPr/>
          <p:nvPr/>
        </p:nvSpPr>
        <p:spPr>
          <a:xfrm>
            <a:off x="5285232" y="3474720"/>
            <a:ext cx="3429000" cy="32004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Governance clears</a:t>
            </a:r>
            <a:endParaRPr lang="en-US" sz="1500" dirty="0"/>
          </a:p>
        </p:txBody>
      </p:sp>
      <p:sp>
        <p:nvSpPr>
          <p:cNvPr id="27" name="Text 25"/>
          <p:cNvSpPr/>
          <p:nvPr/>
        </p:nvSpPr>
        <p:spPr>
          <a:xfrm>
            <a:off x="5285232" y="3785616"/>
            <a:ext cx="3429000" cy="548640"/>
          </a:xfrm>
          <a:prstGeom prst="rect">
            <a:avLst/>
          </a:prstGeom>
          <a:noFill/>
          <a:ln/>
        </p:spPr>
        <p:txBody>
          <a:bodyPr wrap="square" lIns="0" tIns="0" rIns="0" bIns="0" rtlCol="0" anchor="ctr"/>
          <a:lstStyle/>
          <a:p>
            <a:pPr indent="0" marL="0">
              <a:buNone/>
            </a:pPr>
            <a:r>
              <a:rPr lang="en-US" sz="1180" dirty="0">
                <a:solidFill>
                  <a:srgbClr val="6E6676"/>
                </a:solidFill>
                <a:latin typeface="Calibri" pitchFamily="34" charset="0"/>
                <a:ea typeface="Calibri" pitchFamily="34" charset="-122"/>
                <a:cs typeface="Calibri" pitchFamily="34" charset="-120"/>
              </a:rPr>
              <a:t>You know what counts and the full study each require.</a:t>
            </a:r>
            <a:endParaRPr lang="en-US" sz="11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2E3"/>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B45309"/>
                </a:solidFill>
                <a:latin typeface="Calibri" pitchFamily="34" charset="0"/>
                <a:ea typeface="Calibri" pitchFamily="34" charset="-122"/>
                <a:cs typeface="Calibri" pitchFamily="34" charset="-120"/>
              </a:rPr>
              <a:t>PLAN FOR IT, DON'T DISCOVER IT LATE</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B45309"/>
                </a:solidFill>
                <a:latin typeface="Cambria" pitchFamily="34" charset="0"/>
                <a:ea typeface="Cambria" pitchFamily="34" charset="-122"/>
                <a:cs typeface="Cambria" pitchFamily="34" charset="-120"/>
              </a:rPr>
              <a:t>The part that will take real work</a:t>
            </a:r>
            <a:endParaRPr lang="en-US" sz="3200" dirty="0"/>
          </a:p>
        </p:txBody>
      </p:sp>
      <p:sp>
        <p:nvSpPr>
          <p:cNvPr id="4" name="Shape 2"/>
          <p:cNvSpPr/>
          <p:nvPr/>
        </p:nvSpPr>
        <p:spPr>
          <a:xfrm>
            <a:off x="502920" y="1691640"/>
            <a:ext cx="603504" cy="603504"/>
          </a:xfrm>
          <a:prstGeom prst="ellipse">
            <a:avLst/>
          </a:prstGeom>
          <a:solidFill>
            <a:srgbClr val="E8890C"/>
          </a:solidFill>
          <a:ln/>
        </p:spPr>
      </p:sp>
      <p:pic>
        <p:nvPicPr>
          <p:cNvPr id="5" name="Image 0" descr="preencoded.png">    </p:cNvPr>
          <p:cNvPicPr>
            <a:picLocks noChangeAspect="1"/>
          </p:cNvPicPr>
          <p:nvPr/>
        </p:nvPicPr>
        <p:blipFill>
          <a:blip r:embed="rId1"/>
          <a:stretch>
            <a:fillRect/>
          </a:stretch>
        </p:blipFill>
        <p:spPr>
          <a:xfrm>
            <a:off x="641726" y="1830446"/>
            <a:ext cx="325892" cy="325892"/>
          </a:xfrm>
          <a:prstGeom prst="rect">
            <a:avLst/>
          </a:prstGeom>
        </p:spPr>
      </p:pic>
      <p:sp>
        <p:nvSpPr>
          <p:cNvPr id="6" name="Text 3"/>
          <p:cNvSpPr/>
          <p:nvPr/>
        </p:nvSpPr>
        <p:spPr>
          <a:xfrm>
            <a:off x="1325880" y="1664208"/>
            <a:ext cx="7315200" cy="640080"/>
          </a:xfrm>
          <a:prstGeom prst="rect">
            <a:avLst/>
          </a:prstGeom>
          <a:noFill/>
          <a:ln/>
        </p:spPr>
        <p:txBody>
          <a:bodyPr wrap="square" lIns="0" tIns="0" rIns="0" bIns="0" rtlCol="0" anchor="ctr"/>
          <a:lstStyle/>
          <a:p>
            <a:pPr indent="0" marL="0">
              <a:buNone/>
            </a:pPr>
            <a:r>
              <a:rPr lang="en-US" sz="1700" b="1" dirty="0">
                <a:solidFill>
                  <a:srgbClr val="2B2230"/>
                </a:solidFill>
                <a:latin typeface="Cambria" pitchFamily="34" charset="0"/>
                <a:ea typeface="Cambria" pitchFamily="34" charset="-122"/>
                <a:cs typeface="Cambria" pitchFamily="34" charset="-120"/>
              </a:rPr>
              <a:t>Identifying a pregnancy in observational data is a known, nontrivial problem.</a:t>
            </a:r>
            <a:endParaRPr lang="en-US" sz="1700" dirty="0"/>
          </a:p>
        </p:txBody>
      </p:sp>
      <p:sp>
        <p:nvSpPr>
          <p:cNvPr id="7" name="Text 4"/>
          <p:cNvSpPr/>
          <p:nvPr/>
        </p:nvSpPr>
        <p:spPr>
          <a:xfrm>
            <a:off x="1325880" y="2514600"/>
            <a:ext cx="7223760" cy="1828800"/>
          </a:xfrm>
          <a:prstGeom prst="rect">
            <a:avLst/>
          </a:prstGeom>
          <a:noFill/>
          <a:ln/>
        </p:spPr>
        <p:txBody>
          <a:bodyPr wrap="square" lIns="0" tIns="0" rIns="0" bIns="0" rtlCol="0" anchor="ctr"/>
          <a:lstStyle/>
          <a:p>
            <a:pPr marL="203200" indent="-203200">
              <a:spcAft>
                <a:spcPts val="800"/>
              </a:spcAft>
              <a:buSzPct val="100000"/>
              <a:buChar char="•"/>
            </a:pPr>
            <a:r>
              <a:rPr lang="en-US" sz="1350" dirty="0">
                <a:solidFill>
                  <a:srgbClr val="2B2230"/>
                </a:solidFill>
                <a:latin typeface="Calibri" pitchFamily="34" charset="0"/>
                <a:ea typeface="Calibri" pitchFamily="34" charset="-122"/>
                <a:cs typeface="Calibri" pitchFamily="34" charset="-120"/>
              </a:rPr>
              <a:t>A single obstetric code gives you no start date, no end date, no trimester.</a:t>
            </a:r>
            <a:endParaRPr lang="en-US" sz="1350" dirty="0"/>
          </a:p>
          <a:p>
            <a:pPr marL="203200" indent="-203200">
              <a:spcAft>
                <a:spcPts val="800"/>
              </a:spcAft>
              <a:buSzPct val="100000"/>
              <a:buChar char="•"/>
            </a:pPr>
            <a:r>
              <a:rPr lang="en-US" sz="1350" dirty="0">
                <a:solidFill>
                  <a:srgbClr val="2B2230"/>
                </a:solidFill>
                <a:latin typeface="Calibri" pitchFamily="34" charset="0"/>
                <a:ea typeface="Calibri" pitchFamily="34" charset="-122"/>
                <a:cs typeface="Calibri" pitchFamily="34" charset="-120"/>
              </a:rPr>
              <a:t>OHDSI publishes pregnancy episode algorithms that assemble episodes from prenatal visits, gestational-age observations, and delivery and outcome codes.</a:t>
            </a:r>
            <a:endParaRPr lang="en-US" sz="1350" dirty="0"/>
          </a:p>
          <a:p>
            <a:pPr marL="203200" indent="-203200">
              <a:spcAft>
                <a:spcPts val="800"/>
              </a:spcAft>
              <a:buSzPct val="100000"/>
              <a:buChar char="•"/>
            </a:pPr>
            <a:r>
              <a:rPr lang="en-US" sz="1350" dirty="0">
                <a:solidFill>
                  <a:srgbClr val="2B2230"/>
                </a:solidFill>
                <a:latin typeface="Calibri" pitchFamily="34" charset="0"/>
                <a:ea typeface="Calibri" pitchFamily="34" charset="-122"/>
                <a:cs typeface="Calibri" pitchFamily="34" charset="-120"/>
              </a:rPr>
              <a:t>This question needs that timing layer, through “pregestational” and “first trimester.”</a:t>
            </a:r>
            <a:endParaRPr lang="en-US" sz="1350" dirty="0"/>
          </a:p>
          <a:p>
            <a:pPr marL="203200" indent="-203200">
              <a:spcAft>
                <a:spcPts val="800"/>
              </a:spcAft>
              <a:buSzPct val="100000"/>
              <a:buChar char="•"/>
            </a:pPr>
            <a:r>
              <a:rPr lang="en-US" sz="1350" dirty="0">
                <a:solidFill>
                  <a:srgbClr val="2B2230"/>
                </a:solidFill>
                <a:latin typeface="Calibri" pitchFamily="34" charset="0"/>
                <a:ea typeface="Calibri" pitchFamily="34" charset="-122"/>
                <a:cs typeface="Calibri" pitchFamily="34" charset="-120"/>
              </a:rPr>
              <a:t>Put “is a pregnancy episode table or algorithm available?” near the top of your steward questions.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SEGMENT 2 · FIND YOUR DATA STEWARD</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Who runs your OMOP instance</a:t>
            </a:r>
            <a:endParaRPr lang="en-US" sz="3200" dirty="0"/>
          </a:p>
        </p:txBody>
      </p:sp>
      <p:sp>
        <p:nvSpPr>
          <p:cNvPr id="4" name="Shape 2"/>
          <p:cNvSpPr/>
          <p:nvPr/>
        </p:nvSpPr>
        <p:spPr>
          <a:xfrm>
            <a:off x="502920" y="1645920"/>
            <a:ext cx="4251960" cy="2697480"/>
          </a:xfrm>
          <a:prstGeom prst="roundRect">
            <a:avLst>
              <a:gd name="adj" fmla="val 3051"/>
            </a:avLst>
          </a:prstGeom>
          <a:solidFill>
            <a:srgbClr val="F5EDF8"/>
          </a:solidFill>
          <a:ln/>
          <a:effectLst>
            <a:outerShdw sx="100000" sy="100000" kx="0" ky="0" algn="bl" rotWithShape="0" blurRad="88900" dist="25400" dir="5400000">
              <a:srgbClr val="000000">
                <a:alpha val="13000"/>
              </a:srgbClr>
            </a:outerShdw>
          </a:effectLst>
        </p:spPr>
      </p:sp>
      <p:sp>
        <p:nvSpPr>
          <p:cNvPr id="5" name="Text 3"/>
          <p:cNvSpPr/>
          <p:nvPr/>
        </p:nvSpPr>
        <p:spPr>
          <a:xfrm>
            <a:off x="777240" y="1828800"/>
            <a:ext cx="3749040" cy="365760"/>
          </a:xfrm>
          <a:prstGeom prst="rect">
            <a:avLst/>
          </a:prstGeom>
          <a:noFill/>
          <a:ln/>
        </p:spPr>
        <p:txBody>
          <a:bodyPr wrap="square" lIns="0" tIns="0" rIns="0" bIns="0" rtlCol="0" anchor="ctr"/>
          <a:lstStyle/>
          <a:p>
            <a:pPr indent="0" marL="0">
              <a:buNone/>
            </a:pPr>
            <a:r>
              <a:rPr lang="en-US" sz="1500" b="1" dirty="0">
                <a:solidFill>
                  <a:srgbClr val="904199"/>
                </a:solidFill>
                <a:latin typeface="Cambria" pitchFamily="34" charset="0"/>
                <a:ea typeface="Cambria" pitchFamily="34" charset="-122"/>
                <a:cs typeface="Cambria" pitchFamily="34" charset="-120"/>
              </a:rPr>
              <a:t>Try these, in order</a:t>
            </a:r>
            <a:endParaRPr lang="en-US" sz="1500" dirty="0"/>
          </a:p>
        </p:txBody>
      </p:sp>
      <p:sp>
        <p:nvSpPr>
          <p:cNvPr id="6" name="Text 4"/>
          <p:cNvSpPr/>
          <p:nvPr/>
        </p:nvSpPr>
        <p:spPr>
          <a:xfrm>
            <a:off x="777240" y="2286000"/>
            <a:ext cx="3749040" cy="1920240"/>
          </a:xfrm>
          <a:prstGeom prst="rect">
            <a:avLst/>
          </a:prstGeom>
          <a:noFill/>
          <a:ln/>
        </p:spPr>
        <p:txBody>
          <a:bodyPr wrap="square" lIns="0" tIns="0" rIns="0" bIns="0" rtlCol="0" anchor="ctr"/>
          <a:lstStyle/>
          <a:p>
            <a:pPr marL="177800" indent="-177800">
              <a:spcAft>
                <a:spcPts val="700"/>
              </a:spcAft>
              <a:buSzPct val="100000"/>
              <a:buChar char="•"/>
            </a:pPr>
            <a:r>
              <a:rPr lang="en-US" sz="1300" dirty="0">
                <a:solidFill>
                  <a:srgbClr val="2B2230"/>
                </a:solidFill>
                <a:latin typeface="Calibri" pitchFamily="34" charset="0"/>
                <a:ea typeface="Calibri" pitchFamily="34" charset="-122"/>
                <a:cs typeface="Calibri" pitchFamily="34" charset="-120"/>
              </a:rPr>
              <a:t>CTSA / CTSI informatics core</a:t>
            </a:r>
            <a:endParaRPr lang="en-US" sz="1300" dirty="0"/>
          </a:p>
          <a:p>
            <a:pPr marL="177800" indent="-177800">
              <a:spcAft>
                <a:spcPts val="700"/>
              </a:spcAft>
              <a:buSzPct val="100000"/>
              <a:buChar char="•"/>
            </a:pPr>
            <a:r>
              <a:rPr lang="en-US" sz="1300" dirty="0">
                <a:solidFill>
                  <a:srgbClr val="2B2230"/>
                </a:solidFill>
                <a:latin typeface="Calibri" pitchFamily="34" charset="0"/>
                <a:ea typeface="Calibri" pitchFamily="34" charset="-122"/>
                <a:cs typeface="Calibri" pitchFamily="34" charset="-120"/>
              </a:rPr>
              <a:t>Enterprise data warehouse / research analytics</a:t>
            </a:r>
            <a:endParaRPr lang="en-US" sz="1300" dirty="0"/>
          </a:p>
          <a:p>
            <a:pPr marL="177800" indent="-177800">
              <a:spcAft>
                <a:spcPts val="700"/>
              </a:spcAft>
              <a:buSzPct val="100000"/>
              <a:buChar char="•"/>
            </a:pPr>
            <a:r>
              <a:rPr lang="en-US" sz="1300" dirty="0">
                <a:solidFill>
                  <a:srgbClr val="2B2230"/>
                </a:solidFill>
                <a:latin typeface="Calibri" pitchFamily="34" charset="0"/>
                <a:ea typeface="Calibri" pitchFamily="34" charset="-122"/>
                <a:cs typeface="Calibri" pitchFamily="34" charset="-120"/>
              </a:rPr>
              <a:t>Biomedical informatics department</a:t>
            </a:r>
            <a:endParaRPr lang="en-US" sz="1300" dirty="0"/>
          </a:p>
          <a:p>
            <a:pPr marL="177800" indent="-177800">
              <a:spcAft>
                <a:spcPts val="700"/>
              </a:spcAft>
              <a:buSzPct val="100000"/>
              <a:buChar char="•"/>
            </a:pPr>
            <a:r>
              <a:rPr lang="en-US" sz="1300" dirty="0">
                <a:solidFill>
                  <a:srgbClr val="2B2230"/>
                </a:solidFill>
                <a:latin typeface="Calibri" pitchFamily="34" charset="0"/>
                <a:ea typeface="Calibri" pitchFamily="34" charset="-122"/>
                <a:cs typeface="Calibri" pitchFamily="34" charset="-120"/>
              </a:rPr>
              <a:t>Honest broker / research data request service</a:t>
            </a:r>
            <a:endParaRPr lang="en-US" sz="1300" dirty="0"/>
          </a:p>
          <a:p>
            <a:pPr marL="177800" indent="-177800">
              <a:spcAft>
                <a:spcPts val="700"/>
              </a:spcAft>
              <a:buSzPct val="100000"/>
              <a:buChar char="•"/>
            </a:pPr>
            <a:r>
              <a:rPr lang="en-US" sz="1300" dirty="0">
                <a:solidFill>
                  <a:srgbClr val="2B2230"/>
                </a:solidFill>
                <a:latin typeface="Calibri" pitchFamily="34" charset="0"/>
                <a:ea typeface="Calibri" pitchFamily="34" charset="-122"/>
                <a:cs typeface="Calibri" pitchFamily="34" charset="-120"/>
              </a:rPr>
              <a:t>Health sciences library data services</a:t>
            </a:r>
            <a:endParaRPr lang="en-US" sz="1300" dirty="0"/>
          </a:p>
        </p:txBody>
      </p:sp>
      <p:sp>
        <p:nvSpPr>
          <p:cNvPr id="7" name="Shape 5"/>
          <p:cNvSpPr/>
          <p:nvPr/>
        </p:nvSpPr>
        <p:spPr>
          <a:xfrm>
            <a:off x="4937760" y="1645920"/>
            <a:ext cx="3703320" cy="2697480"/>
          </a:xfrm>
          <a:prstGeom prst="roundRect">
            <a:avLst>
              <a:gd name="adj" fmla="val 3051"/>
            </a:avLst>
          </a:prstGeom>
          <a:solidFill>
            <a:srgbClr val="FDF2E3"/>
          </a:solidFill>
          <a:ln/>
          <a:effectLst>
            <a:outerShdw sx="100000" sy="100000" kx="0" ky="0" algn="bl" rotWithShape="0" blurRad="88900" dist="25400" dir="5400000">
              <a:srgbClr val="000000">
                <a:alpha val="13000"/>
              </a:srgbClr>
            </a:outerShdw>
          </a:effectLst>
        </p:spPr>
      </p:sp>
      <p:sp>
        <p:nvSpPr>
          <p:cNvPr id="8" name="Shape 6"/>
          <p:cNvSpPr/>
          <p:nvPr/>
        </p:nvSpPr>
        <p:spPr>
          <a:xfrm>
            <a:off x="5193792" y="1874520"/>
            <a:ext cx="457200" cy="457200"/>
          </a:xfrm>
          <a:prstGeom prst="ellipse">
            <a:avLst/>
          </a:prstGeom>
          <a:solidFill>
            <a:srgbClr val="E8890C"/>
          </a:solidFill>
          <a:ln/>
        </p:spPr>
      </p:sp>
      <p:pic>
        <p:nvPicPr>
          <p:cNvPr id="9" name="Image 0" descr="preencoded.png">    </p:cNvPr>
          <p:cNvPicPr>
            <a:picLocks noChangeAspect="1"/>
          </p:cNvPicPr>
          <p:nvPr/>
        </p:nvPicPr>
        <p:blipFill>
          <a:blip r:embed="rId1"/>
          <a:stretch>
            <a:fillRect/>
          </a:stretch>
        </p:blipFill>
        <p:spPr>
          <a:xfrm>
            <a:off x="5298948" y="1979676"/>
            <a:ext cx="246888" cy="246888"/>
          </a:xfrm>
          <a:prstGeom prst="rect">
            <a:avLst/>
          </a:prstGeom>
        </p:spPr>
      </p:pic>
      <p:sp>
        <p:nvSpPr>
          <p:cNvPr id="10" name="Text 7"/>
          <p:cNvSpPr/>
          <p:nvPr/>
        </p:nvSpPr>
        <p:spPr>
          <a:xfrm>
            <a:off x="5779008" y="1883664"/>
            <a:ext cx="2651760" cy="411480"/>
          </a:xfrm>
          <a:prstGeom prst="rect">
            <a:avLst/>
          </a:prstGeom>
          <a:noFill/>
          <a:ln/>
        </p:spPr>
        <p:txBody>
          <a:bodyPr wrap="square" lIns="0" tIns="0" rIns="0" bIns="0" rtlCol="0" anchor="ctr"/>
          <a:lstStyle/>
          <a:p>
            <a:pPr indent="0" marL="0">
              <a:buNone/>
            </a:pPr>
            <a:r>
              <a:rPr lang="en-US" sz="1500" b="1" dirty="0">
                <a:solidFill>
                  <a:srgbClr val="B45309"/>
                </a:solidFill>
                <a:latin typeface="Cambria" pitchFamily="34" charset="0"/>
                <a:ea typeface="Cambria" pitchFamily="34" charset="-122"/>
                <a:cs typeface="Cambria" pitchFamily="34" charset="-120"/>
              </a:rPr>
              <a:t>Ask for OMOP by name</a:t>
            </a:r>
            <a:endParaRPr lang="en-US" sz="1500" dirty="0"/>
          </a:p>
        </p:txBody>
      </p:sp>
      <p:sp>
        <p:nvSpPr>
          <p:cNvPr id="11" name="Text 8"/>
          <p:cNvSpPr/>
          <p:nvPr/>
        </p:nvSpPr>
        <p:spPr>
          <a:xfrm>
            <a:off x="5193792" y="2423160"/>
            <a:ext cx="3246120" cy="640080"/>
          </a:xfrm>
          <a:prstGeom prst="rect">
            <a:avLst/>
          </a:prstGeom>
          <a:noFill/>
          <a:ln/>
        </p:spPr>
        <p:txBody>
          <a:bodyPr wrap="square" lIns="0" tIns="0" rIns="0" bIns="0" rtlCol="0" anchor="ctr"/>
          <a:lstStyle/>
          <a:p>
            <a:pPr indent="0" marL="0">
              <a:buNone/>
            </a:pPr>
            <a:r>
              <a:rPr lang="en-US" sz="1250" dirty="0">
                <a:solidFill>
                  <a:srgbClr val="2B2230"/>
                </a:solidFill>
                <a:latin typeface="Calibri" pitchFamily="34" charset="0"/>
                <a:ea typeface="Calibri" pitchFamily="34" charset="-122"/>
                <a:cs typeface="Calibri" pitchFamily="34" charset="-120"/>
              </a:rPr>
              <a:t>“The research database” might get you a lookalike with different tools and governance:</a:t>
            </a:r>
            <a:endParaRPr lang="en-US" sz="1250" dirty="0"/>
          </a:p>
        </p:txBody>
      </p:sp>
      <p:sp>
        <p:nvSpPr>
          <p:cNvPr id="12" name="Text 9"/>
          <p:cNvSpPr/>
          <p:nvPr/>
        </p:nvSpPr>
        <p:spPr>
          <a:xfrm>
            <a:off x="5193792" y="3063240"/>
            <a:ext cx="3246120" cy="457200"/>
          </a:xfrm>
          <a:prstGeom prst="rect">
            <a:avLst/>
          </a:prstGeom>
          <a:noFill/>
          <a:ln/>
        </p:spPr>
        <p:txBody>
          <a:bodyPr wrap="square" lIns="0" tIns="0" rIns="0" bIns="0" rtlCol="0" anchor="ctr"/>
          <a:lstStyle/>
          <a:p>
            <a:pPr indent="0" marL="0">
              <a:buNone/>
            </a:pPr>
            <a:r>
              <a:rPr lang="en-US" sz="1300" b="1" i="1" dirty="0">
                <a:solidFill>
                  <a:srgbClr val="B45309"/>
                </a:solidFill>
                <a:latin typeface="Calibri" pitchFamily="34" charset="0"/>
                <a:ea typeface="Calibri" pitchFamily="34" charset="-122"/>
                <a:cs typeface="Calibri" pitchFamily="34" charset="-120"/>
              </a:rPr>
              <a:t>TriNetX · Epic Cosmos · All of Us · PCORnet CDM</a:t>
            </a:r>
            <a:endParaRPr lang="en-US" sz="1300" dirty="0"/>
          </a:p>
        </p:txBody>
      </p:sp>
      <p:sp>
        <p:nvSpPr>
          <p:cNvPr id="13" name="Text 10"/>
          <p:cNvSpPr/>
          <p:nvPr/>
        </p:nvSpPr>
        <p:spPr>
          <a:xfrm>
            <a:off x="5193792" y="3566160"/>
            <a:ext cx="3246120" cy="640080"/>
          </a:xfrm>
          <a:prstGeom prst="rect">
            <a:avLst/>
          </a:prstGeom>
          <a:noFill/>
          <a:ln/>
        </p:spPr>
        <p:txBody>
          <a:bodyPr wrap="square" lIns="0" tIns="0" rIns="0" bIns="0" rtlCol="0" anchor="ctr"/>
          <a:lstStyle/>
          <a:p>
            <a:pPr indent="0" marL="0">
              <a:buNone/>
            </a:pPr>
            <a:r>
              <a:rPr lang="en-US" sz="1250" dirty="0">
                <a:solidFill>
                  <a:srgbClr val="2B2230"/>
                </a:solidFill>
                <a:latin typeface="Calibri" pitchFamily="34" charset="0"/>
                <a:ea typeface="Calibri" pitchFamily="34" charset="-122"/>
                <a:cs typeface="Calibri" pitchFamily="34" charset="-120"/>
              </a:rPr>
              <a:t>Ask for “the OMOP CDM instance and ATLAS access.” That is what the OHDSI tools run 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THE QUESTIONS THAT CLOSE OFF FAILURE MODES</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What to ask them</a:t>
            </a:r>
            <a:endParaRPr lang="en-US" sz="3200" dirty="0"/>
          </a:p>
        </p:txBody>
      </p:sp>
      <p:sp>
        <p:nvSpPr>
          <p:cNvPr id="4" name="Text 2"/>
          <p:cNvSpPr/>
          <p:nvPr/>
        </p:nvSpPr>
        <p:spPr>
          <a:xfrm>
            <a:off x="502920" y="1572768"/>
            <a:ext cx="3931920" cy="320040"/>
          </a:xfrm>
          <a:prstGeom prst="rect">
            <a:avLst/>
          </a:prstGeom>
          <a:noFill/>
          <a:ln/>
        </p:spPr>
        <p:txBody>
          <a:bodyPr wrap="square" lIns="0" tIns="0" rIns="0" bIns="0" rtlCol="0" anchor="ctr"/>
          <a:lstStyle/>
          <a:p>
            <a:pPr indent="0" marL="0">
              <a:buNone/>
            </a:pPr>
            <a:r>
              <a:rPr lang="en-US" sz="1450" b="1" dirty="0">
                <a:solidFill>
                  <a:srgbClr val="904199"/>
                </a:solidFill>
                <a:latin typeface="Cambria" pitchFamily="34" charset="0"/>
                <a:ea typeface="Cambria" pitchFamily="34" charset="-122"/>
                <a:cs typeface="Cambria" pitchFamily="34" charset="-120"/>
              </a:rPr>
              <a:t>Source &amp; scope</a:t>
            </a:r>
            <a:endParaRPr lang="en-US" sz="1450" dirty="0"/>
          </a:p>
        </p:txBody>
      </p:sp>
      <p:sp>
        <p:nvSpPr>
          <p:cNvPr id="5" name="Text 3"/>
          <p:cNvSpPr/>
          <p:nvPr/>
        </p:nvSpPr>
        <p:spPr>
          <a:xfrm>
            <a:off x="502920" y="1901952"/>
            <a:ext cx="3977640" cy="960120"/>
          </a:xfrm>
          <a:prstGeom prst="rect">
            <a:avLst/>
          </a:prstGeom>
          <a:noFill/>
          <a:ln/>
        </p:spPr>
        <p:txBody>
          <a:bodyPr wrap="square" lIns="0" tIns="0" rIns="0" bIns="0" rtlCol="0" anchor="ctr"/>
          <a:lstStyle/>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EHR, claims, or both? Which EHR?</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Which facilities, what date range?</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Childbearing age &amp; obstetric care captured?</a:t>
            </a:r>
            <a:endParaRPr lang="en-US" sz="1180" dirty="0"/>
          </a:p>
        </p:txBody>
      </p:sp>
      <p:sp>
        <p:nvSpPr>
          <p:cNvPr id="6" name="Text 4"/>
          <p:cNvSpPr/>
          <p:nvPr/>
        </p:nvSpPr>
        <p:spPr>
          <a:xfrm>
            <a:off x="4663440" y="1572768"/>
            <a:ext cx="3931920" cy="320040"/>
          </a:xfrm>
          <a:prstGeom prst="rect">
            <a:avLst/>
          </a:prstGeom>
          <a:noFill/>
          <a:ln/>
        </p:spPr>
        <p:txBody>
          <a:bodyPr wrap="square" lIns="0" tIns="0" rIns="0" bIns="0" rtlCol="0" anchor="ctr"/>
          <a:lstStyle/>
          <a:p>
            <a:pPr indent="0" marL="0">
              <a:buNone/>
            </a:pPr>
            <a:r>
              <a:rPr lang="en-US" sz="1450" b="1" dirty="0">
                <a:solidFill>
                  <a:srgbClr val="904199"/>
                </a:solidFill>
                <a:latin typeface="Cambria" pitchFamily="34" charset="0"/>
                <a:ea typeface="Cambria" pitchFamily="34" charset="-122"/>
                <a:cs typeface="Cambria" pitchFamily="34" charset="-120"/>
              </a:rPr>
              <a:t>Model &amp; mapping</a:t>
            </a:r>
            <a:endParaRPr lang="en-US" sz="1450" dirty="0"/>
          </a:p>
        </p:txBody>
      </p:sp>
      <p:sp>
        <p:nvSpPr>
          <p:cNvPr id="7" name="Text 5"/>
          <p:cNvSpPr/>
          <p:nvPr/>
        </p:nvSpPr>
        <p:spPr>
          <a:xfrm>
            <a:off x="4663440" y="1901952"/>
            <a:ext cx="3977640" cy="960120"/>
          </a:xfrm>
          <a:prstGeom prst="rect">
            <a:avLst/>
          </a:prstGeom>
          <a:noFill/>
          <a:ln/>
        </p:spPr>
        <p:txBody>
          <a:bodyPr wrap="square" lIns="0" tIns="0" rIns="0" bIns="0" rtlCol="0" anchor="ctr"/>
          <a:lstStyle/>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CDM version (5.3 / 5.4) and vocab release?</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Which domains are populated well?</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Unmapped rate for conditions and drugs?</a:t>
            </a:r>
            <a:endParaRPr lang="en-US" sz="1180" dirty="0"/>
          </a:p>
        </p:txBody>
      </p:sp>
      <p:sp>
        <p:nvSpPr>
          <p:cNvPr id="8" name="Text 6"/>
          <p:cNvSpPr/>
          <p:nvPr/>
        </p:nvSpPr>
        <p:spPr>
          <a:xfrm>
            <a:off x="502920" y="2944368"/>
            <a:ext cx="3931920" cy="320040"/>
          </a:xfrm>
          <a:prstGeom prst="rect">
            <a:avLst/>
          </a:prstGeom>
          <a:noFill/>
          <a:ln/>
        </p:spPr>
        <p:txBody>
          <a:bodyPr wrap="square" lIns="0" tIns="0" rIns="0" bIns="0" rtlCol="0" anchor="ctr"/>
          <a:lstStyle/>
          <a:p>
            <a:pPr indent="0" marL="0">
              <a:buNone/>
            </a:pPr>
            <a:r>
              <a:rPr lang="en-US" sz="1450" b="1" dirty="0">
                <a:solidFill>
                  <a:srgbClr val="904199"/>
                </a:solidFill>
                <a:latin typeface="Cambria" pitchFamily="34" charset="0"/>
                <a:ea typeface="Cambria" pitchFamily="34" charset="-122"/>
                <a:cs typeface="Cambria" pitchFamily="34" charset="-120"/>
              </a:rPr>
              <a:t>Quality</a:t>
            </a:r>
            <a:endParaRPr lang="en-US" sz="1450" dirty="0"/>
          </a:p>
        </p:txBody>
      </p:sp>
      <p:sp>
        <p:nvSpPr>
          <p:cNvPr id="9" name="Text 7"/>
          <p:cNvSpPr/>
          <p:nvPr/>
        </p:nvSpPr>
        <p:spPr>
          <a:xfrm>
            <a:off x="502920" y="3273552"/>
            <a:ext cx="3977640" cy="960120"/>
          </a:xfrm>
          <a:prstGeom prst="rect">
            <a:avLst/>
          </a:prstGeom>
          <a:noFill/>
          <a:ln/>
        </p:spPr>
        <p:txBody>
          <a:bodyPr wrap="square" lIns="0" tIns="0" rIns="0" bIns="0" rtlCol="0" anchor="ctr"/>
          <a:lstStyle/>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Has Achilles been run? Can you see it?</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Has the Data Quality Dashboard run?</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Pregnancy episode table or algorithm?</a:t>
            </a:r>
            <a:endParaRPr lang="en-US" sz="1180" dirty="0"/>
          </a:p>
        </p:txBody>
      </p:sp>
      <p:sp>
        <p:nvSpPr>
          <p:cNvPr id="10" name="Text 8"/>
          <p:cNvSpPr/>
          <p:nvPr/>
        </p:nvSpPr>
        <p:spPr>
          <a:xfrm>
            <a:off x="4663440" y="2944368"/>
            <a:ext cx="3931920" cy="320040"/>
          </a:xfrm>
          <a:prstGeom prst="rect">
            <a:avLst/>
          </a:prstGeom>
          <a:noFill/>
          <a:ln/>
        </p:spPr>
        <p:txBody>
          <a:bodyPr wrap="square" lIns="0" tIns="0" rIns="0" bIns="0" rtlCol="0" anchor="ctr"/>
          <a:lstStyle/>
          <a:p>
            <a:pPr indent="0" marL="0">
              <a:buNone/>
            </a:pPr>
            <a:r>
              <a:rPr lang="en-US" sz="1450" b="1" dirty="0">
                <a:solidFill>
                  <a:srgbClr val="904199"/>
                </a:solidFill>
                <a:latin typeface="Cambria" pitchFamily="34" charset="0"/>
                <a:ea typeface="Cambria" pitchFamily="34" charset="-122"/>
                <a:cs typeface="Cambria" pitchFamily="34" charset="-120"/>
              </a:rPr>
              <a:t>Access &amp; governance</a:t>
            </a:r>
            <a:endParaRPr lang="en-US" sz="1450" dirty="0"/>
          </a:p>
        </p:txBody>
      </p:sp>
      <p:sp>
        <p:nvSpPr>
          <p:cNvPr id="11" name="Text 9"/>
          <p:cNvSpPr/>
          <p:nvPr/>
        </p:nvSpPr>
        <p:spPr>
          <a:xfrm>
            <a:off x="4663440" y="3273552"/>
            <a:ext cx="3977640" cy="960120"/>
          </a:xfrm>
          <a:prstGeom prst="rect">
            <a:avLst/>
          </a:prstGeom>
          <a:noFill/>
          <a:ln/>
        </p:spPr>
        <p:txBody>
          <a:bodyPr wrap="square" lIns="0" tIns="0" rIns="0" bIns="0" rtlCol="0" anchor="ctr"/>
          <a:lstStyle/>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ATLAS, R, SQL, or request-and-return?</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Training, IRB, or DUA required?</a:t>
            </a:r>
            <a:endParaRPr lang="en-US" sz="1180" dirty="0"/>
          </a:p>
          <a:p>
            <a:pPr marL="152400" indent="-152400">
              <a:spcAft>
                <a:spcPts val="400"/>
              </a:spcAft>
              <a:buSzPct val="100000"/>
              <a:buChar char="•"/>
            </a:pPr>
            <a:r>
              <a:rPr lang="en-US" sz="1180" dirty="0">
                <a:solidFill>
                  <a:srgbClr val="2B2230"/>
                </a:solidFill>
                <a:latin typeface="Calibri" pitchFamily="34" charset="0"/>
                <a:ea typeface="Calibri" pitchFamily="34" charset="-122"/>
                <a:cs typeface="Calibri" pitchFamily="34" charset="-120"/>
              </a:rPr>
              <a:t>Are counts allowed before full IRB?</a:t>
            </a:r>
            <a:endParaRPr lang="en-US" sz="11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SEGMENT 3 · VOCABULARY ESSENTIALS</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Two ideas that clear up most confusion</a:t>
            </a:r>
            <a:endParaRPr lang="en-US" sz="3200" dirty="0"/>
          </a:p>
        </p:txBody>
      </p:sp>
      <p:sp>
        <p:nvSpPr>
          <p:cNvPr id="4" name="Shape 2"/>
          <p:cNvSpPr/>
          <p:nvPr/>
        </p:nvSpPr>
        <p:spPr>
          <a:xfrm>
            <a:off x="502920" y="1691640"/>
            <a:ext cx="3977640" cy="2331720"/>
          </a:xfrm>
          <a:prstGeom prst="roundRect">
            <a:avLst>
              <a:gd name="adj" fmla="val 3529"/>
            </a:avLst>
          </a:prstGeom>
          <a:solidFill>
            <a:srgbClr val="F5EDF8"/>
          </a:solidFill>
          <a:ln/>
          <a:effectLst>
            <a:outerShdw sx="100000" sy="100000" kx="0" ky="0" algn="bl" rotWithShape="0" blurRad="88900" dist="25400" dir="5400000">
              <a:srgbClr val="000000">
                <a:alpha val="13000"/>
              </a:srgbClr>
            </a:outerShdw>
          </a:effectLst>
        </p:spPr>
      </p:sp>
      <p:sp>
        <p:nvSpPr>
          <p:cNvPr id="5" name="Shape 3"/>
          <p:cNvSpPr/>
          <p:nvPr/>
        </p:nvSpPr>
        <p:spPr>
          <a:xfrm>
            <a:off x="777240" y="1938528"/>
            <a:ext cx="502920" cy="502920"/>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892912" y="2054200"/>
            <a:ext cx="271577" cy="271577"/>
          </a:xfrm>
          <a:prstGeom prst="rect">
            <a:avLst/>
          </a:prstGeom>
        </p:spPr>
      </p:pic>
      <p:sp>
        <p:nvSpPr>
          <p:cNvPr id="7" name="Text 4"/>
          <p:cNvSpPr/>
          <p:nvPr/>
        </p:nvSpPr>
        <p:spPr>
          <a:xfrm>
            <a:off x="1417320" y="1947672"/>
            <a:ext cx="2743200" cy="457200"/>
          </a:xfrm>
          <a:prstGeom prst="rect">
            <a:avLst/>
          </a:prstGeom>
          <a:noFill/>
          <a:ln/>
        </p:spPr>
        <p:txBody>
          <a:bodyPr wrap="square" lIns="0" tIns="0" rIns="0" bIns="0" rtlCol="0" anchor="ctr"/>
          <a:lstStyle/>
          <a:p>
            <a:pPr indent="0" marL="0">
              <a:buNone/>
            </a:pPr>
            <a:r>
              <a:rPr lang="en-US" sz="1800" b="1" dirty="0">
                <a:solidFill>
                  <a:srgbClr val="904199"/>
                </a:solidFill>
                <a:latin typeface="Cambria" pitchFamily="34" charset="0"/>
                <a:ea typeface="Cambria" pitchFamily="34" charset="-122"/>
                <a:cs typeface="Cambria" pitchFamily="34" charset="-120"/>
              </a:rPr>
              <a:t>Existence</a:t>
            </a:r>
            <a:endParaRPr lang="en-US" sz="1800" dirty="0"/>
          </a:p>
        </p:txBody>
      </p:sp>
      <p:sp>
        <p:nvSpPr>
          <p:cNvPr id="8" name="Text 5"/>
          <p:cNvSpPr/>
          <p:nvPr/>
        </p:nvSpPr>
        <p:spPr>
          <a:xfrm>
            <a:off x="777240" y="2560320"/>
            <a:ext cx="3429000" cy="1280160"/>
          </a:xfrm>
          <a:prstGeom prst="rect">
            <a:avLst/>
          </a:prstGeom>
          <a:noFill/>
          <a:ln/>
        </p:spPr>
        <p:txBody>
          <a:bodyPr wrap="square" lIns="0" tIns="0" rIns="0" bIns="0" rtlCol="0" anchor="ctr"/>
          <a:lstStyle/>
          <a:p>
            <a:pPr indent="0" marL="0">
              <a:buNone/>
            </a:pPr>
            <a:r>
              <a:rPr lang="en-US" sz="1350" dirty="0">
                <a:solidFill>
                  <a:srgbClr val="2B2230"/>
                </a:solidFill>
                <a:latin typeface="Calibri" pitchFamily="34" charset="0"/>
                <a:ea typeface="Calibri" pitchFamily="34" charset="-122"/>
                <a:cs typeface="Calibri" pitchFamily="34" charset="-120"/>
              </a:rPr>
              <a:t>Is there a standard concept for this idea? A property of the vocabulary. The same at every site. Usually yes, and easy to check.</a:t>
            </a:r>
            <a:endParaRPr lang="en-US" sz="1350" dirty="0"/>
          </a:p>
        </p:txBody>
      </p:sp>
      <p:sp>
        <p:nvSpPr>
          <p:cNvPr id="9" name="Shape 6"/>
          <p:cNvSpPr/>
          <p:nvPr/>
        </p:nvSpPr>
        <p:spPr>
          <a:xfrm>
            <a:off x="4663440" y="1691640"/>
            <a:ext cx="3977640" cy="2331720"/>
          </a:xfrm>
          <a:prstGeom prst="roundRect">
            <a:avLst>
              <a:gd name="adj" fmla="val 3529"/>
            </a:avLst>
          </a:prstGeom>
          <a:solidFill>
            <a:srgbClr val="FDF2E3"/>
          </a:solidFill>
          <a:ln/>
          <a:effectLst>
            <a:outerShdw sx="100000" sy="100000" kx="0" ky="0" algn="bl" rotWithShape="0" blurRad="88900" dist="25400" dir="5400000">
              <a:srgbClr val="000000">
                <a:alpha val="13000"/>
              </a:srgbClr>
            </a:outerShdw>
          </a:effectLst>
        </p:spPr>
      </p:sp>
      <p:sp>
        <p:nvSpPr>
          <p:cNvPr id="10" name="Shape 7"/>
          <p:cNvSpPr/>
          <p:nvPr/>
        </p:nvSpPr>
        <p:spPr>
          <a:xfrm>
            <a:off x="4937760" y="1938528"/>
            <a:ext cx="502920" cy="502920"/>
          </a:xfrm>
          <a:prstGeom prst="ellipse">
            <a:avLst/>
          </a:prstGeom>
          <a:solidFill>
            <a:srgbClr val="E8890C"/>
          </a:solidFill>
          <a:ln/>
        </p:spPr>
      </p:sp>
      <p:pic>
        <p:nvPicPr>
          <p:cNvPr id="11" name="Image 1" descr="preencoded.png">    </p:cNvPr>
          <p:cNvPicPr>
            <a:picLocks noChangeAspect="1"/>
          </p:cNvPicPr>
          <p:nvPr/>
        </p:nvPicPr>
        <p:blipFill>
          <a:blip r:embed="rId2"/>
          <a:stretch>
            <a:fillRect/>
          </a:stretch>
        </p:blipFill>
        <p:spPr>
          <a:xfrm>
            <a:off x="5053432" y="2054200"/>
            <a:ext cx="271577" cy="271577"/>
          </a:xfrm>
          <a:prstGeom prst="rect">
            <a:avLst/>
          </a:prstGeom>
        </p:spPr>
      </p:pic>
      <p:sp>
        <p:nvSpPr>
          <p:cNvPr id="12" name="Text 8"/>
          <p:cNvSpPr/>
          <p:nvPr/>
        </p:nvSpPr>
        <p:spPr>
          <a:xfrm>
            <a:off x="5577840" y="1947672"/>
            <a:ext cx="27432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Presence</a:t>
            </a:r>
            <a:endParaRPr lang="en-US" sz="1800" dirty="0"/>
          </a:p>
        </p:txBody>
      </p:sp>
      <p:sp>
        <p:nvSpPr>
          <p:cNvPr id="13" name="Text 9"/>
          <p:cNvSpPr/>
          <p:nvPr/>
        </p:nvSpPr>
        <p:spPr>
          <a:xfrm>
            <a:off x="4937760" y="2560320"/>
            <a:ext cx="3429000" cy="1280160"/>
          </a:xfrm>
          <a:prstGeom prst="rect">
            <a:avLst/>
          </a:prstGeom>
          <a:noFill/>
          <a:ln/>
        </p:spPr>
        <p:txBody>
          <a:bodyPr wrap="square" lIns="0" tIns="0" rIns="0" bIns="0" rtlCol="0" anchor="ctr"/>
          <a:lstStyle/>
          <a:p>
            <a:pPr indent="0" marL="0">
              <a:buNone/>
            </a:pPr>
            <a:r>
              <a:rPr lang="en-US" sz="1350" dirty="0">
                <a:solidFill>
                  <a:srgbClr val="2B2230"/>
                </a:solidFill>
                <a:latin typeface="Calibri" pitchFamily="34" charset="0"/>
                <a:ea typeface="Calibri" pitchFamily="34" charset="-122"/>
                <a:cs typeface="Calibri" pitchFamily="34" charset="-120"/>
              </a:rPr>
              <a:t>Does the concept actually appear in this instance, in enough records? A property of the data. The whole game.</a:t>
            </a:r>
            <a:endParaRPr lang="en-US" sz="1350" dirty="0"/>
          </a:p>
        </p:txBody>
      </p:sp>
      <p:sp>
        <p:nvSpPr>
          <p:cNvPr id="14" name="Text 10"/>
          <p:cNvSpPr/>
          <p:nvPr/>
        </p:nvSpPr>
        <p:spPr>
          <a:xfrm>
            <a:off x="502920" y="4206240"/>
            <a:ext cx="8229600" cy="548640"/>
          </a:xfrm>
          <a:prstGeom prst="rect">
            <a:avLst/>
          </a:prstGeom>
          <a:noFill/>
          <a:ln/>
        </p:spPr>
        <p:txBody>
          <a:bodyPr wrap="square" lIns="0" tIns="0" rIns="0" bIns="0" rtlCol="0" anchor="ctr"/>
          <a:lstStyle/>
          <a:p>
            <a:pPr indent="0" marL="0">
              <a:buNone/>
            </a:pPr>
            <a:r>
              <a:rPr lang="en-US" sz="1250" dirty="0">
                <a:solidFill>
                  <a:srgbClr val="2B2230"/>
                </a:solidFill>
                <a:latin typeface="Calibri" pitchFamily="34" charset="0"/>
                <a:ea typeface="Calibri" pitchFamily="34" charset="-122"/>
                <a:cs typeface="Calibri" pitchFamily="34" charset="-120"/>
              </a:rPr>
              <a:t>Also: build cohorts from </a:t>
            </a:r>
            <a:pPr indent="0" marL="0">
              <a:buNone/>
            </a:pPr>
            <a:r>
              <a:rPr lang="en-US" sz="1250" b="1" dirty="0">
                <a:solidFill>
                  <a:srgbClr val="904199"/>
                </a:solidFill>
                <a:latin typeface="Calibri" pitchFamily="34" charset="0"/>
                <a:ea typeface="Calibri" pitchFamily="34" charset="-122"/>
                <a:cs typeface="Calibri" pitchFamily="34" charset="-120"/>
              </a:rPr>
              <a:t>standard concepts</a:t>
            </a:r>
            <a:pPr indent="0" marL="0">
              <a:buNone/>
            </a:pPr>
            <a:r>
              <a:rPr lang="en-US" sz="1250" dirty="0">
                <a:solidFill>
                  <a:srgbClr val="2B2230"/>
                </a:solidFill>
                <a:latin typeface="Calibri" pitchFamily="34" charset="0"/>
                <a:ea typeface="Calibri" pitchFamily="34" charset="-122"/>
                <a:cs typeface="Calibri" pitchFamily="34" charset="-120"/>
              </a:rPr>
              <a:t> (SNOMED, RxNorm, LOINC). Source codes like ICD-10 and NDC are mapped to them during ETL. An unmapped code is invisible to a standard-concept query.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CHECK THE DOMAIN BEFORE YOU COUNT</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Domains decide where to look</a:t>
            </a:r>
            <a:endParaRPr lang="en-US" sz="3200" dirty="0"/>
          </a:p>
        </p:txBody>
      </p:sp>
      <p:sp>
        <p:nvSpPr>
          <p:cNvPr id="4" name="Text 2"/>
          <p:cNvSpPr/>
          <p:nvPr/>
        </p:nvSpPr>
        <p:spPr>
          <a:xfrm>
            <a:off x="548640" y="1691640"/>
            <a:ext cx="2743200" cy="457200"/>
          </a:xfrm>
          <a:prstGeom prst="rect">
            <a:avLst/>
          </a:prstGeom>
          <a:noFill/>
          <a:ln/>
        </p:spPr>
        <p:txBody>
          <a:bodyPr wrap="square" lIns="0" tIns="0" rIns="0" bIns="0" rtlCol="0" anchor="ctr"/>
          <a:lstStyle/>
          <a:p>
            <a:pPr indent="0" marL="0">
              <a:buNone/>
            </a:pPr>
            <a:r>
              <a:rPr lang="en-US" sz="1400" b="1" dirty="0">
                <a:solidFill>
                  <a:srgbClr val="2B2230"/>
                </a:solidFill>
                <a:latin typeface="Calibri" pitchFamily="34" charset="0"/>
                <a:ea typeface="Calibri" pitchFamily="34" charset="-122"/>
                <a:cs typeface="Calibri" pitchFamily="34" charset="-120"/>
              </a:rPr>
              <a:t>Preeclampsia</a:t>
            </a:r>
            <a:endParaRPr lang="en-US" sz="1400" dirty="0"/>
          </a:p>
        </p:txBody>
      </p:sp>
      <p:sp>
        <p:nvSpPr>
          <p:cNvPr id="5" name="Shape 3"/>
          <p:cNvSpPr/>
          <p:nvPr/>
        </p:nvSpPr>
        <p:spPr>
          <a:xfrm>
            <a:off x="3246120" y="1783080"/>
            <a:ext cx="292608" cy="292608"/>
          </a:xfrm>
          <a:prstGeom prst="ellipse">
            <a:avLst/>
          </a:prstGeom>
          <a:solidFill>
            <a:srgbClr val="F5EDF8"/>
          </a:solidFill>
          <a:ln/>
        </p:spPr>
      </p:sp>
      <p:pic>
        <p:nvPicPr>
          <p:cNvPr id="6" name="Image 0" descr="preencoded.png">    </p:cNvPr>
          <p:cNvPicPr>
            <a:picLocks noChangeAspect="1"/>
          </p:cNvPicPr>
          <p:nvPr/>
        </p:nvPicPr>
        <p:blipFill>
          <a:blip r:embed="rId1"/>
          <a:stretch>
            <a:fillRect/>
          </a:stretch>
        </p:blipFill>
        <p:spPr>
          <a:xfrm>
            <a:off x="3313420" y="1850380"/>
            <a:ext cx="158008" cy="158008"/>
          </a:xfrm>
          <a:prstGeom prst="rect">
            <a:avLst/>
          </a:prstGeom>
        </p:spPr>
      </p:pic>
      <p:sp>
        <p:nvSpPr>
          <p:cNvPr id="7" name="Text 4"/>
          <p:cNvSpPr/>
          <p:nvPr/>
        </p:nvSpPr>
        <p:spPr>
          <a:xfrm>
            <a:off x="3703320" y="1691640"/>
            <a:ext cx="2468880" cy="457200"/>
          </a:xfrm>
          <a:prstGeom prst="rect">
            <a:avLst/>
          </a:prstGeom>
          <a:noFill/>
          <a:ln/>
        </p:spPr>
        <p:txBody>
          <a:bodyPr wrap="square" lIns="0" tIns="0" rIns="0" bIns="0" rtlCol="0" anchor="ctr"/>
          <a:lstStyle/>
          <a:p>
            <a:pPr indent="0" marL="0">
              <a:buNone/>
            </a:pPr>
            <a:r>
              <a:rPr lang="en-US" sz="1350" b="1" dirty="0">
                <a:solidFill>
                  <a:srgbClr val="904199"/>
                </a:solidFill>
                <a:latin typeface="Calibri" pitchFamily="34" charset="0"/>
                <a:ea typeface="Calibri" pitchFamily="34" charset="-122"/>
                <a:cs typeface="Calibri" pitchFamily="34" charset="-120"/>
              </a:rPr>
              <a:t>Condition</a:t>
            </a:r>
            <a:endParaRPr lang="en-US" sz="1350" dirty="0"/>
          </a:p>
        </p:txBody>
      </p:sp>
      <p:sp>
        <p:nvSpPr>
          <p:cNvPr id="8" name="Text 5"/>
          <p:cNvSpPr/>
          <p:nvPr/>
        </p:nvSpPr>
        <p:spPr>
          <a:xfrm>
            <a:off x="6126480" y="1691640"/>
            <a:ext cx="2606040" cy="457200"/>
          </a:xfrm>
          <a:prstGeom prst="rect">
            <a:avLst/>
          </a:prstGeom>
          <a:noFill/>
          <a:ln/>
        </p:spPr>
        <p:txBody>
          <a:bodyPr wrap="square" lIns="0" tIns="0" rIns="0" bIns="0" rtlCol="0" anchor="ctr"/>
          <a:lstStyle/>
          <a:p>
            <a:pPr indent="0" marL="0">
              <a:buNone/>
            </a:pPr>
            <a:r>
              <a:rPr lang="en-US" sz="1200" i="1" dirty="0">
                <a:solidFill>
                  <a:srgbClr val="6E6676"/>
                </a:solidFill>
                <a:latin typeface="Calibri" pitchFamily="34" charset="0"/>
                <a:ea typeface="Calibri" pitchFamily="34" charset="-122"/>
                <a:cs typeface="Calibri" pitchFamily="34" charset="-120"/>
              </a:rPr>
              <a:t>CONDITION_OCCURRENCE</a:t>
            </a:r>
            <a:endParaRPr lang="en-US" sz="1200" dirty="0"/>
          </a:p>
        </p:txBody>
      </p:sp>
      <p:sp>
        <p:nvSpPr>
          <p:cNvPr id="9" name="Text 6"/>
          <p:cNvSpPr/>
          <p:nvPr/>
        </p:nvSpPr>
        <p:spPr>
          <a:xfrm>
            <a:off x="548640" y="2267712"/>
            <a:ext cx="2743200" cy="457200"/>
          </a:xfrm>
          <a:prstGeom prst="rect">
            <a:avLst/>
          </a:prstGeom>
          <a:noFill/>
          <a:ln/>
        </p:spPr>
        <p:txBody>
          <a:bodyPr wrap="square" lIns="0" tIns="0" rIns="0" bIns="0" rtlCol="0" anchor="ctr"/>
          <a:lstStyle/>
          <a:p>
            <a:pPr indent="0" marL="0">
              <a:buNone/>
            </a:pPr>
            <a:r>
              <a:rPr lang="en-US" sz="1400" b="1" dirty="0">
                <a:solidFill>
                  <a:srgbClr val="2B2230"/>
                </a:solidFill>
                <a:latin typeface="Calibri" pitchFamily="34" charset="0"/>
                <a:ea typeface="Calibri" pitchFamily="34" charset="-122"/>
                <a:cs typeface="Calibri" pitchFamily="34" charset="-120"/>
              </a:rPr>
              <a:t>Metformin, insulin</a:t>
            </a:r>
            <a:endParaRPr lang="en-US" sz="1400" dirty="0"/>
          </a:p>
        </p:txBody>
      </p:sp>
      <p:sp>
        <p:nvSpPr>
          <p:cNvPr id="10" name="Shape 7"/>
          <p:cNvSpPr/>
          <p:nvPr/>
        </p:nvSpPr>
        <p:spPr>
          <a:xfrm>
            <a:off x="3246120" y="2359152"/>
            <a:ext cx="292608" cy="292608"/>
          </a:xfrm>
          <a:prstGeom prst="ellipse">
            <a:avLst/>
          </a:prstGeom>
          <a:solidFill>
            <a:srgbClr val="F5EDF8"/>
          </a:solidFill>
          <a:ln/>
        </p:spPr>
      </p:sp>
      <p:pic>
        <p:nvPicPr>
          <p:cNvPr id="11" name="Image 1" descr="preencoded.png">    </p:cNvPr>
          <p:cNvPicPr>
            <a:picLocks noChangeAspect="1"/>
          </p:cNvPicPr>
          <p:nvPr/>
        </p:nvPicPr>
        <p:blipFill>
          <a:blip r:embed="rId2"/>
          <a:stretch>
            <a:fillRect/>
          </a:stretch>
        </p:blipFill>
        <p:spPr>
          <a:xfrm>
            <a:off x="3313420" y="2426452"/>
            <a:ext cx="158008" cy="158008"/>
          </a:xfrm>
          <a:prstGeom prst="rect">
            <a:avLst/>
          </a:prstGeom>
        </p:spPr>
      </p:pic>
      <p:sp>
        <p:nvSpPr>
          <p:cNvPr id="12" name="Text 8"/>
          <p:cNvSpPr/>
          <p:nvPr/>
        </p:nvSpPr>
        <p:spPr>
          <a:xfrm>
            <a:off x="3703320" y="2267712"/>
            <a:ext cx="2468880" cy="457200"/>
          </a:xfrm>
          <a:prstGeom prst="rect">
            <a:avLst/>
          </a:prstGeom>
          <a:noFill/>
          <a:ln/>
        </p:spPr>
        <p:txBody>
          <a:bodyPr wrap="square" lIns="0" tIns="0" rIns="0" bIns="0" rtlCol="0" anchor="ctr"/>
          <a:lstStyle/>
          <a:p>
            <a:pPr indent="0" marL="0">
              <a:buNone/>
            </a:pPr>
            <a:r>
              <a:rPr lang="en-US" sz="1350" b="1" dirty="0">
                <a:solidFill>
                  <a:srgbClr val="904199"/>
                </a:solidFill>
                <a:latin typeface="Calibri" pitchFamily="34" charset="0"/>
                <a:ea typeface="Calibri" pitchFamily="34" charset="-122"/>
                <a:cs typeface="Calibri" pitchFamily="34" charset="-120"/>
              </a:rPr>
              <a:t>Drug</a:t>
            </a:r>
            <a:endParaRPr lang="en-US" sz="1350" dirty="0"/>
          </a:p>
        </p:txBody>
      </p:sp>
      <p:sp>
        <p:nvSpPr>
          <p:cNvPr id="13" name="Text 9"/>
          <p:cNvSpPr/>
          <p:nvPr/>
        </p:nvSpPr>
        <p:spPr>
          <a:xfrm>
            <a:off x="6126480" y="2267712"/>
            <a:ext cx="2606040" cy="457200"/>
          </a:xfrm>
          <a:prstGeom prst="rect">
            <a:avLst/>
          </a:prstGeom>
          <a:noFill/>
          <a:ln/>
        </p:spPr>
        <p:txBody>
          <a:bodyPr wrap="square" lIns="0" tIns="0" rIns="0" bIns="0" rtlCol="0" anchor="ctr"/>
          <a:lstStyle/>
          <a:p>
            <a:pPr indent="0" marL="0">
              <a:buNone/>
            </a:pPr>
            <a:r>
              <a:rPr lang="en-US" sz="1200" i="1" dirty="0">
                <a:solidFill>
                  <a:srgbClr val="6E6676"/>
                </a:solidFill>
                <a:latin typeface="Calibri" pitchFamily="34" charset="0"/>
                <a:ea typeface="Calibri" pitchFamily="34" charset="-122"/>
                <a:cs typeface="Calibri" pitchFamily="34" charset="-120"/>
              </a:rPr>
              <a:t>DRUG_EXPOSURE</a:t>
            </a:r>
            <a:endParaRPr lang="en-US" sz="1200" dirty="0"/>
          </a:p>
        </p:txBody>
      </p:sp>
      <p:sp>
        <p:nvSpPr>
          <p:cNvPr id="14" name="Text 10"/>
          <p:cNvSpPr/>
          <p:nvPr/>
        </p:nvSpPr>
        <p:spPr>
          <a:xfrm>
            <a:off x="548640" y="2843784"/>
            <a:ext cx="2743200" cy="457200"/>
          </a:xfrm>
          <a:prstGeom prst="rect">
            <a:avLst/>
          </a:prstGeom>
          <a:noFill/>
          <a:ln/>
        </p:spPr>
        <p:txBody>
          <a:bodyPr wrap="square" lIns="0" tIns="0" rIns="0" bIns="0" rtlCol="0" anchor="ctr"/>
          <a:lstStyle/>
          <a:p>
            <a:pPr indent="0" marL="0">
              <a:buNone/>
            </a:pPr>
            <a:r>
              <a:rPr lang="en-US" sz="1400" b="1" dirty="0">
                <a:solidFill>
                  <a:srgbClr val="2B2230"/>
                </a:solidFill>
                <a:latin typeface="Calibri" pitchFamily="34" charset="0"/>
                <a:ea typeface="Calibri" pitchFamily="34" charset="-122"/>
                <a:cs typeface="Calibri" pitchFamily="34" charset="-120"/>
              </a:rPr>
              <a:t>Hemoglobin A1c</a:t>
            </a:r>
            <a:endParaRPr lang="en-US" sz="1400" dirty="0"/>
          </a:p>
        </p:txBody>
      </p:sp>
      <p:sp>
        <p:nvSpPr>
          <p:cNvPr id="15" name="Shape 11"/>
          <p:cNvSpPr/>
          <p:nvPr/>
        </p:nvSpPr>
        <p:spPr>
          <a:xfrm>
            <a:off x="3246120" y="2935224"/>
            <a:ext cx="292608" cy="292608"/>
          </a:xfrm>
          <a:prstGeom prst="ellipse">
            <a:avLst/>
          </a:prstGeom>
          <a:solidFill>
            <a:srgbClr val="F5EDF8"/>
          </a:solidFill>
          <a:ln/>
        </p:spPr>
      </p:sp>
      <p:pic>
        <p:nvPicPr>
          <p:cNvPr id="16" name="Image 2" descr="preencoded.png">    </p:cNvPr>
          <p:cNvPicPr>
            <a:picLocks noChangeAspect="1"/>
          </p:cNvPicPr>
          <p:nvPr/>
        </p:nvPicPr>
        <p:blipFill>
          <a:blip r:embed="rId3"/>
          <a:stretch>
            <a:fillRect/>
          </a:stretch>
        </p:blipFill>
        <p:spPr>
          <a:xfrm>
            <a:off x="3313420" y="3002524"/>
            <a:ext cx="158008" cy="158008"/>
          </a:xfrm>
          <a:prstGeom prst="rect">
            <a:avLst/>
          </a:prstGeom>
        </p:spPr>
      </p:pic>
      <p:sp>
        <p:nvSpPr>
          <p:cNvPr id="17" name="Text 12"/>
          <p:cNvSpPr/>
          <p:nvPr/>
        </p:nvSpPr>
        <p:spPr>
          <a:xfrm>
            <a:off x="3703320" y="2843784"/>
            <a:ext cx="2468880" cy="457200"/>
          </a:xfrm>
          <a:prstGeom prst="rect">
            <a:avLst/>
          </a:prstGeom>
          <a:noFill/>
          <a:ln/>
        </p:spPr>
        <p:txBody>
          <a:bodyPr wrap="square" lIns="0" tIns="0" rIns="0" bIns="0" rtlCol="0" anchor="ctr"/>
          <a:lstStyle/>
          <a:p>
            <a:pPr indent="0" marL="0">
              <a:buNone/>
            </a:pPr>
            <a:r>
              <a:rPr lang="en-US" sz="1350" b="1" dirty="0">
                <a:solidFill>
                  <a:srgbClr val="904199"/>
                </a:solidFill>
                <a:latin typeface="Calibri" pitchFamily="34" charset="0"/>
                <a:ea typeface="Calibri" pitchFamily="34" charset="-122"/>
                <a:cs typeface="Calibri" pitchFamily="34" charset="-120"/>
              </a:rPr>
              <a:t>Measurement</a:t>
            </a:r>
            <a:endParaRPr lang="en-US" sz="1350" dirty="0"/>
          </a:p>
        </p:txBody>
      </p:sp>
      <p:sp>
        <p:nvSpPr>
          <p:cNvPr id="18" name="Text 13"/>
          <p:cNvSpPr/>
          <p:nvPr/>
        </p:nvSpPr>
        <p:spPr>
          <a:xfrm>
            <a:off x="6126480" y="2843784"/>
            <a:ext cx="2606040" cy="457200"/>
          </a:xfrm>
          <a:prstGeom prst="rect">
            <a:avLst/>
          </a:prstGeom>
          <a:noFill/>
          <a:ln/>
        </p:spPr>
        <p:txBody>
          <a:bodyPr wrap="square" lIns="0" tIns="0" rIns="0" bIns="0" rtlCol="0" anchor="ctr"/>
          <a:lstStyle/>
          <a:p>
            <a:pPr indent="0" marL="0">
              <a:buNone/>
            </a:pPr>
            <a:r>
              <a:rPr lang="en-US" sz="1200" i="1" dirty="0">
                <a:solidFill>
                  <a:srgbClr val="6E6676"/>
                </a:solidFill>
                <a:latin typeface="Calibri" pitchFamily="34" charset="0"/>
                <a:ea typeface="Calibri" pitchFamily="34" charset="-122"/>
                <a:cs typeface="Calibri" pitchFamily="34" charset="-120"/>
              </a:rPr>
              <a:t>MEASUREMENT</a:t>
            </a:r>
            <a:endParaRPr lang="en-US" sz="1200" dirty="0"/>
          </a:p>
        </p:txBody>
      </p:sp>
      <p:sp>
        <p:nvSpPr>
          <p:cNvPr id="19" name="Text 14"/>
          <p:cNvSpPr/>
          <p:nvPr/>
        </p:nvSpPr>
        <p:spPr>
          <a:xfrm>
            <a:off x="548640" y="3419856"/>
            <a:ext cx="2743200" cy="457200"/>
          </a:xfrm>
          <a:prstGeom prst="rect">
            <a:avLst/>
          </a:prstGeom>
          <a:noFill/>
          <a:ln/>
        </p:spPr>
        <p:txBody>
          <a:bodyPr wrap="square" lIns="0" tIns="0" rIns="0" bIns="0" rtlCol="0" anchor="ctr"/>
          <a:lstStyle/>
          <a:p>
            <a:pPr indent="0" marL="0">
              <a:buNone/>
            </a:pPr>
            <a:r>
              <a:rPr lang="en-US" sz="1400" b="1" dirty="0">
                <a:solidFill>
                  <a:srgbClr val="2B2230"/>
                </a:solidFill>
                <a:latin typeface="Calibri" pitchFamily="34" charset="0"/>
                <a:ea typeface="Calibri" pitchFamily="34" charset="-122"/>
                <a:cs typeface="Calibri" pitchFamily="34" charset="-120"/>
              </a:rPr>
              <a:t>Pregnancy / gestational age</a:t>
            </a:r>
            <a:endParaRPr lang="en-US" sz="1400" dirty="0"/>
          </a:p>
        </p:txBody>
      </p:sp>
      <p:sp>
        <p:nvSpPr>
          <p:cNvPr id="20" name="Shape 15"/>
          <p:cNvSpPr/>
          <p:nvPr/>
        </p:nvSpPr>
        <p:spPr>
          <a:xfrm>
            <a:off x="3246120" y="3511296"/>
            <a:ext cx="292608" cy="292608"/>
          </a:xfrm>
          <a:prstGeom prst="ellipse">
            <a:avLst/>
          </a:prstGeom>
          <a:solidFill>
            <a:srgbClr val="F5EDF8"/>
          </a:solidFill>
          <a:ln/>
        </p:spPr>
      </p:sp>
      <p:pic>
        <p:nvPicPr>
          <p:cNvPr id="21" name="Image 3" descr="preencoded.png">    </p:cNvPr>
          <p:cNvPicPr>
            <a:picLocks noChangeAspect="1"/>
          </p:cNvPicPr>
          <p:nvPr/>
        </p:nvPicPr>
        <p:blipFill>
          <a:blip r:embed="rId4"/>
          <a:stretch>
            <a:fillRect/>
          </a:stretch>
        </p:blipFill>
        <p:spPr>
          <a:xfrm>
            <a:off x="3313420" y="3578596"/>
            <a:ext cx="158008" cy="158008"/>
          </a:xfrm>
          <a:prstGeom prst="rect">
            <a:avLst/>
          </a:prstGeom>
        </p:spPr>
      </p:pic>
      <p:sp>
        <p:nvSpPr>
          <p:cNvPr id="22" name="Text 16"/>
          <p:cNvSpPr/>
          <p:nvPr/>
        </p:nvSpPr>
        <p:spPr>
          <a:xfrm>
            <a:off x="3703320" y="3419856"/>
            <a:ext cx="2468880" cy="457200"/>
          </a:xfrm>
          <a:prstGeom prst="rect">
            <a:avLst/>
          </a:prstGeom>
          <a:noFill/>
          <a:ln/>
        </p:spPr>
        <p:txBody>
          <a:bodyPr wrap="square" lIns="0" tIns="0" rIns="0" bIns="0" rtlCol="0" anchor="ctr"/>
          <a:lstStyle/>
          <a:p>
            <a:pPr indent="0" marL="0">
              <a:buNone/>
            </a:pPr>
            <a:r>
              <a:rPr lang="en-US" sz="1350" b="1" dirty="0">
                <a:solidFill>
                  <a:srgbClr val="904199"/>
                </a:solidFill>
                <a:latin typeface="Calibri" pitchFamily="34" charset="0"/>
                <a:ea typeface="Calibri" pitchFamily="34" charset="-122"/>
                <a:cs typeface="Calibri" pitchFamily="34" charset="-120"/>
              </a:rPr>
              <a:t>Observation or Measurement</a:t>
            </a:r>
            <a:endParaRPr lang="en-US" sz="1350" dirty="0"/>
          </a:p>
        </p:txBody>
      </p:sp>
      <p:sp>
        <p:nvSpPr>
          <p:cNvPr id="23" name="Text 17"/>
          <p:cNvSpPr/>
          <p:nvPr/>
        </p:nvSpPr>
        <p:spPr>
          <a:xfrm>
            <a:off x="6126480" y="3419856"/>
            <a:ext cx="2606040" cy="457200"/>
          </a:xfrm>
          <a:prstGeom prst="rect">
            <a:avLst/>
          </a:prstGeom>
          <a:noFill/>
          <a:ln/>
        </p:spPr>
        <p:txBody>
          <a:bodyPr wrap="square" lIns="0" tIns="0" rIns="0" bIns="0" rtlCol="0" anchor="ctr"/>
          <a:lstStyle/>
          <a:p>
            <a:pPr indent="0" marL="0">
              <a:buNone/>
            </a:pPr>
            <a:r>
              <a:rPr lang="en-US" sz="1200" i="1" dirty="0">
                <a:solidFill>
                  <a:srgbClr val="6E6676"/>
                </a:solidFill>
                <a:latin typeface="Calibri" pitchFamily="34" charset="0"/>
                <a:ea typeface="Calibri" pitchFamily="34" charset="-122"/>
                <a:cs typeface="Calibri" pitchFamily="34" charset="-120"/>
              </a:rPr>
              <a:t>depends how it was recorded</a:t>
            </a:r>
            <a:endParaRPr lang="en-US" sz="1200" dirty="0"/>
          </a:p>
        </p:txBody>
      </p:sp>
      <p:sp>
        <p:nvSpPr>
          <p:cNvPr id="24" name="Shape 18"/>
          <p:cNvSpPr/>
          <p:nvPr/>
        </p:nvSpPr>
        <p:spPr>
          <a:xfrm>
            <a:off x="548640" y="4069080"/>
            <a:ext cx="8092440" cy="0"/>
          </a:xfrm>
          <a:prstGeom prst="line">
            <a:avLst/>
          </a:prstGeom>
          <a:noFill/>
          <a:ln w="12700">
            <a:solidFill>
              <a:srgbClr val="E6D7EA"/>
            </a:solidFill>
            <a:prstDash val="solid"/>
          </a:ln>
        </p:spPr>
      </p:sp>
      <p:sp>
        <p:nvSpPr>
          <p:cNvPr id="25" name="Text 19"/>
          <p:cNvSpPr/>
          <p:nvPr/>
        </p:nvSpPr>
        <p:spPr>
          <a:xfrm>
            <a:off x="548640" y="4206240"/>
            <a:ext cx="8138160" cy="457200"/>
          </a:xfrm>
          <a:prstGeom prst="rect">
            <a:avLst/>
          </a:prstGeom>
          <a:noFill/>
          <a:ln/>
        </p:spPr>
        <p:txBody>
          <a:bodyPr wrap="square" lIns="0" tIns="0" rIns="0" bIns="0" rtlCol="0" anchor="ctr"/>
          <a:lstStyle/>
          <a:p>
            <a:pPr indent="0" marL="0">
              <a:buNone/>
            </a:pPr>
            <a:r>
              <a:rPr lang="en-US" sz="1280" dirty="0">
                <a:solidFill>
                  <a:srgbClr val="2B2230"/>
                </a:solidFill>
                <a:latin typeface="Calibri" pitchFamily="34" charset="0"/>
                <a:ea typeface="Calibri" pitchFamily="34" charset="-122"/>
                <a:cs typeface="Calibri" pitchFamily="34" charset="-120"/>
              </a:rPr>
              <a:t>Look for a drug in the condition table and you find nothing, then wrongly conclude the data is missing. </a:t>
            </a:r>
            <a:pPr indent="0" marL="0">
              <a:buNone/>
            </a:pPr>
            <a:r>
              <a:rPr lang="en-US" sz="1280" b="1" dirty="0">
                <a:solidFill>
                  <a:srgbClr val="B45309"/>
                </a:solidFill>
                <a:latin typeface="Calibri" pitchFamily="34" charset="0"/>
                <a:ea typeface="Calibri" pitchFamily="34" charset="-122"/>
                <a:cs typeface="Calibri" pitchFamily="34" charset="-120"/>
              </a:rPr>
              <a:t>Confirm the domain first.</a:t>
            </a:r>
            <a:endParaRPr lang="en-US" sz="12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E1533"/>
        </a:solidFill>
      </p:bgPr>
    </p:bg>
    <p:spTree>
      <p:nvGrpSpPr>
        <p:cNvPr id="1" name=""/>
        <p:cNvGrpSpPr/>
        <p:nvPr/>
      </p:nvGrpSpPr>
      <p:grpSpPr>
        <a:xfrm>
          <a:off x="0" y="0"/>
          <a:ext cx="0" cy="0"/>
          <a:chOff x="0" y="0"/>
          <a:chExt cx="0" cy="0"/>
        </a:xfrm>
      </p:grpSpPr>
      <p:sp>
        <p:nvSpPr>
          <p:cNvPr id="2" name="Shape 0"/>
          <p:cNvSpPr/>
          <p:nvPr/>
        </p:nvSpPr>
        <p:spPr>
          <a:xfrm>
            <a:off x="-914400" y="3291840"/>
            <a:ext cx="2560320" cy="2560320"/>
          </a:xfrm>
          <a:prstGeom prst="ellipse">
            <a:avLst/>
          </a:prstGeom>
          <a:solidFill>
            <a:srgbClr val="3D1F44"/>
          </a:solidFill>
          <a:ln/>
        </p:spPr>
      </p:sp>
      <p:sp>
        <p:nvSpPr>
          <p:cNvPr id="3" name="Text 1"/>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B872C0"/>
                </a:solidFill>
                <a:latin typeface="Calibri" pitchFamily="34" charset="0"/>
                <a:ea typeface="Calibri" pitchFamily="34" charset="-122"/>
                <a:cs typeface="Calibri" pitchFamily="34" charset="-120"/>
              </a:rPr>
              <a:t>SEGMENT 4 · THE LIVE DEMO</a:t>
            </a:r>
            <a:endParaRPr lang="en-US" sz="1150" dirty="0"/>
          </a:p>
        </p:txBody>
      </p:sp>
      <p:sp>
        <p:nvSpPr>
          <p:cNvPr id="4" name="Text 2"/>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FFFFFF"/>
                </a:solidFill>
                <a:latin typeface="Cambria" pitchFamily="34" charset="0"/>
                <a:ea typeface="Cambria" pitchFamily="34" charset="-122"/>
                <a:cs typeface="Cambria" pitchFamily="34" charset="-120"/>
              </a:rPr>
              <a:t>The demo, and its deliberate trap</a:t>
            </a:r>
            <a:endParaRPr lang="en-US" sz="3200" dirty="0"/>
          </a:p>
        </p:txBody>
      </p:sp>
      <p:sp>
        <p:nvSpPr>
          <p:cNvPr id="5" name="Shape 3"/>
          <p:cNvSpPr/>
          <p:nvPr/>
        </p:nvSpPr>
        <p:spPr>
          <a:xfrm>
            <a:off x="502920" y="1691640"/>
            <a:ext cx="3977640" cy="2423160"/>
          </a:xfrm>
          <a:prstGeom prst="roundRect">
            <a:avLst>
              <a:gd name="adj" fmla="val 3396"/>
            </a:avLst>
          </a:prstGeom>
          <a:solidFill>
            <a:srgbClr val="3D1F44"/>
          </a:solidFill>
          <a:ln/>
          <a:effectLst>
            <a:outerShdw sx="100000" sy="100000" kx="0" ky="0" algn="bl" rotWithShape="0" blurRad="88900" dist="25400" dir="5400000">
              <a:srgbClr val="000000">
                <a:alpha val="13000"/>
              </a:srgbClr>
            </a:outerShdw>
          </a:effectLst>
        </p:spPr>
      </p:sp>
      <p:sp>
        <p:nvSpPr>
          <p:cNvPr id="6" name="Shape 4"/>
          <p:cNvSpPr/>
          <p:nvPr/>
        </p:nvSpPr>
        <p:spPr>
          <a:xfrm>
            <a:off x="777240" y="1938528"/>
            <a:ext cx="502920" cy="502920"/>
          </a:xfrm>
          <a:prstGeom prst="ellipse">
            <a:avLst/>
          </a:prstGeom>
          <a:solidFill>
            <a:srgbClr val="904199"/>
          </a:solidFill>
          <a:ln/>
        </p:spPr>
      </p:sp>
      <p:pic>
        <p:nvPicPr>
          <p:cNvPr id="7" name="Image 0" descr="preencoded.png">    </p:cNvPr>
          <p:cNvPicPr>
            <a:picLocks noChangeAspect="1"/>
          </p:cNvPicPr>
          <p:nvPr/>
        </p:nvPicPr>
        <p:blipFill>
          <a:blip r:embed="rId1"/>
          <a:stretch>
            <a:fillRect/>
          </a:stretch>
        </p:blipFill>
        <p:spPr>
          <a:xfrm>
            <a:off x="892912" y="2054200"/>
            <a:ext cx="271577" cy="271577"/>
          </a:xfrm>
          <a:prstGeom prst="rect">
            <a:avLst/>
          </a:prstGeom>
        </p:spPr>
      </p:pic>
      <p:sp>
        <p:nvSpPr>
          <p:cNvPr id="8" name="Text 5"/>
          <p:cNvSpPr/>
          <p:nvPr/>
        </p:nvSpPr>
        <p:spPr>
          <a:xfrm>
            <a:off x="1417320" y="1947672"/>
            <a:ext cx="292608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atlas-demo.ohdsi.org</a:t>
            </a:r>
            <a:endParaRPr lang="en-US" sz="1700" dirty="0"/>
          </a:p>
        </p:txBody>
      </p:sp>
      <p:sp>
        <p:nvSpPr>
          <p:cNvPr id="9" name="Text 6"/>
          <p:cNvSpPr/>
          <p:nvPr/>
        </p:nvSpPr>
        <p:spPr>
          <a:xfrm>
            <a:off x="777240" y="2578608"/>
            <a:ext cx="3474720" cy="1371600"/>
          </a:xfrm>
          <a:prstGeom prst="rect">
            <a:avLst/>
          </a:prstGeom>
          <a:noFill/>
          <a:ln/>
        </p:spPr>
        <p:txBody>
          <a:bodyPr wrap="square" lIns="0" tIns="0" rIns="0" bIns="0" rtlCol="0" anchor="ctr"/>
          <a:lstStyle/>
          <a:p>
            <a:pPr indent="0" marL="0">
              <a:buNone/>
            </a:pPr>
            <a:r>
              <a:rPr lang="en-US" sz="1350" dirty="0">
                <a:solidFill>
                  <a:srgbClr val="C9A9D0"/>
                </a:solidFill>
                <a:latin typeface="Calibri" pitchFamily="34" charset="0"/>
                <a:ea typeface="Calibri" pitchFamily="34" charset="-122"/>
                <a:cs typeface="Calibri" pitchFamily="34" charset="-120"/>
              </a:rPr>
              <a:t>Free, public ATLAS. No account needed to follow along. Chrome is the supported browser.</a:t>
            </a:r>
            <a:endParaRPr lang="en-US" sz="1350" dirty="0"/>
          </a:p>
        </p:txBody>
      </p:sp>
      <p:sp>
        <p:nvSpPr>
          <p:cNvPr id="10" name="Shape 7"/>
          <p:cNvSpPr/>
          <p:nvPr/>
        </p:nvSpPr>
        <p:spPr>
          <a:xfrm>
            <a:off x="4663440" y="1691640"/>
            <a:ext cx="3977640" cy="2423160"/>
          </a:xfrm>
          <a:prstGeom prst="roundRect">
            <a:avLst>
              <a:gd name="adj" fmla="val 3396"/>
            </a:avLst>
          </a:prstGeom>
          <a:solidFill>
            <a:srgbClr val="3D1F44"/>
          </a:solidFill>
          <a:ln/>
          <a:effectLst>
            <a:outerShdw sx="100000" sy="100000" kx="0" ky="0" algn="bl" rotWithShape="0" blurRad="88900" dist="25400" dir="5400000">
              <a:srgbClr val="000000">
                <a:alpha val="13000"/>
              </a:srgbClr>
            </a:outerShdw>
          </a:effectLst>
        </p:spPr>
      </p:sp>
      <p:sp>
        <p:nvSpPr>
          <p:cNvPr id="11" name="Shape 8"/>
          <p:cNvSpPr/>
          <p:nvPr/>
        </p:nvSpPr>
        <p:spPr>
          <a:xfrm>
            <a:off x="4937760" y="1938528"/>
            <a:ext cx="502920" cy="502920"/>
          </a:xfrm>
          <a:prstGeom prst="ellipse">
            <a:avLst/>
          </a:prstGeom>
          <a:solidFill>
            <a:srgbClr val="E8890C"/>
          </a:solidFill>
          <a:ln/>
        </p:spPr>
      </p:sp>
      <p:pic>
        <p:nvPicPr>
          <p:cNvPr id="12" name="Image 1" descr="preencoded.png">    </p:cNvPr>
          <p:cNvPicPr>
            <a:picLocks noChangeAspect="1"/>
          </p:cNvPicPr>
          <p:nvPr/>
        </p:nvPicPr>
        <p:blipFill>
          <a:blip r:embed="rId2"/>
          <a:stretch>
            <a:fillRect/>
          </a:stretch>
        </p:blipFill>
        <p:spPr>
          <a:xfrm>
            <a:off x="5053432" y="2054200"/>
            <a:ext cx="271577" cy="271577"/>
          </a:xfrm>
          <a:prstGeom prst="rect">
            <a:avLst/>
          </a:prstGeom>
        </p:spPr>
      </p:pic>
      <p:sp>
        <p:nvSpPr>
          <p:cNvPr id="13" name="Text 9"/>
          <p:cNvSpPr/>
          <p:nvPr/>
        </p:nvSpPr>
        <p:spPr>
          <a:xfrm>
            <a:off x="5577840" y="1947672"/>
            <a:ext cx="292608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Runs on SynPUF</a:t>
            </a:r>
            <a:endParaRPr lang="en-US" sz="1700" dirty="0"/>
          </a:p>
        </p:txBody>
      </p:sp>
      <p:sp>
        <p:nvSpPr>
          <p:cNvPr id="14" name="Text 10"/>
          <p:cNvSpPr/>
          <p:nvPr/>
        </p:nvSpPr>
        <p:spPr>
          <a:xfrm>
            <a:off x="4937760" y="2578608"/>
            <a:ext cx="3474720" cy="1371600"/>
          </a:xfrm>
          <a:prstGeom prst="rect">
            <a:avLst/>
          </a:prstGeom>
          <a:noFill/>
          <a:ln/>
        </p:spPr>
        <p:txBody>
          <a:bodyPr wrap="square" lIns="0" tIns="0" rIns="0" bIns="0" rtlCol="0" anchor="ctr"/>
          <a:lstStyle/>
          <a:p>
            <a:pPr indent="0" marL="0">
              <a:buNone/>
            </a:pPr>
            <a:r>
              <a:rPr lang="en-US" sz="1350" dirty="0">
                <a:solidFill>
                  <a:srgbClr val="C9A9D0"/>
                </a:solidFill>
                <a:latin typeface="Calibri" pitchFamily="34" charset="0"/>
                <a:ea typeface="Calibri" pitchFamily="34" charset="-122"/>
                <a:cs typeface="Calibri" pitchFamily="34" charset="-120"/>
              </a:rPr>
              <a:t>Synthetic Medicare claims. The population is mostly 65+. Diabetes is everywhere. Pregnancies are absent, by design.</a:t>
            </a:r>
            <a:endParaRPr lang="en-US" sz="1350" dirty="0"/>
          </a:p>
        </p:txBody>
      </p:sp>
      <p:sp>
        <p:nvSpPr>
          <p:cNvPr id="15" name="Text 11"/>
          <p:cNvSpPr/>
          <p:nvPr/>
        </p:nvSpPr>
        <p:spPr>
          <a:xfrm>
            <a:off x="502920" y="4315968"/>
            <a:ext cx="8229600" cy="457200"/>
          </a:xfrm>
          <a:prstGeom prst="rect">
            <a:avLst/>
          </a:prstGeom>
          <a:noFill/>
          <a:ln/>
        </p:spPr>
        <p:txBody>
          <a:bodyPr wrap="square" lIns="0" tIns="0" rIns="0" bIns="0" rtlCol="0" anchor="ctr"/>
          <a:lstStyle/>
          <a:p>
            <a:pPr indent="0" marL="0">
              <a:buNone/>
            </a:pPr>
            <a:r>
              <a:rPr lang="en-US" sz="1350" b="1" dirty="0">
                <a:solidFill>
                  <a:srgbClr val="B872C0"/>
                </a:solidFill>
                <a:latin typeface="Calibri" pitchFamily="34" charset="0"/>
                <a:ea typeface="Calibri" pitchFamily="34" charset="-122"/>
                <a:cs typeface="Calibri" pitchFamily="34" charset="-120"/>
              </a:rPr>
              <a:t>That mismatch is the lesson: </a:t>
            </a:r>
            <a:pPr indent="0" marL="0">
              <a:buNone/>
            </a:pPr>
            <a:r>
              <a:rPr lang="en-US" sz="1350" dirty="0">
                <a:solidFill>
                  <a:srgbClr val="FFFFFF"/>
                </a:solidFill>
                <a:latin typeface="Calibri" pitchFamily="34" charset="0"/>
                <a:ea typeface="Calibri" pitchFamily="34" charset="-122"/>
                <a:cs typeface="Calibri" pitchFamily="34" charset="-120"/>
              </a:rPr>
              <a:t>a concept-level check that passes and a population-level check that fails.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TEST IT IN ATLAS</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Four moves</a:t>
            </a:r>
            <a:endParaRPr lang="en-US" sz="3200" dirty="0"/>
          </a:p>
        </p:txBody>
      </p:sp>
      <p:sp>
        <p:nvSpPr>
          <p:cNvPr id="4" name="Shape 2"/>
          <p:cNvSpPr/>
          <p:nvPr/>
        </p:nvSpPr>
        <p:spPr>
          <a:xfrm>
            <a:off x="502920" y="1783080"/>
            <a:ext cx="1938528" cy="2148840"/>
          </a:xfrm>
          <a:prstGeom prst="roundRect">
            <a:avLst>
              <a:gd name="adj" fmla="val 4245"/>
            </a:avLst>
          </a:prstGeom>
          <a:solidFill>
            <a:srgbClr val="F5EDF8"/>
          </a:solidFill>
          <a:ln/>
          <a:effectLst>
            <a:outerShdw sx="100000" sy="100000" kx="0" ky="0" algn="bl" rotWithShape="0" blurRad="88900" dist="25400" dir="5400000">
              <a:srgbClr val="000000">
                <a:alpha val="13000"/>
              </a:srgbClr>
            </a:outerShdw>
          </a:effectLst>
        </p:spPr>
      </p:sp>
      <p:sp>
        <p:nvSpPr>
          <p:cNvPr id="5" name="Shape 3"/>
          <p:cNvSpPr/>
          <p:nvPr/>
        </p:nvSpPr>
        <p:spPr>
          <a:xfrm>
            <a:off x="758952" y="2011680"/>
            <a:ext cx="457200" cy="457200"/>
          </a:xfrm>
          <a:prstGeom prst="ellipse">
            <a:avLst/>
          </a:prstGeom>
          <a:solidFill>
            <a:srgbClr val="904199"/>
          </a:solidFill>
          <a:ln/>
        </p:spPr>
      </p:sp>
      <p:sp>
        <p:nvSpPr>
          <p:cNvPr id="6" name="Text 4"/>
          <p:cNvSpPr/>
          <p:nvPr/>
        </p:nvSpPr>
        <p:spPr>
          <a:xfrm>
            <a:off x="758952" y="20116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Shape 5"/>
          <p:cNvSpPr/>
          <p:nvPr/>
        </p:nvSpPr>
        <p:spPr>
          <a:xfrm>
            <a:off x="1645920" y="2011680"/>
            <a:ext cx="457200" cy="457200"/>
          </a:xfrm>
          <a:prstGeom prst="ellipse">
            <a:avLst/>
          </a:prstGeom>
          <a:solidFill>
            <a:srgbClr val="B872C0"/>
          </a:solidFill>
          <a:ln/>
        </p:spPr>
      </p:sp>
      <p:pic>
        <p:nvPicPr>
          <p:cNvPr id="8" name="Image 0" descr="preencoded.png">    </p:cNvPr>
          <p:cNvPicPr>
            <a:picLocks noChangeAspect="1"/>
          </p:cNvPicPr>
          <p:nvPr/>
        </p:nvPicPr>
        <p:blipFill>
          <a:blip r:embed="rId1"/>
          <a:stretch>
            <a:fillRect/>
          </a:stretch>
        </p:blipFill>
        <p:spPr>
          <a:xfrm>
            <a:off x="1751076" y="2116836"/>
            <a:ext cx="246888" cy="246888"/>
          </a:xfrm>
          <a:prstGeom prst="rect">
            <a:avLst/>
          </a:prstGeom>
        </p:spPr>
      </p:pic>
      <p:sp>
        <p:nvSpPr>
          <p:cNvPr id="9" name="Text 6"/>
          <p:cNvSpPr/>
          <p:nvPr/>
        </p:nvSpPr>
        <p:spPr>
          <a:xfrm>
            <a:off x="758952" y="2606040"/>
            <a:ext cx="1554480" cy="36576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Search</a:t>
            </a:r>
            <a:endParaRPr lang="en-US" sz="1500" dirty="0"/>
          </a:p>
        </p:txBody>
      </p:sp>
      <p:sp>
        <p:nvSpPr>
          <p:cNvPr id="10" name="Text 7"/>
          <p:cNvSpPr/>
          <p:nvPr/>
        </p:nvSpPr>
        <p:spPr>
          <a:xfrm>
            <a:off x="758952" y="2971800"/>
            <a:ext cx="1481328" cy="914400"/>
          </a:xfrm>
          <a:prstGeom prst="rect">
            <a:avLst/>
          </a:prstGeom>
          <a:noFill/>
          <a:ln/>
        </p:spPr>
        <p:txBody>
          <a:bodyPr wrap="square" lIns="0" tIns="0" rIns="0" bIns="0" rtlCol="0" anchor="ctr"/>
          <a:lstStyle/>
          <a:p>
            <a:pPr indent="0" marL="0">
              <a:buNone/>
            </a:pPr>
            <a:r>
              <a:rPr lang="en-US" sz="1130" dirty="0">
                <a:solidFill>
                  <a:srgbClr val="6E6676"/>
                </a:solidFill>
                <a:latin typeface="Calibri" pitchFamily="34" charset="0"/>
                <a:ea typeface="Calibri" pitchFamily="34" charset="-122"/>
                <a:cs typeface="Calibri" pitchFamily="34" charset="-120"/>
              </a:rPr>
              <a:t>Confirm each concept exists and is standard. Note the counts.</a:t>
            </a:r>
            <a:endParaRPr lang="en-US" sz="1130" dirty="0"/>
          </a:p>
        </p:txBody>
      </p:sp>
      <p:pic>
        <p:nvPicPr>
          <p:cNvPr id="11" name="Image 1" descr="preencoded.png">    </p:cNvPr>
          <p:cNvPicPr>
            <a:picLocks noChangeAspect="1"/>
          </p:cNvPicPr>
          <p:nvPr/>
        </p:nvPicPr>
        <p:blipFill>
          <a:blip r:embed="rId2"/>
          <a:stretch>
            <a:fillRect/>
          </a:stretch>
        </p:blipFill>
        <p:spPr>
          <a:xfrm>
            <a:off x="2386584" y="2697480"/>
            <a:ext cx="256032" cy="256032"/>
          </a:xfrm>
          <a:prstGeom prst="rect">
            <a:avLst/>
          </a:prstGeom>
        </p:spPr>
      </p:pic>
      <p:sp>
        <p:nvSpPr>
          <p:cNvPr id="12" name="Shape 8"/>
          <p:cNvSpPr/>
          <p:nvPr/>
        </p:nvSpPr>
        <p:spPr>
          <a:xfrm>
            <a:off x="2624328" y="1783080"/>
            <a:ext cx="1938528" cy="2148840"/>
          </a:xfrm>
          <a:prstGeom prst="roundRect">
            <a:avLst>
              <a:gd name="adj" fmla="val 4245"/>
            </a:avLst>
          </a:prstGeom>
          <a:solidFill>
            <a:srgbClr val="F5EDF8"/>
          </a:solidFill>
          <a:ln/>
          <a:effectLst>
            <a:outerShdw sx="100000" sy="100000" kx="0" ky="0" algn="bl" rotWithShape="0" blurRad="88900" dist="25400" dir="5400000">
              <a:srgbClr val="000000">
                <a:alpha val="13000"/>
              </a:srgbClr>
            </a:outerShdw>
          </a:effectLst>
        </p:spPr>
      </p:sp>
      <p:sp>
        <p:nvSpPr>
          <p:cNvPr id="13" name="Shape 9"/>
          <p:cNvSpPr/>
          <p:nvPr/>
        </p:nvSpPr>
        <p:spPr>
          <a:xfrm>
            <a:off x="2880360" y="2011680"/>
            <a:ext cx="457200" cy="457200"/>
          </a:xfrm>
          <a:prstGeom prst="ellipse">
            <a:avLst/>
          </a:prstGeom>
          <a:solidFill>
            <a:srgbClr val="904199"/>
          </a:solidFill>
          <a:ln/>
        </p:spPr>
      </p:sp>
      <p:sp>
        <p:nvSpPr>
          <p:cNvPr id="14" name="Text 10"/>
          <p:cNvSpPr/>
          <p:nvPr/>
        </p:nvSpPr>
        <p:spPr>
          <a:xfrm>
            <a:off x="2880360" y="20116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5" name="Shape 11"/>
          <p:cNvSpPr/>
          <p:nvPr/>
        </p:nvSpPr>
        <p:spPr>
          <a:xfrm>
            <a:off x="3767328" y="2011680"/>
            <a:ext cx="457200" cy="457200"/>
          </a:xfrm>
          <a:prstGeom prst="ellipse">
            <a:avLst/>
          </a:prstGeom>
          <a:solidFill>
            <a:srgbClr val="B872C0"/>
          </a:solidFill>
          <a:ln/>
        </p:spPr>
      </p:sp>
      <p:pic>
        <p:nvPicPr>
          <p:cNvPr id="16" name="Image 2" descr="preencoded.png">    </p:cNvPr>
          <p:cNvPicPr>
            <a:picLocks noChangeAspect="1"/>
          </p:cNvPicPr>
          <p:nvPr/>
        </p:nvPicPr>
        <p:blipFill>
          <a:blip r:embed="rId3"/>
          <a:stretch>
            <a:fillRect/>
          </a:stretch>
        </p:blipFill>
        <p:spPr>
          <a:xfrm>
            <a:off x="3872484" y="2116836"/>
            <a:ext cx="246888" cy="246888"/>
          </a:xfrm>
          <a:prstGeom prst="rect">
            <a:avLst/>
          </a:prstGeom>
        </p:spPr>
      </p:pic>
      <p:sp>
        <p:nvSpPr>
          <p:cNvPr id="17" name="Text 12"/>
          <p:cNvSpPr/>
          <p:nvPr/>
        </p:nvSpPr>
        <p:spPr>
          <a:xfrm>
            <a:off x="2880360" y="2606040"/>
            <a:ext cx="1554480" cy="36576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Concept sets</a:t>
            </a:r>
            <a:endParaRPr lang="en-US" sz="1500" dirty="0"/>
          </a:p>
        </p:txBody>
      </p:sp>
      <p:sp>
        <p:nvSpPr>
          <p:cNvPr id="18" name="Text 13"/>
          <p:cNvSpPr/>
          <p:nvPr/>
        </p:nvSpPr>
        <p:spPr>
          <a:xfrm>
            <a:off x="2880360" y="2971800"/>
            <a:ext cx="1481328" cy="914400"/>
          </a:xfrm>
          <a:prstGeom prst="rect">
            <a:avLst/>
          </a:prstGeom>
          <a:noFill/>
          <a:ln/>
        </p:spPr>
        <p:txBody>
          <a:bodyPr wrap="square" lIns="0" tIns="0" rIns="0" bIns="0" rtlCol="0" anchor="ctr"/>
          <a:lstStyle/>
          <a:p>
            <a:pPr indent="0" marL="0">
              <a:buNone/>
            </a:pPr>
            <a:r>
              <a:rPr lang="en-US" sz="1130" dirty="0">
                <a:solidFill>
                  <a:srgbClr val="6E6676"/>
                </a:solidFill>
                <a:latin typeface="Calibri" pitchFamily="34" charset="0"/>
                <a:ea typeface="Calibri" pitchFamily="34" charset="-122"/>
                <a:cs typeface="Calibri" pitchFamily="34" charset="-120"/>
              </a:rPr>
              <a:t>Bundle diabetes, pregnancy, preeclampsia, metformin, insulin.</a:t>
            </a:r>
            <a:endParaRPr lang="en-US" sz="1130" dirty="0"/>
          </a:p>
        </p:txBody>
      </p:sp>
      <p:pic>
        <p:nvPicPr>
          <p:cNvPr id="19" name="Image 3" descr="preencoded.png">    </p:cNvPr>
          <p:cNvPicPr>
            <a:picLocks noChangeAspect="1"/>
          </p:cNvPicPr>
          <p:nvPr/>
        </p:nvPicPr>
        <p:blipFill>
          <a:blip r:embed="rId4"/>
          <a:stretch>
            <a:fillRect/>
          </a:stretch>
        </p:blipFill>
        <p:spPr>
          <a:xfrm>
            <a:off x="4507992" y="2697480"/>
            <a:ext cx="256032" cy="256032"/>
          </a:xfrm>
          <a:prstGeom prst="rect">
            <a:avLst/>
          </a:prstGeom>
        </p:spPr>
      </p:pic>
      <p:sp>
        <p:nvSpPr>
          <p:cNvPr id="20" name="Shape 14"/>
          <p:cNvSpPr/>
          <p:nvPr/>
        </p:nvSpPr>
        <p:spPr>
          <a:xfrm>
            <a:off x="4745736" y="1783080"/>
            <a:ext cx="1938528" cy="2148840"/>
          </a:xfrm>
          <a:prstGeom prst="roundRect">
            <a:avLst>
              <a:gd name="adj" fmla="val 4245"/>
            </a:avLst>
          </a:prstGeom>
          <a:solidFill>
            <a:srgbClr val="F5EDF8"/>
          </a:solidFill>
          <a:ln/>
          <a:effectLst>
            <a:outerShdw sx="100000" sy="100000" kx="0" ky="0" algn="bl" rotWithShape="0" blurRad="88900" dist="25400" dir="5400000">
              <a:srgbClr val="000000">
                <a:alpha val="13000"/>
              </a:srgbClr>
            </a:outerShdw>
          </a:effectLst>
        </p:spPr>
      </p:sp>
      <p:sp>
        <p:nvSpPr>
          <p:cNvPr id="21" name="Shape 15"/>
          <p:cNvSpPr/>
          <p:nvPr/>
        </p:nvSpPr>
        <p:spPr>
          <a:xfrm>
            <a:off x="5001768" y="2011680"/>
            <a:ext cx="457200" cy="457200"/>
          </a:xfrm>
          <a:prstGeom prst="ellipse">
            <a:avLst/>
          </a:prstGeom>
          <a:solidFill>
            <a:srgbClr val="904199"/>
          </a:solidFill>
          <a:ln/>
        </p:spPr>
      </p:sp>
      <p:sp>
        <p:nvSpPr>
          <p:cNvPr id="22" name="Text 16"/>
          <p:cNvSpPr/>
          <p:nvPr/>
        </p:nvSpPr>
        <p:spPr>
          <a:xfrm>
            <a:off x="5001768" y="20116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3" name="Shape 17"/>
          <p:cNvSpPr/>
          <p:nvPr/>
        </p:nvSpPr>
        <p:spPr>
          <a:xfrm>
            <a:off x="5888736" y="2011680"/>
            <a:ext cx="457200" cy="457200"/>
          </a:xfrm>
          <a:prstGeom prst="ellipse">
            <a:avLst/>
          </a:prstGeom>
          <a:solidFill>
            <a:srgbClr val="B872C0"/>
          </a:solidFill>
          <a:ln/>
        </p:spPr>
      </p:sp>
      <p:pic>
        <p:nvPicPr>
          <p:cNvPr id="24" name="Image 4" descr="preencoded.png">    </p:cNvPr>
          <p:cNvPicPr>
            <a:picLocks noChangeAspect="1"/>
          </p:cNvPicPr>
          <p:nvPr/>
        </p:nvPicPr>
        <p:blipFill>
          <a:blip r:embed="rId5"/>
          <a:stretch>
            <a:fillRect/>
          </a:stretch>
        </p:blipFill>
        <p:spPr>
          <a:xfrm>
            <a:off x="5993892" y="2116836"/>
            <a:ext cx="246888" cy="246888"/>
          </a:xfrm>
          <a:prstGeom prst="rect">
            <a:avLst/>
          </a:prstGeom>
        </p:spPr>
      </p:pic>
      <p:sp>
        <p:nvSpPr>
          <p:cNvPr id="25" name="Text 18"/>
          <p:cNvSpPr/>
          <p:nvPr/>
        </p:nvSpPr>
        <p:spPr>
          <a:xfrm>
            <a:off x="5001768" y="2606040"/>
            <a:ext cx="1554480" cy="36576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Cohort</a:t>
            </a:r>
            <a:endParaRPr lang="en-US" sz="1500" dirty="0"/>
          </a:p>
        </p:txBody>
      </p:sp>
      <p:sp>
        <p:nvSpPr>
          <p:cNvPr id="26" name="Text 19"/>
          <p:cNvSpPr/>
          <p:nvPr/>
        </p:nvSpPr>
        <p:spPr>
          <a:xfrm>
            <a:off x="5001768" y="2971800"/>
            <a:ext cx="1481328" cy="914400"/>
          </a:xfrm>
          <a:prstGeom prst="rect">
            <a:avLst/>
          </a:prstGeom>
          <a:noFill/>
          <a:ln/>
        </p:spPr>
        <p:txBody>
          <a:bodyPr wrap="square" lIns="0" tIns="0" rIns="0" bIns="0" rtlCol="0" anchor="ctr"/>
          <a:lstStyle/>
          <a:p>
            <a:pPr indent="0" marL="0">
              <a:buNone/>
            </a:pPr>
            <a:r>
              <a:rPr lang="en-US" sz="1130" dirty="0">
                <a:solidFill>
                  <a:srgbClr val="6E6676"/>
                </a:solidFill>
                <a:latin typeface="Calibri" pitchFamily="34" charset="0"/>
                <a:ea typeface="Calibri" pitchFamily="34" charset="-122"/>
                <a:cs typeface="Calibri" pitchFamily="34" charset="-120"/>
              </a:rPr>
              <a:t>Entry = pregnancy; require prior diabetes; add exposure.</a:t>
            </a:r>
            <a:endParaRPr lang="en-US" sz="1130" dirty="0"/>
          </a:p>
        </p:txBody>
      </p:sp>
      <p:pic>
        <p:nvPicPr>
          <p:cNvPr id="27" name="Image 5" descr="preencoded.png">    </p:cNvPr>
          <p:cNvPicPr>
            <a:picLocks noChangeAspect="1"/>
          </p:cNvPicPr>
          <p:nvPr/>
        </p:nvPicPr>
        <p:blipFill>
          <a:blip r:embed="rId6"/>
          <a:stretch>
            <a:fillRect/>
          </a:stretch>
        </p:blipFill>
        <p:spPr>
          <a:xfrm>
            <a:off x="6629400" y="2697480"/>
            <a:ext cx="256032" cy="256032"/>
          </a:xfrm>
          <a:prstGeom prst="rect">
            <a:avLst/>
          </a:prstGeom>
        </p:spPr>
      </p:pic>
      <p:sp>
        <p:nvSpPr>
          <p:cNvPr id="28" name="Shape 20"/>
          <p:cNvSpPr/>
          <p:nvPr/>
        </p:nvSpPr>
        <p:spPr>
          <a:xfrm>
            <a:off x="6867144" y="1783080"/>
            <a:ext cx="1938528" cy="2148840"/>
          </a:xfrm>
          <a:prstGeom prst="roundRect">
            <a:avLst>
              <a:gd name="adj" fmla="val 4245"/>
            </a:avLst>
          </a:prstGeom>
          <a:solidFill>
            <a:srgbClr val="F5EDF8"/>
          </a:solidFill>
          <a:ln/>
          <a:effectLst>
            <a:outerShdw sx="100000" sy="100000" kx="0" ky="0" algn="bl" rotWithShape="0" blurRad="88900" dist="25400" dir="5400000">
              <a:srgbClr val="000000">
                <a:alpha val="13000"/>
              </a:srgbClr>
            </a:outerShdw>
          </a:effectLst>
        </p:spPr>
      </p:sp>
      <p:sp>
        <p:nvSpPr>
          <p:cNvPr id="29" name="Shape 21"/>
          <p:cNvSpPr/>
          <p:nvPr/>
        </p:nvSpPr>
        <p:spPr>
          <a:xfrm>
            <a:off x="7123176" y="2011680"/>
            <a:ext cx="457200" cy="457200"/>
          </a:xfrm>
          <a:prstGeom prst="ellipse">
            <a:avLst/>
          </a:prstGeom>
          <a:solidFill>
            <a:srgbClr val="904199"/>
          </a:solidFill>
          <a:ln/>
        </p:spPr>
      </p:sp>
      <p:sp>
        <p:nvSpPr>
          <p:cNvPr id="30" name="Text 22"/>
          <p:cNvSpPr/>
          <p:nvPr/>
        </p:nvSpPr>
        <p:spPr>
          <a:xfrm>
            <a:off x="7123176" y="20116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1" name="Shape 23"/>
          <p:cNvSpPr/>
          <p:nvPr/>
        </p:nvSpPr>
        <p:spPr>
          <a:xfrm>
            <a:off x="8010144" y="2011680"/>
            <a:ext cx="457200" cy="457200"/>
          </a:xfrm>
          <a:prstGeom prst="ellipse">
            <a:avLst/>
          </a:prstGeom>
          <a:solidFill>
            <a:srgbClr val="B872C0"/>
          </a:solidFill>
          <a:ln/>
        </p:spPr>
      </p:sp>
      <p:pic>
        <p:nvPicPr>
          <p:cNvPr id="32" name="Image 6" descr="preencoded.png">    </p:cNvPr>
          <p:cNvPicPr>
            <a:picLocks noChangeAspect="1"/>
          </p:cNvPicPr>
          <p:nvPr/>
        </p:nvPicPr>
        <p:blipFill>
          <a:blip r:embed="rId7"/>
          <a:stretch>
            <a:fillRect/>
          </a:stretch>
        </p:blipFill>
        <p:spPr>
          <a:xfrm>
            <a:off x="8115300" y="2116836"/>
            <a:ext cx="246888" cy="246888"/>
          </a:xfrm>
          <a:prstGeom prst="rect">
            <a:avLst/>
          </a:prstGeom>
        </p:spPr>
      </p:pic>
      <p:sp>
        <p:nvSpPr>
          <p:cNvPr id="33" name="Text 24"/>
          <p:cNvSpPr/>
          <p:nvPr/>
        </p:nvSpPr>
        <p:spPr>
          <a:xfrm>
            <a:off x="7123176" y="2606040"/>
            <a:ext cx="1554480" cy="365760"/>
          </a:xfrm>
          <a:prstGeom prst="rect">
            <a:avLst/>
          </a:prstGeom>
          <a:noFill/>
          <a:ln/>
        </p:spPr>
        <p:txBody>
          <a:bodyPr wrap="square" lIns="0" tIns="0" rIns="0" bIns="0" rtlCol="0" anchor="ctr"/>
          <a:lstStyle/>
          <a:p>
            <a:pPr indent="0" marL="0">
              <a:buNone/>
            </a:pPr>
            <a:r>
              <a:rPr lang="en-US" sz="1500" b="1" dirty="0">
                <a:solidFill>
                  <a:srgbClr val="2B2230"/>
                </a:solidFill>
                <a:latin typeface="Cambria" pitchFamily="34" charset="0"/>
                <a:ea typeface="Cambria" pitchFamily="34" charset="-122"/>
                <a:cs typeface="Cambria" pitchFamily="34" charset="-120"/>
              </a:rPr>
              <a:t>Generate</a:t>
            </a:r>
            <a:endParaRPr lang="en-US" sz="1500" dirty="0"/>
          </a:p>
        </p:txBody>
      </p:sp>
      <p:sp>
        <p:nvSpPr>
          <p:cNvPr id="34" name="Text 25"/>
          <p:cNvSpPr/>
          <p:nvPr/>
        </p:nvSpPr>
        <p:spPr>
          <a:xfrm>
            <a:off x="7123176" y="2971800"/>
            <a:ext cx="1481328" cy="914400"/>
          </a:xfrm>
          <a:prstGeom prst="rect">
            <a:avLst/>
          </a:prstGeom>
          <a:noFill/>
          <a:ln/>
        </p:spPr>
        <p:txBody>
          <a:bodyPr wrap="square" lIns="0" tIns="0" rIns="0" bIns="0" rtlCol="0" anchor="ctr"/>
          <a:lstStyle/>
          <a:p>
            <a:pPr indent="0" marL="0">
              <a:buNone/>
            </a:pPr>
            <a:r>
              <a:rPr lang="en-US" sz="1130" dirty="0">
                <a:solidFill>
                  <a:srgbClr val="6E6676"/>
                </a:solidFill>
                <a:latin typeface="Calibri" pitchFamily="34" charset="0"/>
                <a:ea typeface="Calibri" pitchFamily="34" charset="-122"/>
                <a:cs typeface="Calibri" pitchFamily="34" charset="-120"/>
              </a:rPr>
              <a:t>Run against SynPUF and read the counts.</a:t>
            </a:r>
            <a:endParaRPr lang="en-US" sz="1130" dirty="0"/>
          </a:p>
        </p:txBody>
      </p:sp>
      <p:sp>
        <p:nvSpPr>
          <p:cNvPr id="35" name="Text 26"/>
          <p:cNvSpPr/>
          <p:nvPr/>
        </p:nvSpPr>
        <p:spPr>
          <a:xfrm>
            <a:off x="502920" y="4160520"/>
            <a:ext cx="8229600" cy="365760"/>
          </a:xfrm>
          <a:prstGeom prst="rect">
            <a:avLst/>
          </a:prstGeom>
          <a:noFill/>
          <a:ln/>
        </p:spPr>
        <p:txBody>
          <a:bodyPr wrap="square" lIns="0" tIns="0" rIns="0" bIns="0" rtlCol="0" anchor="ctr"/>
          <a:lstStyle/>
          <a:p>
            <a:pPr indent="0" marL="0">
              <a:buNone/>
            </a:pPr>
            <a:r>
              <a:rPr lang="en-US" sz="1250" i="1" dirty="0">
                <a:solidFill>
                  <a:srgbClr val="6E6676"/>
                </a:solidFill>
                <a:latin typeface="Calibri" pitchFamily="34" charset="0"/>
                <a:ea typeface="Calibri" pitchFamily="34" charset="-122"/>
                <a:cs typeface="Calibri" pitchFamily="34" charset="-120"/>
              </a:rPr>
              <a:t>Pre-build these before class so you show saved definitions, not live typing.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E1533"/>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B872C0"/>
                </a:solidFill>
                <a:latin typeface="Calibri" pitchFamily="34" charset="0"/>
                <a:ea typeface="Calibri" pitchFamily="34" charset="-122"/>
                <a:cs typeface="Calibri" pitchFamily="34" charset="-120"/>
              </a:rPr>
              <a:t>THE MOMENT</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FFFFFF"/>
                </a:solidFill>
                <a:latin typeface="Cambria" pitchFamily="34" charset="0"/>
                <a:ea typeface="Cambria" pitchFamily="34" charset="-122"/>
                <a:cs typeface="Cambria" pitchFamily="34" charset="-120"/>
              </a:rPr>
              <a:t>Watch the cohort collapse</a:t>
            </a:r>
            <a:endParaRPr lang="en-US" sz="3200" dirty="0"/>
          </a:p>
        </p:txBody>
      </p:sp>
      <p:sp>
        <p:nvSpPr>
          <p:cNvPr id="4" name="Text 2"/>
          <p:cNvSpPr/>
          <p:nvPr/>
        </p:nvSpPr>
        <p:spPr>
          <a:xfrm>
            <a:off x="502920" y="1600200"/>
            <a:ext cx="4572000" cy="411480"/>
          </a:xfrm>
          <a:prstGeom prst="rect">
            <a:avLst/>
          </a:prstGeom>
          <a:noFill/>
          <a:ln/>
        </p:spPr>
        <p:txBody>
          <a:bodyPr wrap="square" lIns="0" tIns="0" rIns="0" bIns="0" rtlCol="0" anchor="ctr"/>
          <a:lstStyle/>
          <a:p>
            <a:pPr indent="0" marL="0">
              <a:buNone/>
            </a:pPr>
            <a:r>
              <a:rPr lang="en-US" sz="1600" dirty="0">
                <a:solidFill>
                  <a:srgbClr val="C9A9D0"/>
                </a:solidFill>
                <a:latin typeface="Calibri" pitchFamily="34" charset="0"/>
                <a:ea typeface="Calibri" pitchFamily="34" charset="-122"/>
                <a:cs typeface="Calibri" pitchFamily="34" charset="-120"/>
              </a:rPr>
              <a:t>Diabetes alone</a:t>
            </a:r>
            <a:pPr indent="0" marL="0">
              <a:buNone/>
            </a:pPr>
            <a:r>
              <a:rPr lang="en-US" sz="1600" b="1" dirty="0">
                <a:solidFill>
                  <a:srgbClr val="B872C0"/>
                </a:solidFill>
                <a:latin typeface="Calibri" pitchFamily="34" charset="0"/>
                <a:ea typeface="Calibri" pitchFamily="34" charset="-122"/>
                <a:cs typeface="Calibri" pitchFamily="34" charset="-120"/>
              </a:rPr>
              <a:t>   large</a:t>
            </a:r>
            <a:endParaRPr lang="en-US" sz="1600" dirty="0"/>
          </a:p>
        </p:txBody>
      </p:sp>
      <p:sp>
        <p:nvSpPr>
          <p:cNvPr id="5" name="Text 3"/>
          <p:cNvSpPr/>
          <p:nvPr/>
        </p:nvSpPr>
        <p:spPr>
          <a:xfrm>
            <a:off x="502920" y="2057400"/>
            <a:ext cx="5486400" cy="411480"/>
          </a:xfrm>
          <a:prstGeom prst="rect">
            <a:avLst/>
          </a:prstGeom>
          <a:noFill/>
          <a:ln/>
        </p:spPr>
        <p:txBody>
          <a:bodyPr wrap="square" lIns="0" tIns="0" rIns="0" bIns="0" rtlCol="0" anchor="ctr"/>
          <a:lstStyle/>
          <a:p>
            <a:pPr indent="0" marL="0">
              <a:buNone/>
            </a:pPr>
            <a:r>
              <a:rPr lang="en-US" sz="1600" dirty="0">
                <a:solidFill>
                  <a:srgbClr val="C9A9D0"/>
                </a:solidFill>
                <a:latin typeface="Calibri" pitchFamily="34" charset="0"/>
                <a:ea typeface="Calibri" pitchFamily="34" charset="-122"/>
                <a:cs typeface="Calibri" pitchFamily="34" charset="-120"/>
              </a:rPr>
              <a:t>+ require a pregnancy</a:t>
            </a:r>
            <a:pPr indent="0" marL="0">
              <a:buNone/>
            </a:pPr>
            <a:r>
              <a:rPr lang="en-US" sz="1600" b="1" dirty="0">
                <a:solidFill>
                  <a:srgbClr val="E8890C"/>
                </a:solidFill>
                <a:latin typeface="Calibri" pitchFamily="34" charset="0"/>
                <a:ea typeface="Calibri" pitchFamily="34" charset="-122"/>
                <a:cs typeface="Calibri" pitchFamily="34" charset="-120"/>
              </a:rPr>
              <a:t>   falls off a cliff</a:t>
            </a:r>
            <a:endParaRPr lang="en-US" sz="1600" dirty="0"/>
          </a:p>
        </p:txBody>
      </p:sp>
      <p:sp>
        <p:nvSpPr>
          <p:cNvPr id="6" name="Text 4"/>
          <p:cNvSpPr/>
          <p:nvPr/>
        </p:nvSpPr>
        <p:spPr>
          <a:xfrm>
            <a:off x="502920" y="2514600"/>
            <a:ext cx="5486400" cy="411480"/>
          </a:xfrm>
          <a:prstGeom prst="rect">
            <a:avLst/>
          </a:prstGeom>
          <a:noFill/>
          <a:ln/>
        </p:spPr>
        <p:txBody>
          <a:bodyPr wrap="square" lIns="0" tIns="0" rIns="0" bIns="0" rtlCol="0" anchor="ctr"/>
          <a:lstStyle/>
          <a:p>
            <a:pPr indent="0" marL="0">
              <a:buNone/>
            </a:pPr>
            <a:r>
              <a:rPr lang="en-US" sz="1600" dirty="0">
                <a:solidFill>
                  <a:srgbClr val="C9A9D0"/>
                </a:solidFill>
                <a:latin typeface="Calibri" pitchFamily="34" charset="0"/>
                <a:ea typeface="Calibri" pitchFamily="34" charset="-122"/>
                <a:cs typeface="Calibri" pitchFamily="34" charset="-120"/>
              </a:rPr>
              <a:t>+ pregestational diabetes before it</a:t>
            </a:r>
            <a:endParaRPr lang="en-US" sz="1600" dirty="0"/>
          </a:p>
        </p:txBody>
      </p:sp>
      <p:sp>
        <p:nvSpPr>
          <p:cNvPr id="7" name="Text 5"/>
          <p:cNvSpPr/>
          <p:nvPr/>
        </p:nvSpPr>
        <p:spPr>
          <a:xfrm>
            <a:off x="5852160" y="1554480"/>
            <a:ext cx="2834640" cy="1463040"/>
          </a:xfrm>
          <a:prstGeom prst="rect">
            <a:avLst/>
          </a:prstGeom>
          <a:noFill/>
          <a:ln/>
        </p:spPr>
        <p:txBody>
          <a:bodyPr wrap="square" lIns="0" tIns="0" rIns="0" bIns="0" rtlCol="0" anchor="ctr"/>
          <a:lstStyle/>
          <a:p>
            <a:pPr algn="ctr" indent="0" marL="0">
              <a:buNone/>
            </a:pPr>
            <a:r>
              <a:rPr lang="en-US" sz="9600" b="1" dirty="0">
                <a:solidFill>
                  <a:srgbClr val="E8890C"/>
                </a:solidFill>
                <a:latin typeface="Cambria" pitchFamily="34" charset="0"/>
                <a:ea typeface="Cambria" pitchFamily="34" charset="-122"/>
                <a:cs typeface="Cambria" pitchFamily="34" charset="-120"/>
              </a:rPr>
              <a:t>≈ 0</a:t>
            </a:r>
            <a:endParaRPr lang="en-US" sz="9600" dirty="0"/>
          </a:p>
        </p:txBody>
      </p:sp>
      <p:sp>
        <p:nvSpPr>
          <p:cNvPr id="8" name="Shape 6"/>
          <p:cNvSpPr/>
          <p:nvPr/>
        </p:nvSpPr>
        <p:spPr>
          <a:xfrm>
            <a:off x="502920" y="3246120"/>
            <a:ext cx="8138160" cy="1234440"/>
          </a:xfrm>
          <a:prstGeom prst="roundRect">
            <a:avLst>
              <a:gd name="adj" fmla="val 6667"/>
            </a:avLst>
          </a:prstGeom>
          <a:solidFill>
            <a:srgbClr val="3D1F44"/>
          </a:solidFill>
          <a:ln/>
          <a:effectLst>
            <a:outerShdw sx="100000" sy="100000" kx="0" ky="0" algn="bl" rotWithShape="0" blurRad="88900" dist="25400" dir="5400000">
              <a:srgbClr val="000000">
                <a:alpha val="13000"/>
              </a:srgbClr>
            </a:outerShdw>
          </a:effectLst>
        </p:spPr>
      </p:sp>
      <p:sp>
        <p:nvSpPr>
          <p:cNvPr id="9" name="Text 7"/>
          <p:cNvSpPr/>
          <p:nvPr/>
        </p:nvSpPr>
        <p:spPr>
          <a:xfrm>
            <a:off x="777240" y="3401568"/>
            <a:ext cx="7589520" cy="45720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Every concept exists. The cohort is empty. Nothing is broken.  </a:t>
            </a:r>
            <a:pPr indent="0" marL="0">
              <a:buNone/>
            </a:pPr>
            <a:r>
              <a:rPr lang="en-US" sz="1550" dirty="0">
                <a:solidFill>
                  <a:srgbClr val="B872C0"/>
                </a:solidFill>
                <a:latin typeface="Calibri" pitchFamily="34" charset="0"/>
                <a:ea typeface="Calibri" pitchFamily="34" charset="-122"/>
                <a:cs typeface="Calibri" pitchFamily="34" charset="-120"/>
              </a:rPr>
              <a:t>The source simply lacks the population.</a:t>
            </a:r>
            <a:endParaRPr lang="en-US" sz="1550" dirty="0"/>
          </a:p>
        </p:txBody>
      </p:sp>
      <p:sp>
        <p:nvSpPr>
          <p:cNvPr id="10" name="Text 8"/>
          <p:cNvSpPr/>
          <p:nvPr/>
        </p:nvSpPr>
        <p:spPr>
          <a:xfrm>
            <a:off x="777240" y="3913632"/>
            <a:ext cx="7589520" cy="41148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You found this in about eight minutes, not about eight months.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DIAGNOSE WHY, SO THE LESSON GENERALIZES</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Empty cohort? Ask which kind of empty</a:t>
            </a:r>
            <a:endParaRPr lang="en-US" sz="3200" dirty="0"/>
          </a:p>
        </p:txBody>
      </p:sp>
      <p:sp>
        <p:nvSpPr>
          <p:cNvPr id="4" name="Shape 2"/>
          <p:cNvSpPr/>
          <p:nvPr/>
        </p:nvSpPr>
        <p:spPr>
          <a:xfrm>
            <a:off x="502920" y="1737360"/>
            <a:ext cx="3977640" cy="2514600"/>
          </a:xfrm>
          <a:prstGeom prst="roundRect">
            <a:avLst>
              <a:gd name="adj" fmla="val 3273"/>
            </a:avLst>
          </a:prstGeom>
          <a:solidFill>
            <a:srgbClr val="F5EDF8"/>
          </a:solidFill>
          <a:ln/>
          <a:effectLst>
            <a:outerShdw sx="100000" sy="100000" kx="0" ky="0" algn="bl" rotWithShape="0" blurRad="88900" dist="25400" dir="5400000">
              <a:srgbClr val="000000">
                <a:alpha val="13000"/>
              </a:srgbClr>
            </a:outerShdw>
          </a:effectLst>
        </p:spPr>
      </p:sp>
      <p:sp>
        <p:nvSpPr>
          <p:cNvPr id="5" name="Shape 3"/>
          <p:cNvSpPr/>
          <p:nvPr/>
        </p:nvSpPr>
        <p:spPr>
          <a:xfrm>
            <a:off x="777240" y="1993392"/>
            <a:ext cx="502920" cy="502920"/>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892912" y="2109064"/>
            <a:ext cx="271577" cy="271577"/>
          </a:xfrm>
          <a:prstGeom prst="rect">
            <a:avLst/>
          </a:prstGeom>
        </p:spPr>
      </p:pic>
      <p:sp>
        <p:nvSpPr>
          <p:cNvPr id="7" name="Text 4"/>
          <p:cNvSpPr/>
          <p:nvPr/>
        </p:nvSpPr>
        <p:spPr>
          <a:xfrm>
            <a:off x="1417320" y="2002536"/>
            <a:ext cx="2743200" cy="457200"/>
          </a:xfrm>
          <a:prstGeom prst="rect">
            <a:avLst/>
          </a:prstGeom>
          <a:noFill/>
          <a:ln/>
        </p:spPr>
        <p:txBody>
          <a:bodyPr wrap="square" lIns="0" tIns="0" rIns="0" bIns="0" rtlCol="0" anchor="ctr"/>
          <a:lstStyle/>
          <a:p>
            <a:pPr indent="0" marL="0">
              <a:buNone/>
            </a:pPr>
            <a:r>
              <a:rPr lang="en-US" sz="1700" b="1" dirty="0">
                <a:solidFill>
                  <a:srgbClr val="904199"/>
                </a:solidFill>
                <a:latin typeface="Cambria" pitchFamily="34" charset="0"/>
                <a:ea typeface="Cambria" pitchFamily="34" charset="-122"/>
                <a:cs typeface="Cambria" pitchFamily="34" charset="-120"/>
              </a:rPr>
              <a:t>Concept problem</a:t>
            </a:r>
            <a:endParaRPr lang="en-US" sz="1700" dirty="0"/>
          </a:p>
        </p:txBody>
      </p:sp>
      <p:sp>
        <p:nvSpPr>
          <p:cNvPr id="8" name="Text 5"/>
          <p:cNvSpPr/>
          <p:nvPr/>
        </p:nvSpPr>
        <p:spPr>
          <a:xfrm>
            <a:off x="777240" y="2606040"/>
            <a:ext cx="3474720" cy="1463040"/>
          </a:xfrm>
          <a:prstGeom prst="rect">
            <a:avLst/>
          </a:prstGeom>
          <a:noFill/>
          <a:ln/>
        </p:spPr>
        <p:txBody>
          <a:bodyPr wrap="square" lIns="0" tIns="0" rIns="0" bIns="0" rtlCol="0" anchor="ctr"/>
          <a:lstStyle/>
          <a:p>
            <a:pPr indent="0" marL="0">
              <a:buNone/>
            </a:pPr>
            <a:r>
              <a:rPr lang="en-US" sz="1330" dirty="0">
                <a:solidFill>
                  <a:srgbClr val="2B2230"/>
                </a:solidFill>
                <a:latin typeface="Calibri" pitchFamily="34" charset="0"/>
                <a:ea typeface="Calibri" pitchFamily="34" charset="-122"/>
                <a:cs typeface="Calibri" pitchFamily="34" charset="-120"/>
              </a:rPr>
              <a:t>The codes may be there but unmapped, so a standard-concept query misses them. Possibly fixable. Ask your steward about mapping before giving up.</a:t>
            </a:r>
            <a:endParaRPr lang="en-US" sz="1330" dirty="0"/>
          </a:p>
        </p:txBody>
      </p:sp>
      <p:sp>
        <p:nvSpPr>
          <p:cNvPr id="9" name="Shape 6"/>
          <p:cNvSpPr/>
          <p:nvPr/>
        </p:nvSpPr>
        <p:spPr>
          <a:xfrm>
            <a:off x="4663440" y="1737360"/>
            <a:ext cx="3977640" cy="2514600"/>
          </a:xfrm>
          <a:prstGeom prst="roundRect">
            <a:avLst>
              <a:gd name="adj" fmla="val 3273"/>
            </a:avLst>
          </a:prstGeom>
          <a:solidFill>
            <a:srgbClr val="FDF2E3"/>
          </a:solidFill>
          <a:ln/>
          <a:effectLst>
            <a:outerShdw sx="100000" sy="100000" kx="0" ky="0" algn="bl" rotWithShape="0" blurRad="88900" dist="25400" dir="5400000">
              <a:srgbClr val="000000">
                <a:alpha val="13000"/>
              </a:srgbClr>
            </a:outerShdw>
          </a:effectLst>
        </p:spPr>
      </p:sp>
      <p:sp>
        <p:nvSpPr>
          <p:cNvPr id="10" name="Shape 7"/>
          <p:cNvSpPr/>
          <p:nvPr/>
        </p:nvSpPr>
        <p:spPr>
          <a:xfrm>
            <a:off x="4937760" y="1993392"/>
            <a:ext cx="502920" cy="502920"/>
          </a:xfrm>
          <a:prstGeom prst="ellipse">
            <a:avLst/>
          </a:prstGeom>
          <a:solidFill>
            <a:srgbClr val="E8890C"/>
          </a:solidFill>
          <a:ln/>
        </p:spPr>
      </p:sp>
      <p:pic>
        <p:nvPicPr>
          <p:cNvPr id="11" name="Image 1" descr="preencoded.png">    </p:cNvPr>
          <p:cNvPicPr>
            <a:picLocks noChangeAspect="1"/>
          </p:cNvPicPr>
          <p:nvPr/>
        </p:nvPicPr>
        <p:blipFill>
          <a:blip r:embed="rId2"/>
          <a:stretch>
            <a:fillRect/>
          </a:stretch>
        </p:blipFill>
        <p:spPr>
          <a:xfrm>
            <a:off x="5053432" y="2109064"/>
            <a:ext cx="271577" cy="271577"/>
          </a:xfrm>
          <a:prstGeom prst="rect">
            <a:avLst/>
          </a:prstGeom>
        </p:spPr>
      </p:pic>
      <p:sp>
        <p:nvSpPr>
          <p:cNvPr id="12" name="Text 8"/>
          <p:cNvSpPr/>
          <p:nvPr/>
        </p:nvSpPr>
        <p:spPr>
          <a:xfrm>
            <a:off x="5577840" y="2002536"/>
            <a:ext cx="2743200" cy="45720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Population problem</a:t>
            </a:r>
            <a:endParaRPr lang="en-US" sz="1700" dirty="0"/>
          </a:p>
        </p:txBody>
      </p:sp>
      <p:sp>
        <p:nvSpPr>
          <p:cNvPr id="13" name="Text 9"/>
          <p:cNvSpPr/>
          <p:nvPr/>
        </p:nvSpPr>
        <p:spPr>
          <a:xfrm>
            <a:off x="4937760" y="2606040"/>
            <a:ext cx="3474720" cy="1463040"/>
          </a:xfrm>
          <a:prstGeom prst="rect">
            <a:avLst/>
          </a:prstGeom>
          <a:noFill/>
          <a:ln/>
        </p:spPr>
        <p:txBody>
          <a:bodyPr wrap="square" lIns="0" tIns="0" rIns="0" bIns="0" rtlCol="0" anchor="ctr"/>
          <a:lstStyle/>
          <a:p>
            <a:pPr indent="0" marL="0">
              <a:buNone/>
            </a:pPr>
            <a:r>
              <a:rPr lang="en-US" sz="1330" dirty="0">
                <a:solidFill>
                  <a:srgbClr val="2B2230"/>
                </a:solidFill>
                <a:latin typeface="Calibri" pitchFamily="34" charset="0"/>
                <a:ea typeface="Calibri" pitchFamily="34" charset="-122"/>
                <a:cs typeface="Calibri" pitchFamily="34" charset="-120"/>
              </a:rPr>
              <a:t>The people are not in this source at all, as with pregnancies in Medicare. Not fixable here. Take the question to data that has the population.</a:t>
            </a:r>
            <a:endParaRPr lang="en-US" sz="133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THE DEMO IS NOT A DEAD END</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2900" b="1" dirty="0">
                <a:solidFill>
                  <a:srgbClr val="2B2230"/>
                </a:solidFill>
                <a:latin typeface="Cambria" pitchFamily="34" charset="0"/>
                <a:ea typeface="Cambria" pitchFamily="34" charset="-122"/>
                <a:cs typeface="Cambria" pitchFamily="34" charset="-120"/>
              </a:rPr>
              <a:t>It can't run your study. It can hand it over.</a:t>
            </a:r>
            <a:endParaRPr lang="en-US" sz="2900" dirty="0"/>
          </a:p>
        </p:txBody>
      </p:sp>
      <p:sp>
        <p:nvSpPr>
          <p:cNvPr id="4" name="Shape 2"/>
          <p:cNvSpPr/>
          <p:nvPr/>
        </p:nvSpPr>
        <p:spPr>
          <a:xfrm>
            <a:off x="502920" y="1874520"/>
            <a:ext cx="3977640" cy="2194560"/>
          </a:xfrm>
          <a:prstGeom prst="roundRect">
            <a:avLst>
              <a:gd name="adj" fmla="val 3750"/>
            </a:avLst>
          </a:prstGeom>
          <a:solidFill>
            <a:srgbClr val="F5EDF8"/>
          </a:solidFill>
          <a:ln/>
          <a:effectLst>
            <a:outerShdw sx="100000" sy="100000" kx="0" ky="0" algn="bl" rotWithShape="0" blurRad="88900" dist="25400" dir="5400000">
              <a:srgbClr val="000000">
                <a:alpha val="13000"/>
              </a:srgbClr>
            </a:outerShdw>
          </a:effectLst>
        </p:spPr>
      </p:sp>
      <p:sp>
        <p:nvSpPr>
          <p:cNvPr id="5" name="Shape 3"/>
          <p:cNvSpPr/>
          <p:nvPr/>
        </p:nvSpPr>
        <p:spPr>
          <a:xfrm>
            <a:off x="777240" y="2121408"/>
            <a:ext cx="502920" cy="502920"/>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892912" y="2237080"/>
            <a:ext cx="271577" cy="271577"/>
          </a:xfrm>
          <a:prstGeom prst="rect">
            <a:avLst/>
          </a:prstGeom>
        </p:spPr>
      </p:pic>
      <p:sp>
        <p:nvSpPr>
          <p:cNvPr id="7" name="Text 4"/>
          <p:cNvSpPr/>
          <p:nvPr/>
        </p:nvSpPr>
        <p:spPr>
          <a:xfrm>
            <a:off x="1417320" y="2130552"/>
            <a:ext cx="2743200" cy="457200"/>
          </a:xfrm>
          <a:prstGeom prst="rect">
            <a:avLst/>
          </a:prstGeom>
          <a:noFill/>
          <a:ln/>
        </p:spPr>
        <p:txBody>
          <a:bodyPr wrap="square" lIns="0" tIns="0" rIns="0" bIns="0" rtlCol="0" anchor="ctr"/>
          <a:lstStyle/>
          <a:p>
            <a:pPr indent="0" marL="0">
              <a:buNone/>
            </a:pPr>
            <a:r>
              <a:rPr lang="en-US" sz="1600" b="1" dirty="0">
                <a:solidFill>
                  <a:srgbClr val="904199"/>
                </a:solidFill>
                <a:latin typeface="Cambria" pitchFamily="34" charset="0"/>
                <a:ea typeface="Cambria" pitchFamily="34" charset="-122"/>
                <a:cs typeface="Cambria" pitchFamily="34" charset="-120"/>
              </a:rPr>
              <a:t>Export the definition</a:t>
            </a:r>
            <a:endParaRPr lang="en-US" sz="1600" dirty="0"/>
          </a:p>
        </p:txBody>
      </p:sp>
      <p:sp>
        <p:nvSpPr>
          <p:cNvPr id="8" name="Text 5"/>
          <p:cNvSpPr/>
          <p:nvPr/>
        </p:nvSpPr>
        <p:spPr>
          <a:xfrm>
            <a:off x="777240" y="2743200"/>
            <a:ext cx="3474720" cy="1280160"/>
          </a:xfrm>
          <a:prstGeom prst="rect">
            <a:avLst/>
          </a:prstGeom>
          <a:noFill/>
          <a:ln/>
        </p:spPr>
        <p:txBody>
          <a:bodyPr wrap="square" lIns="0" tIns="0" rIns="0" bIns="0" rtlCol="0" anchor="ctr"/>
          <a:lstStyle/>
          <a:p>
            <a:pPr indent="0" marL="0">
              <a:buNone/>
            </a:pPr>
            <a:r>
              <a:rPr lang="en-US" sz="1350" dirty="0">
                <a:solidFill>
                  <a:srgbClr val="2B2230"/>
                </a:solidFill>
                <a:latin typeface="Calibri" pitchFamily="34" charset="0"/>
                <a:ea typeface="Calibri" pitchFamily="34" charset="-122"/>
                <a:cs typeface="Calibri" pitchFamily="34" charset="-120"/>
              </a:rPr>
              <a:t>Save the cohort as JSON, import it into your institution's ATLAS, and run it against real obstetric data.</a:t>
            </a:r>
            <a:endParaRPr lang="en-US" sz="1350" dirty="0"/>
          </a:p>
        </p:txBody>
      </p:sp>
      <p:sp>
        <p:nvSpPr>
          <p:cNvPr id="9" name="Shape 6"/>
          <p:cNvSpPr/>
          <p:nvPr/>
        </p:nvSpPr>
        <p:spPr>
          <a:xfrm>
            <a:off x="4663440" y="1874520"/>
            <a:ext cx="3977640" cy="2194560"/>
          </a:xfrm>
          <a:prstGeom prst="roundRect">
            <a:avLst>
              <a:gd name="adj" fmla="val 3750"/>
            </a:avLst>
          </a:prstGeom>
          <a:solidFill>
            <a:srgbClr val="F5EDF8"/>
          </a:solidFill>
          <a:ln/>
          <a:effectLst>
            <a:outerShdw sx="100000" sy="100000" kx="0" ky="0" algn="bl" rotWithShape="0" blurRad="88900" dist="25400" dir="5400000">
              <a:srgbClr val="000000">
                <a:alpha val="13000"/>
              </a:srgbClr>
            </a:outerShdw>
          </a:effectLst>
        </p:spPr>
      </p:sp>
      <p:sp>
        <p:nvSpPr>
          <p:cNvPr id="10" name="Shape 7"/>
          <p:cNvSpPr/>
          <p:nvPr/>
        </p:nvSpPr>
        <p:spPr>
          <a:xfrm>
            <a:off x="4937760" y="2121408"/>
            <a:ext cx="502920" cy="502920"/>
          </a:xfrm>
          <a:prstGeom prst="ellipse">
            <a:avLst/>
          </a:prstGeom>
          <a:solidFill>
            <a:srgbClr val="B872C0"/>
          </a:solidFill>
          <a:ln/>
        </p:spPr>
      </p:sp>
      <p:pic>
        <p:nvPicPr>
          <p:cNvPr id="11" name="Image 1" descr="preencoded.png">    </p:cNvPr>
          <p:cNvPicPr>
            <a:picLocks noChangeAspect="1"/>
          </p:cNvPicPr>
          <p:nvPr/>
        </p:nvPicPr>
        <p:blipFill>
          <a:blip r:embed="rId2"/>
          <a:stretch>
            <a:fillRect/>
          </a:stretch>
        </p:blipFill>
        <p:spPr>
          <a:xfrm>
            <a:off x="5053432" y="2237080"/>
            <a:ext cx="271577" cy="271577"/>
          </a:xfrm>
          <a:prstGeom prst="rect">
            <a:avLst/>
          </a:prstGeom>
        </p:spPr>
      </p:pic>
      <p:sp>
        <p:nvSpPr>
          <p:cNvPr id="12" name="Text 8"/>
          <p:cNvSpPr/>
          <p:nvPr/>
        </p:nvSpPr>
        <p:spPr>
          <a:xfrm>
            <a:off x="5577840" y="2130552"/>
            <a:ext cx="2743200" cy="457200"/>
          </a:xfrm>
          <a:prstGeom prst="rect">
            <a:avLst/>
          </a:prstGeom>
          <a:noFill/>
          <a:ln/>
        </p:spPr>
        <p:txBody>
          <a:bodyPr wrap="square" lIns="0" tIns="0" rIns="0" bIns="0" rtlCol="0" anchor="ctr"/>
          <a:lstStyle/>
          <a:p>
            <a:pPr indent="0" marL="0">
              <a:buNone/>
            </a:pPr>
            <a:r>
              <a:rPr lang="en-US" sz="1600" b="1" dirty="0">
                <a:solidFill>
                  <a:srgbClr val="904199"/>
                </a:solidFill>
                <a:latin typeface="Cambria" pitchFamily="34" charset="0"/>
                <a:ea typeface="Cambria" pitchFamily="34" charset="-122"/>
                <a:cs typeface="Cambria" pitchFamily="34" charset="-120"/>
              </a:rPr>
              <a:t>Generate the R code</a:t>
            </a:r>
            <a:endParaRPr lang="en-US" sz="1600" dirty="0"/>
          </a:p>
        </p:txBody>
      </p:sp>
      <p:sp>
        <p:nvSpPr>
          <p:cNvPr id="13" name="Text 9"/>
          <p:cNvSpPr/>
          <p:nvPr/>
        </p:nvSpPr>
        <p:spPr>
          <a:xfrm>
            <a:off x="4937760" y="2743200"/>
            <a:ext cx="3474720" cy="1280160"/>
          </a:xfrm>
          <a:prstGeom prst="rect">
            <a:avLst/>
          </a:prstGeom>
          <a:noFill/>
          <a:ln/>
        </p:spPr>
        <p:txBody>
          <a:bodyPr wrap="square" lIns="0" tIns="0" rIns="0" bIns="0" rtlCol="0" anchor="ctr"/>
          <a:lstStyle/>
          <a:p>
            <a:pPr indent="0" marL="0">
              <a:buNone/>
            </a:pPr>
            <a:r>
              <a:rPr lang="en-US" sz="1350" dirty="0">
                <a:solidFill>
                  <a:srgbClr val="2B2230"/>
                </a:solidFill>
                <a:latin typeface="Calibri" pitchFamily="34" charset="0"/>
                <a:ea typeface="Calibri" pitchFamily="34" charset="-122"/>
                <a:cs typeface="Calibri" pitchFamily="34" charset="-120"/>
              </a:rPr>
              <a:t>ATLAS can emit a full study package from a definition built on the public instance, to run on any CDM. No local ATLAS required.</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E1533"/>
        </a:solidFill>
      </p:bgPr>
    </p:bg>
    <p:spTree>
      <p:nvGrpSpPr>
        <p:cNvPr id="1" name=""/>
        <p:cNvGrpSpPr/>
        <p:nvPr/>
      </p:nvGrpSpPr>
      <p:grpSpPr>
        <a:xfrm>
          <a:off x="0" y="0"/>
          <a:ext cx="0" cy="0"/>
          <a:chOff x="0" y="0"/>
          <a:chExt cx="0" cy="0"/>
        </a:xfrm>
      </p:grpSpPr>
      <p:sp>
        <p:nvSpPr>
          <p:cNvPr id="2" name="Shape 0"/>
          <p:cNvSpPr/>
          <p:nvPr/>
        </p:nvSpPr>
        <p:spPr>
          <a:xfrm>
            <a:off x="7863840" y="-1097280"/>
            <a:ext cx="2743200" cy="2743200"/>
          </a:xfrm>
          <a:prstGeom prst="ellipse">
            <a:avLst/>
          </a:prstGeom>
          <a:solidFill>
            <a:srgbClr val="3D1F44"/>
          </a:solidFill>
          <a:ln/>
        </p:spPr>
      </p:sp>
      <p:sp>
        <p:nvSpPr>
          <p:cNvPr id="3" name="Text 1"/>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B872C0"/>
                </a:solidFill>
                <a:latin typeface="Calibri" pitchFamily="34" charset="0"/>
                <a:ea typeface="Calibri" pitchFamily="34" charset="-122"/>
                <a:cs typeface="Calibri" pitchFamily="34" charset="-120"/>
              </a:rPr>
              <a:t>SEGMENT 5 · WHEN ONE SITE ISN'T ENOUGH</a:t>
            </a:r>
            <a:endParaRPr lang="en-US" sz="1150" dirty="0"/>
          </a:p>
        </p:txBody>
      </p:sp>
      <p:sp>
        <p:nvSpPr>
          <p:cNvPr id="4" name="Text 2"/>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FFFFFF"/>
                </a:solidFill>
                <a:latin typeface="Cambria" pitchFamily="34" charset="0"/>
                <a:ea typeface="Cambria" pitchFamily="34" charset="-122"/>
                <a:cs typeface="Cambria" pitchFamily="34" charset="-120"/>
              </a:rPr>
              <a:t>Results travel. Records don't.</a:t>
            </a:r>
            <a:endParaRPr lang="en-US" sz="3200" dirty="0"/>
          </a:p>
        </p:txBody>
      </p:sp>
      <p:sp>
        <p:nvSpPr>
          <p:cNvPr id="5" name="Shape 3"/>
          <p:cNvSpPr/>
          <p:nvPr/>
        </p:nvSpPr>
        <p:spPr>
          <a:xfrm>
            <a:off x="502920" y="1645920"/>
            <a:ext cx="603504" cy="603504"/>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641726" y="1784726"/>
            <a:ext cx="325892" cy="325892"/>
          </a:xfrm>
          <a:prstGeom prst="rect">
            <a:avLst/>
          </a:prstGeom>
        </p:spPr>
      </p:pic>
      <p:sp>
        <p:nvSpPr>
          <p:cNvPr id="7" name="Text 4"/>
          <p:cNvSpPr/>
          <p:nvPr/>
        </p:nvSpPr>
        <p:spPr>
          <a:xfrm>
            <a:off x="1325880" y="1600200"/>
            <a:ext cx="7315200" cy="8686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You define a study once. Each site runs it locally, behind its own firewall. Only aggregate results come back. No person-level data ever leaves any site.</a:t>
            </a:r>
            <a:endParaRPr lang="en-US" sz="1500" dirty="0"/>
          </a:p>
        </p:txBody>
      </p:sp>
      <p:sp>
        <p:nvSpPr>
          <p:cNvPr id="8" name="Shape 5"/>
          <p:cNvSpPr/>
          <p:nvPr/>
        </p:nvSpPr>
        <p:spPr>
          <a:xfrm>
            <a:off x="502920" y="2697480"/>
            <a:ext cx="3977640" cy="1691640"/>
          </a:xfrm>
          <a:prstGeom prst="roundRect">
            <a:avLst>
              <a:gd name="adj" fmla="val 4865"/>
            </a:avLst>
          </a:prstGeom>
          <a:solidFill>
            <a:srgbClr val="3D1F44"/>
          </a:solidFill>
          <a:ln/>
          <a:effectLst>
            <a:outerShdw sx="100000" sy="100000" kx="0" ky="0" algn="bl" rotWithShape="0" blurRad="88900" dist="25400" dir="5400000">
              <a:srgbClr val="000000">
                <a:alpha val="13000"/>
              </a:srgbClr>
            </a:outerShdw>
          </a:effectLst>
        </p:spPr>
      </p:sp>
      <p:sp>
        <p:nvSpPr>
          <p:cNvPr id="9" name="Text 6"/>
          <p:cNvSpPr/>
          <p:nvPr/>
        </p:nvSpPr>
        <p:spPr>
          <a:xfrm>
            <a:off x="777240" y="2834640"/>
            <a:ext cx="3474720" cy="320040"/>
          </a:xfrm>
          <a:prstGeom prst="rect">
            <a:avLst/>
          </a:prstGeom>
          <a:noFill/>
          <a:ln/>
        </p:spPr>
        <p:txBody>
          <a:bodyPr wrap="square" lIns="0" tIns="0" rIns="0" bIns="0" rtlCol="0" anchor="ctr"/>
          <a:lstStyle/>
          <a:p>
            <a:pPr indent="0" marL="0">
              <a:buNone/>
            </a:pPr>
            <a:r>
              <a:rPr lang="en-US" sz="1450" b="1" dirty="0">
                <a:solidFill>
                  <a:srgbClr val="B872C0"/>
                </a:solidFill>
                <a:latin typeface="Cambria" pitchFamily="34" charset="0"/>
                <a:ea typeface="Cambria" pitchFamily="34" charset="-122"/>
                <a:cs typeface="Cambria" pitchFamily="34" charset="-120"/>
              </a:rPr>
              <a:t>Gauge feasibility</a:t>
            </a:r>
            <a:endParaRPr lang="en-US" sz="1450" dirty="0"/>
          </a:p>
        </p:txBody>
      </p:sp>
      <p:sp>
        <p:nvSpPr>
          <p:cNvPr id="10" name="Text 7"/>
          <p:cNvSpPr/>
          <p:nvPr/>
        </p:nvSpPr>
        <p:spPr>
          <a:xfrm>
            <a:off x="777240" y="3200400"/>
            <a:ext cx="3474720" cy="1097280"/>
          </a:xfrm>
          <a:prstGeom prst="rect">
            <a:avLst/>
          </a:prstGeom>
          <a:noFill/>
          <a:ln/>
        </p:spPr>
        <p:txBody>
          <a:bodyPr wrap="square" lIns="0" tIns="0" rIns="0" bIns="0" rtlCol="0" anchor="ctr"/>
          <a:lstStyle/>
          <a:p>
            <a:pPr marL="152400" indent="-152400">
              <a:spcAft>
                <a:spcPts val="400"/>
              </a:spcAft>
              <a:buSzPct val="100000"/>
              <a:buChar char="•"/>
            </a:pPr>
            <a:r>
              <a:rPr lang="en-US" sz="1180" dirty="0">
                <a:solidFill>
                  <a:srgbClr val="C9A9D0"/>
                </a:solidFill>
                <a:latin typeface="Calibri" pitchFamily="34" charset="0"/>
                <a:ea typeface="Calibri" pitchFamily="34" charset="-122"/>
                <a:cs typeface="Calibri" pitchFamily="34" charset="-120"/>
              </a:rPr>
              <a:t>Published data-source characterizations</a:t>
            </a:r>
            <a:endParaRPr lang="en-US" sz="1180" dirty="0"/>
          </a:p>
          <a:p>
            <a:pPr marL="152400" indent="-152400">
              <a:spcAft>
                <a:spcPts val="400"/>
              </a:spcAft>
              <a:buSzPct val="100000"/>
              <a:buChar char="•"/>
            </a:pPr>
            <a:r>
              <a:rPr lang="en-US" sz="1180" dirty="0">
                <a:solidFill>
                  <a:srgbClr val="C9A9D0"/>
                </a:solidFill>
                <a:latin typeface="Calibri" pitchFamily="34" charset="0"/>
                <a:ea typeface="Calibri" pitchFamily="34" charset="-122"/>
                <a:cs typeface="Calibri" pitchFamily="34" charset="-120"/>
              </a:rPr>
              <a:t>The OHDSI Forums, ask who has the population</a:t>
            </a:r>
            <a:endParaRPr lang="en-US" sz="1180" dirty="0"/>
          </a:p>
          <a:p>
            <a:pPr marL="152400" indent="-152400">
              <a:spcAft>
                <a:spcPts val="400"/>
              </a:spcAft>
              <a:buSzPct val="100000"/>
              <a:buChar char="•"/>
            </a:pPr>
            <a:r>
              <a:rPr lang="en-US" sz="1180" dirty="0">
                <a:solidFill>
                  <a:srgbClr val="C9A9D0"/>
                </a:solidFill>
                <a:latin typeface="Calibri" pitchFamily="34" charset="0"/>
                <a:ea typeface="Calibri" pitchFamily="34" charset="-122"/>
                <a:cs typeface="Calibri" pitchFamily="34" charset="-120"/>
              </a:rPr>
              <a:t>Prior network studies with similar cohorts</a:t>
            </a:r>
            <a:endParaRPr lang="en-US" sz="1180" dirty="0"/>
          </a:p>
        </p:txBody>
      </p:sp>
      <p:sp>
        <p:nvSpPr>
          <p:cNvPr id="11" name="Shape 8"/>
          <p:cNvSpPr/>
          <p:nvPr/>
        </p:nvSpPr>
        <p:spPr>
          <a:xfrm>
            <a:off x="4663440" y="2697480"/>
            <a:ext cx="3977640" cy="1691640"/>
          </a:xfrm>
          <a:prstGeom prst="roundRect">
            <a:avLst>
              <a:gd name="adj" fmla="val 4865"/>
            </a:avLst>
          </a:prstGeom>
          <a:solidFill>
            <a:srgbClr val="3D1F44"/>
          </a:solidFill>
          <a:ln/>
          <a:effectLst>
            <a:outerShdw sx="100000" sy="100000" kx="0" ky="0" algn="bl" rotWithShape="0" blurRad="88900" dist="25400" dir="5400000">
              <a:srgbClr val="000000">
                <a:alpha val="13000"/>
              </a:srgbClr>
            </a:outerShdw>
          </a:effectLst>
        </p:spPr>
      </p:sp>
      <p:sp>
        <p:nvSpPr>
          <p:cNvPr id="12" name="Text 9"/>
          <p:cNvSpPr/>
          <p:nvPr/>
        </p:nvSpPr>
        <p:spPr>
          <a:xfrm>
            <a:off x="4937760" y="2834640"/>
            <a:ext cx="3474720" cy="320040"/>
          </a:xfrm>
          <a:prstGeom prst="rect">
            <a:avLst/>
          </a:prstGeom>
          <a:noFill/>
          <a:ln/>
        </p:spPr>
        <p:txBody>
          <a:bodyPr wrap="square" lIns="0" tIns="0" rIns="0" bIns="0" rtlCol="0" anchor="ctr"/>
          <a:lstStyle/>
          <a:p>
            <a:pPr indent="0" marL="0">
              <a:buNone/>
            </a:pPr>
            <a:r>
              <a:rPr lang="en-US" sz="1450" b="1" dirty="0">
                <a:solidFill>
                  <a:srgbClr val="B872C0"/>
                </a:solidFill>
                <a:latin typeface="Cambria" pitchFamily="34" charset="0"/>
                <a:ea typeface="Cambria" pitchFamily="34" charset="-122"/>
                <a:cs typeface="Cambria" pitchFamily="34" charset="-120"/>
              </a:rPr>
              <a:t>How it runs</a:t>
            </a:r>
            <a:endParaRPr lang="en-US" sz="1450" dirty="0"/>
          </a:p>
        </p:txBody>
      </p:sp>
      <p:sp>
        <p:nvSpPr>
          <p:cNvPr id="13" name="Text 10"/>
          <p:cNvSpPr/>
          <p:nvPr/>
        </p:nvSpPr>
        <p:spPr>
          <a:xfrm>
            <a:off x="4937760" y="3200400"/>
            <a:ext cx="3474720" cy="1097280"/>
          </a:xfrm>
          <a:prstGeom prst="rect">
            <a:avLst/>
          </a:prstGeom>
          <a:noFill/>
          <a:ln/>
        </p:spPr>
        <p:txBody>
          <a:bodyPr wrap="square" lIns="0" tIns="0" rIns="0" bIns="0" rtlCol="0" anchor="ctr"/>
          <a:lstStyle/>
          <a:p>
            <a:pPr marL="152400" indent="-152400">
              <a:spcAft>
                <a:spcPts val="400"/>
              </a:spcAft>
              <a:buSzPct val="100000"/>
              <a:buChar char="•"/>
            </a:pPr>
            <a:r>
              <a:rPr lang="en-US" sz="1180" dirty="0">
                <a:solidFill>
                  <a:srgbClr val="C9A9D0"/>
                </a:solidFill>
                <a:latin typeface="Calibri" pitchFamily="34" charset="0"/>
                <a:ea typeface="Calibri" pitchFamily="34" charset="-122"/>
                <a:cs typeface="Calibri" pitchFamily="34" charset="-120"/>
              </a:rPr>
              <a:t>Build cohorts in ATLAS</a:t>
            </a:r>
            <a:endParaRPr lang="en-US" sz="1180" dirty="0"/>
          </a:p>
          <a:p>
            <a:pPr marL="152400" indent="-152400">
              <a:spcAft>
                <a:spcPts val="400"/>
              </a:spcAft>
              <a:buSzPct val="100000"/>
              <a:buChar char="•"/>
            </a:pPr>
            <a:r>
              <a:rPr lang="en-US" sz="1180" dirty="0">
                <a:solidFill>
                  <a:srgbClr val="C9A9D0"/>
                </a:solidFill>
                <a:latin typeface="Calibri" pitchFamily="34" charset="0"/>
                <a:ea typeface="Calibri" pitchFamily="34" charset="-122"/>
                <a:cs typeface="Calibri" pitchFamily="34" charset="-120"/>
              </a:rPr>
              <a:t>Package with HADES, run via Strategus</a:t>
            </a:r>
            <a:endParaRPr lang="en-US" sz="1180" dirty="0"/>
          </a:p>
          <a:p>
            <a:pPr marL="152400" indent="-152400">
              <a:spcAft>
                <a:spcPts val="400"/>
              </a:spcAft>
              <a:buSzPct val="100000"/>
              <a:buChar char="•"/>
            </a:pPr>
            <a:r>
              <a:rPr lang="en-US" sz="1180" dirty="0">
                <a:solidFill>
                  <a:srgbClr val="C9A9D0"/>
                </a:solidFill>
                <a:latin typeface="Calibri" pitchFamily="34" charset="0"/>
                <a:ea typeface="Calibri" pitchFamily="34" charset="-122"/>
                <a:cs typeface="Calibri" pitchFamily="34" charset="-120"/>
              </a:rPr>
              <a:t>Sites return aggregate results to pool</a:t>
            </a:r>
            <a:endParaRPr lang="en-US" sz="11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8229600" cy="274320"/>
          </a:xfrm>
          <a:prstGeom prst="rect">
            <a:avLst/>
          </a:prstGeom>
          <a:noFill/>
          <a:ln/>
        </p:spPr>
        <p:txBody>
          <a:bodyPr wrap="square" lIns="0" tIns="0" rIns="0" bIns="0" rtlCol="0" anchor="ctr"/>
          <a:lstStyle/>
          <a:p>
            <a:pPr indent="0" marL="0">
              <a:buNone/>
            </a:pPr>
            <a:r>
              <a:rPr lang="en-US" sz="1150" b="1" spc="200" kern="0" dirty="0">
                <a:solidFill>
                  <a:srgbClr val="904199"/>
                </a:solidFill>
                <a:latin typeface="Calibri" pitchFamily="34" charset="0"/>
                <a:ea typeface="Calibri" pitchFamily="34" charset="-122"/>
                <a:cs typeface="Calibri" pitchFamily="34" charset="-120"/>
              </a:rPr>
              <a:t>SEGMENT 6 · YOUR DECISION</a:t>
            </a:r>
            <a:endParaRPr lang="en-US" sz="1150" dirty="0"/>
          </a:p>
        </p:txBody>
      </p:sp>
      <p:sp>
        <p:nvSpPr>
          <p:cNvPr id="3" name="Text 1"/>
          <p:cNvSpPr/>
          <p:nvPr/>
        </p:nvSpPr>
        <p:spPr>
          <a:xfrm>
            <a:off x="502920" y="658368"/>
            <a:ext cx="8229600" cy="822960"/>
          </a:xfrm>
          <a:prstGeom prst="rect">
            <a:avLst/>
          </a:prstGeom>
          <a:noFill/>
          <a:ln/>
        </p:spPr>
        <p:txBody>
          <a:bodyPr wrap="square" lIns="0" tIns="0" rIns="0" bIns="0" rtlCol="0" anchor="ctr"/>
          <a:lstStyle/>
          <a:p>
            <a:pPr indent="0" marL="0">
              <a:lnSpc>
                <a:spcPct val="98000"/>
              </a:lnSpc>
              <a:buNone/>
            </a:pPr>
            <a:r>
              <a:rPr lang="en-US" sz="3200" b="1" dirty="0">
                <a:solidFill>
                  <a:srgbClr val="2B2230"/>
                </a:solidFill>
                <a:latin typeface="Cambria" pitchFamily="34" charset="0"/>
                <a:ea typeface="Cambria" pitchFamily="34" charset="-122"/>
                <a:cs typeface="Cambria" pitchFamily="34" charset="-120"/>
              </a:rPr>
              <a:t>Decide before you write a protocol</a:t>
            </a:r>
            <a:endParaRPr lang="en-US" sz="3200" dirty="0"/>
          </a:p>
        </p:txBody>
      </p:sp>
      <p:sp>
        <p:nvSpPr>
          <p:cNvPr id="4" name="Shape 2"/>
          <p:cNvSpPr/>
          <p:nvPr/>
        </p:nvSpPr>
        <p:spPr>
          <a:xfrm>
            <a:off x="502920" y="1691640"/>
            <a:ext cx="8138160" cy="749808"/>
          </a:xfrm>
          <a:prstGeom prst="roundRect">
            <a:avLst>
              <a:gd name="adj" fmla="val 10976"/>
            </a:avLst>
          </a:prstGeom>
          <a:solidFill>
            <a:srgbClr val="F5EDF8"/>
          </a:solidFill>
          <a:ln/>
          <a:effectLst>
            <a:outerShdw sx="100000" sy="100000" kx="0" ky="0" algn="bl" rotWithShape="0" blurRad="88900" dist="25400" dir="5400000">
              <a:srgbClr val="000000">
                <a:alpha val="13000"/>
              </a:srgbClr>
            </a:outerShdw>
          </a:effectLst>
        </p:spPr>
      </p:sp>
      <p:sp>
        <p:nvSpPr>
          <p:cNvPr id="5" name="Shape 3"/>
          <p:cNvSpPr/>
          <p:nvPr/>
        </p:nvSpPr>
        <p:spPr>
          <a:xfrm>
            <a:off x="731520" y="1837944"/>
            <a:ext cx="457200" cy="457200"/>
          </a:xfrm>
          <a:prstGeom prst="ellipse">
            <a:avLst/>
          </a:prstGeom>
          <a:solidFill>
            <a:srgbClr val="904199"/>
          </a:solidFill>
          <a:ln/>
        </p:spPr>
      </p:sp>
      <p:pic>
        <p:nvPicPr>
          <p:cNvPr id="6" name="Image 0" descr="preencoded.png">    </p:cNvPr>
          <p:cNvPicPr>
            <a:picLocks noChangeAspect="1"/>
          </p:cNvPicPr>
          <p:nvPr/>
        </p:nvPicPr>
        <p:blipFill>
          <a:blip r:embed="rId1"/>
          <a:stretch>
            <a:fillRect/>
          </a:stretch>
        </p:blipFill>
        <p:spPr>
          <a:xfrm>
            <a:off x="836676" y="1943100"/>
            <a:ext cx="246888" cy="246888"/>
          </a:xfrm>
          <a:prstGeom prst="rect">
            <a:avLst/>
          </a:prstGeom>
        </p:spPr>
      </p:pic>
      <p:sp>
        <p:nvSpPr>
          <p:cNvPr id="7" name="Text 4"/>
          <p:cNvSpPr/>
          <p:nvPr/>
        </p:nvSpPr>
        <p:spPr>
          <a:xfrm>
            <a:off x="1371600" y="1728216"/>
            <a:ext cx="3108960" cy="676656"/>
          </a:xfrm>
          <a:prstGeom prst="rect">
            <a:avLst/>
          </a:prstGeom>
          <a:noFill/>
          <a:ln/>
        </p:spPr>
        <p:txBody>
          <a:bodyPr wrap="square" lIns="0" tIns="0" rIns="0" bIns="0" rtlCol="0" anchor="ctr"/>
          <a:lstStyle/>
          <a:p>
            <a:pPr indent="0" marL="0">
              <a:buNone/>
            </a:pPr>
            <a:r>
              <a:rPr lang="en-US" sz="1600" b="1" dirty="0">
                <a:solidFill>
                  <a:srgbClr val="2B2230"/>
                </a:solidFill>
                <a:latin typeface="Cambria" pitchFamily="34" charset="0"/>
                <a:ea typeface="Cambria" pitchFamily="34" charset="-122"/>
                <a:cs typeface="Cambria" pitchFamily="34" charset="-120"/>
              </a:rPr>
              <a:t>Feasible here</a:t>
            </a:r>
            <a:endParaRPr lang="en-US" sz="1600" dirty="0"/>
          </a:p>
        </p:txBody>
      </p:sp>
      <p:sp>
        <p:nvSpPr>
          <p:cNvPr id="8" name="Text 5"/>
          <p:cNvSpPr/>
          <p:nvPr/>
        </p:nvSpPr>
        <p:spPr>
          <a:xfrm>
            <a:off x="4526280" y="1728216"/>
            <a:ext cx="3977640" cy="676656"/>
          </a:xfrm>
          <a:prstGeom prst="rect">
            <a:avLst/>
          </a:prstGeom>
          <a:noFill/>
          <a:ln/>
        </p:spPr>
        <p:txBody>
          <a:bodyPr wrap="square" lIns="0" tIns="0" rIns="0" bIns="0" rtlCol="0" anchor="ctr"/>
          <a:lstStyle/>
          <a:p>
            <a:pPr indent="0" marL="0">
              <a:buNone/>
            </a:pPr>
            <a:r>
              <a:rPr lang="en-US" sz="1280" dirty="0">
                <a:solidFill>
                  <a:srgbClr val="6E6676"/>
                </a:solidFill>
                <a:latin typeface="Calibri" pitchFamily="34" charset="0"/>
                <a:ea typeface="Calibri" pitchFamily="34" charset="-122"/>
                <a:cs typeface="Calibri" pitchFamily="34" charset="-120"/>
              </a:rPr>
              <a:t>Population present and sufficient. Pilot locally first.</a:t>
            </a:r>
            <a:endParaRPr lang="en-US" sz="1280" dirty="0"/>
          </a:p>
        </p:txBody>
      </p:sp>
      <p:sp>
        <p:nvSpPr>
          <p:cNvPr id="9" name="Shape 6"/>
          <p:cNvSpPr/>
          <p:nvPr/>
        </p:nvSpPr>
        <p:spPr>
          <a:xfrm>
            <a:off x="502920" y="2560320"/>
            <a:ext cx="8138160" cy="749808"/>
          </a:xfrm>
          <a:prstGeom prst="roundRect">
            <a:avLst>
              <a:gd name="adj" fmla="val 10976"/>
            </a:avLst>
          </a:prstGeom>
          <a:solidFill>
            <a:srgbClr val="F5EDF8"/>
          </a:solidFill>
          <a:ln/>
          <a:effectLst>
            <a:outerShdw sx="100000" sy="100000" kx="0" ky="0" algn="bl" rotWithShape="0" blurRad="88900" dist="25400" dir="5400000">
              <a:srgbClr val="000000">
                <a:alpha val="13000"/>
              </a:srgbClr>
            </a:outerShdw>
          </a:effectLst>
        </p:spPr>
      </p:sp>
      <p:sp>
        <p:nvSpPr>
          <p:cNvPr id="10" name="Shape 7"/>
          <p:cNvSpPr/>
          <p:nvPr/>
        </p:nvSpPr>
        <p:spPr>
          <a:xfrm>
            <a:off x="731520" y="2706624"/>
            <a:ext cx="457200" cy="457200"/>
          </a:xfrm>
          <a:prstGeom prst="ellipse">
            <a:avLst/>
          </a:prstGeom>
          <a:solidFill>
            <a:srgbClr val="B872C0"/>
          </a:solidFill>
          <a:ln/>
        </p:spPr>
      </p:sp>
      <p:pic>
        <p:nvPicPr>
          <p:cNvPr id="11" name="Image 1" descr="preencoded.png">    </p:cNvPr>
          <p:cNvPicPr>
            <a:picLocks noChangeAspect="1"/>
          </p:cNvPicPr>
          <p:nvPr/>
        </p:nvPicPr>
        <p:blipFill>
          <a:blip r:embed="rId2"/>
          <a:stretch>
            <a:fillRect/>
          </a:stretch>
        </p:blipFill>
        <p:spPr>
          <a:xfrm>
            <a:off x="836676" y="2811780"/>
            <a:ext cx="246888" cy="246888"/>
          </a:xfrm>
          <a:prstGeom prst="rect">
            <a:avLst/>
          </a:prstGeom>
        </p:spPr>
      </p:pic>
      <p:sp>
        <p:nvSpPr>
          <p:cNvPr id="12" name="Text 8"/>
          <p:cNvSpPr/>
          <p:nvPr/>
        </p:nvSpPr>
        <p:spPr>
          <a:xfrm>
            <a:off x="1371600" y="2596896"/>
            <a:ext cx="3108960" cy="676656"/>
          </a:xfrm>
          <a:prstGeom prst="rect">
            <a:avLst/>
          </a:prstGeom>
          <a:noFill/>
          <a:ln/>
        </p:spPr>
        <p:txBody>
          <a:bodyPr wrap="square" lIns="0" tIns="0" rIns="0" bIns="0" rtlCol="0" anchor="ctr"/>
          <a:lstStyle/>
          <a:p>
            <a:pPr indent="0" marL="0">
              <a:buNone/>
            </a:pPr>
            <a:r>
              <a:rPr lang="en-US" sz="1600" b="1" dirty="0">
                <a:solidFill>
                  <a:srgbClr val="2B2230"/>
                </a:solidFill>
                <a:latin typeface="Cambria" pitchFamily="34" charset="0"/>
                <a:ea typeface="Cambria" pitchFamily="34" charset="-122"/>
                <a:cs typeface="Cambria" pitchFamily="34" charset="-120"/>
              </a:rPr>
              <a:t>Feasible via network only</a:t>
            </a:r>
            <a:endParaRPr lang="en-US" sz="1600" dirty="0"/>
          </a:p>
        </p:txBody>
      </p:sp>
      <p:sp>
        <p:nvSpPr>
          <p:cNvPr id="13" name="Text 9"/>
          <p:cNvSpPr/>
          <p:nvPr/>
        </p:nvSpPr>
        <p:spPr>
          <a:xfrm>
            <a:off x="4526280" y="2596896"/>
            <a:ext cx="3977640" cy="676656"/>
          </a:xfrm>
          <a:prstGeom prst="rect">
            <a:avLst/>
          </a:prstGeom>
          <a:noFill/>
          <a:ln/>
        </p:spPr>
        <p:txBody>
          <a:bodyPr wrap="square" lIns="0" tIns="0" rIns="0" bIns="0" rtlCol="0" anchor="ctr"/>
          <a:lstStyle/>
          <a:p>
            <a:pPr indent="0" marL="0">
              <a:buNone/>
            </a:pPr>
            <a:r>
              <a:rPr lang="en-US" sz="1280" dirty="0">
                <a:solidFill>
                  <a:srgbClr val="6E6676"/>
                </a:solidFill>
                <a:latin typeface="Calibri" pitchFamily="34" charset="0"/>
                <a:ea typeface="Calibri" pitchFamily="34" charset="-122"/>
                <a:cs typeface="Calibri" pitchFamily="34" charset="-120"/>
              </a:rPr>
              <a:t>Population present but too few. Scope it as a network study, engage early.</a:t>
            </a:r>
            <a:endParaRPr lang="en-US" sz="1280" dirty="0"/>
          </a:p>
        </p:txBody>
      </p:sp>
      <p:sp>
        <p:nvSpPr>
          <p:cNvPr id="14" name="Shape 10"/>
          <p:cNvSpPr/>
          <p:nvPr/>
        </p:nvSpPr>
        <p:spPr>
          <a:xfrm>
            <a:off x="502920" y="3429000"/>
            <a:ext cx="8138160" cy="749808"/>
          </a:xfrm>
          <a:prstGeom prst="roundRect">
            <a:avLst>
              <a:gd name="adj" fmla="val 10976"/>
            </a:avLst>
          </a:prstGeom>
          <a:solidFill>
            <a:srgbClr val="FDF2E3"/>
          </a:solidFill>
          <a:ln/>
          <a:effectLst>
            <a:outerShdw sx="100000" sy="100000" kx="0" ky="0" algn="bl" rotWithShape="0" blurRad="88900" dist="25400" dir="5400000">
              <a:srgbClr val="000000">
                <a:alpha val="13000"/>
              </a:srgbClr>
            </a:outerShdw>
          </a:effectLst>
        </p:spPr>
      </p:sp>
      <p:sp>
        <p:nvSpPr>
          <p:cNvPr id="15" name="Shape 11"/>
          <p:cNvSpPr/>
          <p:nvPr/>
        </p:nvSpPr>
        <p:spPr>
          <a:xfrm>
            <a:off x="731520" y="3575304"/>
            <a:ext cx="457200" cy="457200"/>
          </a:xfrm>
          <a:prstGeom prst="ellipse">
            <a:avLst/>
          </a:prstGeom>
          <a:solidFill>
            <a:srgbClr val="E8890C"/>
          </a:solidFill>
          <a:ln/>
        </p:spPr>
      </p:sp>
      <p:pic>
        <p:nvPicPr>
          <p:cNvPr id="16" name="Image 2" descr="preencoded.png">    </p:cNvPr>
          <p:cNvPicPr>
            <a:picLocks noChangeAspect="1"/>
          </p:cNvPicPr>
          <p:nvPr/>
        </p:nvPicPr>
        <p:blipFill>
          <a:blip r:embed="rId3"/>
          <a:stretch>
            <a:fillRect/>
          </a:stretch>
        </p:blipFill>
        <p:spPr>
          <a:xfrm>
            <a:off x="836676" y="3680460"/>
            <a:ext cx="246888" cy="246888"/>
          </a:xfrm>
          <a:prstGeom prst="rect">
            <a:avLst/>
          </a:prstGeom>
        </p:spPr>
      </p:pic>
      <p:sp>
        <p:nvSpPr>
          <p:cNvPr id="17" name="Text 12"/>
          <p:cNvSpPr/>
          <p:nvPr/>
        </p:nvSpPr>
        <p:spPr>
          <a:xfrm>
            <a:off x="1371600" y="3465576"/>
            <a:ext cx="3108960" cy="676656"/>
          </a:xfrm>
          <a:prstGeom prst="rect">
            <a:avLst/>
          </a:prstGeom>
          <a:noFill/>
          <a:ln/>
        </p:spPr>
        <p:txBody>
          <a:bodyPr wrap="square" lIns="0" tIns="0" rIns="0" bIns="0" rtlCol="0" anchor="ctr"/>
          <a:lstStyle/>
          <a:p>
            <a:pPr indent="0" marL="0">
              <a:buNone/>
            </a:pPr>
            <a:r>
              <a:rPr lang="en-US" sz="1600" b="1" dirty="0">
                <a:solidFill>
                  <a:srgbClr val="2B2230"/>
                </a:solidFill>
                <a:latin typeface="Cambria" pitchFamily="34" charset="0"/>
                <a:ea typeface="Cambria" pitchFamily="34" charset="-122"/>
                <a:cs typeface="Cambria" pitchFamily="34" charset="-120"/>
              </a:rPr>
              <a:t>Not feasible as posed</a:t>
            </a:r>
            <a:endParaRPr lang="en-US" sz="1600" dirty="0"/>
          </a:p>
        </p:txBody>
      </p:sp>
      <p:sp>
        <p:nvSpPr>
          <p:cNvPr id="18" name="Text 13"/>
          <p:cNvSpPr/>
          <p:nvPr/>
        </p:nvSpPr>
        <p:spPr>
          <a:xfrm>
            <a:off x="4526280" y="3465576"/>
            <a:ext cx="3977640" cy="676656"/>
          </a:xfrm>
          <a:prstGeom prst="rect">
            <a:avLst/>
          </a:prstGeom>
          <a:noFill/>
          <a:ln/>
        </p:spPr>
        <p:txBody>
          <a:bodyPr wrap="square" lIns="0" tIns="0" rIns="0" bIns="0" rtlCol="0" anchor="ctr"/>
          <a:lstStyle/>
          <a:p>
            <a:pPr indent="0" marL="0">
              <a:buNone/>
            </a:pPr>
            <a:r>
              <a:rPr lang="en-US" sz="1280" dirty="0">
                <a:solidFill>
                  <a:srgbClr val="6E6676"/>
                </a:solidFill>
                <a:latin typeface="Calibri" pitchFamily="34" charset="0"/>
                <a:ea typeface="Calibri" pitchFamily="34" charset="-122"/>
                <a:cs typeface="Calibri" pitchFamily="34" charset="-120"/>
              </a:rPr>
              <a:t>No reachable source has it. Reframe before writing anything.</a:t>
            </a:r>
            <a:endParaRPr lang="en-US" sz="1280" dirty="0"/>
          </a:p>
        </p:txBody>
      </p:sp>
      <p:sp>
        <p:nvSpPr>
          <p:cNvPr id="19" name="Text 14"/>
          <p:cNvSpPr/>
          <p:nvPr/>
        </p:nvSpPr>
        <p:spPr>
          <a:xfrm>
            <a:off x="502920" y="4370832"/>
            <a:ext cx="8229600" cy="320040"/>
          </a:xfrm>
          <a:prstGeom prst="rect">
            <a:avLst/>
          </a:prstGeom>
          <a:noFill/>
          <a:ln/>
        </p:spPr>
        <p:txBody>
          <a:bodyPr wrap="square" lIns="0" tIns="0" rIns="0" bIns="0" rtlCol="0" anchor="ctr"/>
          <a:lstStyle/>
          <a:p>
            <a:pPr indent="0" marL="0">
              <a:buNone/>
            </a:pPr>
            <a:r>
              <a:rPr lang="en-US" sz="1350" b="1" i="1" dirty="0">
                <a:solidFill>
                  <a:srgbClr val="904199"/>
                </a:solidFill>
                <a:latin typeface="Calibri" pitchFamily="34" charset="0"/>
                <a:ea typeface="Calibri" pitchFamily="34" charset="-122"/>
                <a:cs typeface="Calibri" pitchFamily="34" charset="-120"/>
              </a:rPr>
              <a:t>A hard “no” found now is a win, not a failure.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E1533"/>
        </a:solidFill>
      </p:bgPr>
    </p:bg>
    <p:spTree>
      <p:nvGrpSpPr>
        <p:cNvPr id="1" name=""/>
        <p:cNvGrpSpPr/>
        <p:nvPr/>
      </p:nvGrpSpPr>
      <p:grpSpPr>
        <a:xfrm>
          <a:off x="0" y="0"/>
          <a:ext cx="0" cy="0"/>
          <a:chOff x="0" y="0"/>
          <a:chExt cx="0" cy="0"/>
        </a:xfrm>
      </p:grpSpPr>
      <p:sp>
        <p:nvSpPr>
          <p:cNvPr id="2" name="Shape 0"/>
          <p:cNvSpPr/>
          <p:nvPr/>
        </p:nvSpPr>
        <p:spPr>
          <a:xfrm>
            <a:off x="-1005840" y="-1005840"/>
            <a:ext cx="2743200" cy="2743200"/>
          </a:xfrm>
          <a:prstGeom prst="ellipse">
            <a:avLst/>
          </a:prstGeom>
          <a:solidFill>
            <a:srgbClr val="3D1F44"/>
          </a:solidFill>
          <a:ln/>
        </p:spPr>
      </p:sp>
      <p:sp>
        <p:nvSpPr>
          <p:cNvPr id="3" name="Shape 1"/>
          <p:cNvSpPr/>
          <p:nvPr/>
        </p:nvSpPr>
        <p:spPr>
          <a:xfrm>
            <a:off x="8046720" y="3566160"/>
            <a:ext cx="2377440" cy="2377440"/>
          </a:xfrm>
          <a:prstGeom prst="ellipse">
            <a:avLst/>
          </a:prstGeom>
          <a:solidFill>
            <a:srgbClr val="3D1F44"/>
          </a:solidFill>
          <a:ln/>
        </p:spPr>
      </p:sp>
      <p:sp>
        <p:nvSpPr>
          <p:cNvPr id="4" name="Shape 2"/>
          <p:cNvSpPr/>
          <p:nvPr/>
        </p:nvSpPr>
        <p:spPr>
          <a:xfrm>
            <a:off x="502920" y="777240"/>
            <a:ext cx="640080" cy="640080"/>
          </a:xfrm>
          <a:prstGeom prst="ellipse">
            <a:avLst/>
          </a:prstGeom>
          <a:solidFill>
            <a:srgbClr val="904199"/>
          </a:solidFill>
          <a:ln/>
        </p:spPr>
      </p:sp>
      <p:pic>
        <p:nvPicPr>
          <p:cNvPr id="5" name="Image 0" descr="preencoded.png">    </p:cNvPr>
          <p:cNvPicPr>
            <a:picLocks noChangeAspect="1"/>
          </p:cNvPicPr>
          <p:nvPr/>
        </p:nvPicPr>
        <p:blipFill>
          <a:blip r:embed="rId1"/>
          <a:stretch>
            <a:fillRect/>
          </a:stretch>
        </p:blipFill>
        <p:spPr>
          <a:xfrm>
            <a:off x="650138" y="924458"/>
            <a:ext cx="345643" cy="345643"/>
          </a:xfrm>
          <a:prstGeom prst="rect">
            <a:avLst/>
          </a:prstGeom>
        </p:spPr>
      </p:pic>
      <p:sp>
        <p:nvSpPr>
          <p:cNvPr id="6" name="Text 3"/>
          <p:cNvSpPr/>
          <p:nvPr/>
        </p:nvSpPr>
        <p:spPr>
          <a:xfrm>
            <a:off x="502920" y="1600200"/>
            <a:ext cx="8229600" cy="274320"/>
          </a:xfrm>
          <a:prstGeom prst="rect">
            <a:avLst/>
          </a:prstGeom>
          <a:noFill/>
          <a:ln/>
        </p:spPr>
        <p:txBody>
          <a:bodyPr wrap="square" lIns="0" tIns="0" rIns="0" bIns="0" rtlCol="0" anchor="ctr"/>
          <a:lstStyle/>
          <a:p>
            <a:pPr indent="0" marL="0">
              <a:buNone/>
            </a:pPr>
            <a:r>
              <a:rPr lang="en-US" sz="1150" b="1" spc="200" kern="0" dirty="0">
                <a:solidFill>
                  <a:srgbClr val="B872C0"/>
                </a:solidFill>
                <a:latin typeface="Calibri" pitchFamily="34" charset="0"/>
                <a:ea typeface="Calibri" pitchFamily="34" charset="-122"/>
                <a:cs typeface="Calibri" pitchFamily="34" charset="-120"/>
              </a:rPr>
              <a:t>THE HABIT TO LEAVE WITH</a:t>
            </a:r>
            <a:endParaRPr lang="en-US" sz="1150" dirty="0"/>
          </a:p>
        </p:txBody>
      </p:sp>
      <p:sp>
        <p:nvSpPr>
          <p:cNvPr id="7" name="Text 4"/>
          <p:cNvSpPr/>
          <p:nvPr/>
        </p:nvSpPr>
        <p:spPr>
          <a:xfrm>
            <a:off x="475488" y="1874520"/>
            <a:ext cx="822960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Check feasibility first.</a:t>
            </a:r>
            <a:endParaRPr lang="en-US" sz="4000" dirty="0"/>
          </a:p>
        </p:txBody>
      </p:sp>
      <p:sp>
        <p:nvSpPr>
          <p:cNvPr id="8" name="Text 5"/>
          <p:cNvSpPr/>
          <p:nvPr/>
        </p:nvSpPr>
        <p:spPr>
          <a:xfrm>
            <a:off x="502920" y="2697480"/>
            <a:ext cx="8046720" cy="822960"/>
          </a:xfrm>
          <a:prstGeom prst="rect">
            <a:avLst/>
          </a:prstGeom>
          <a:noFill/>
          <a:ln/>
        </p:spPr>
        <p:txBody>
          <a:bodyPr wrap="square" lIns="0" tIns="0" rIns="0" bIns="0" rtlCol="0" anchor="ctr"/>
          <a:lstStyle/>
          <a:p>
            <a:pPr indent="0" marL="0">
              <a:lnSpc>
                <a:spcPct val="105000"/>
              </a:lnSpc>
              <a:buNone/>
            </a:pPr>
            <a:r>
              <a:rPr lang="en-US" sz="1900" dirty="0">
                <a:solidFill>
                  <a:srgbClr val="B872C0"/>
                </a:solidFill>
                <a:latin typeface="Calibri" pitchFamily="34" charset="0"/>
                <a:ea typeface="Calibri" pitchFamily="34" charset="-122"/>
                <a:cs typeface="Calibri" pitchFamily="34" charset="-120"/>
              </a:rPr>
              <a:t>Find the dead ends in minutes. Spend your real time on the question that survives.</a:t>
            </a:r>
            <a:endParaRPr lang="en-US" sz="1900" dirty="0"/>
          </a:p>
        </p:txBody>
      </p:sp>
      <p:sp>
        <p:nvSpPr>
          <p:cNvPr id="9" name="Text 6"/>
          <p:cNvSpPr/>
          <p:nvPr/>
        </p:nvSpPr>
        <p:spPr>
          <a:xfrm>
            <a:off x="502920" y="4343400"/>
            <a:ext cx="8229600" cy="320040"/>
          </a:xfrm>
          <a:prstGeom prst="rect">
            <a:avLst/>
          </a:prstGeom>
          <a:noFill/>
          <a:ln/>
        </p:spPr>
        <p:txBody>
          <a:bodyPr wrap="square" lIns="0" tIns="0" rIns="0" bIns="0" rtlCol="0" anchor="ctr"/>
          <a:lstStyle/>
          <a:p>
            <a:pPr indent="0" marL="0">
              <a:buNone/>
            </a:pPr>
            <a:r>
              <a:rPr lang="en-US" sz="1200" dirty="0">
                <a:solidFill>
                  <a:srgbClr val="C9A9D0"/>
                </a:solidFill>
                <a:latin typeface="Calibri" pitchFamily="34" charset="0"/>
                <a:ea typeface="Calibri" pitchFamily="34" charset="-122"/>
                <a:cs typeface="Calibri" pitchFamily="34" charset="-120"/>
              </a:rPr>
              <a:t>Take-home: the six checks, the steward email, the ATLAS walkthrough, and the one-page worksheet.   ·   atlas-demo.ohdsi.org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My Question Feasible?</dc:title>
  <dc:subject>PptxGenJS Presentation</dc:subject>
  <dc:creator>MCH OMOP/OHDSI Fellowship</dc:creator>
  <cp:lastModifiedBy>MCH OMOP/OHDSI Fellowship</cp:lastModifiedBy>
  <cp:revision>1</cp:revision>
  <dcterms:created xsi:type="dcterms:W3CDTF">2026-07-02T16:58:02Z</dcterms:created>
  <dcterms:modified xsi:type="dcterms:W3CDTF">2026-07-02T16:58:02Z</dcterms:modified>
</cp:coreProperties>
</file>