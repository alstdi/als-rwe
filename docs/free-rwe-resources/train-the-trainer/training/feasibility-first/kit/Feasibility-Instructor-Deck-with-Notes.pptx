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Set the tone: this is where every network study actually begins, not with a clever method but with a plain question and no idea whether the data can answer it. In the next 30 minutes we go from zero to a defensible go/no-go decision, using the public ATLAS demo so nobody needs institutional access yet. Note the attribution line: this was built for the JHU OHDSI MCH Fellowship, but the workflow is disease-agnostic — tell people to swap in whatever disease area they work in. Tell them the whole module rides on one running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Normalize the discomfort. The mixed room, clinical and technical, all feel the same disorientation here. Reframe it: not knowing who to ask is the starting line, not a personal deficiency. Everything today is about turning that disorientation into a short list of checks.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as a promise, not a syllabus. Point out that each objective maps to one segment of the next 30 minutes. The last one is the real deliverable: a decision they can defend.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question slowly. Everyone, clinical or technical, can reason about diabetes and pregnancy, which is why it works for a mixed room. Flag now that this question has a hidden hard part we will hit in two slides: you have to identify and date a pregnancy. Invite them to hold their own question in mind and map it to the same shape.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thesis of the whole module. The job of feasibility assessment is to move the moment of failure from month six to minute five. Everything else today is technique in service of that move. If they remember one slide, this is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table top to bottom. The point is that a question becomes checkable only once it is this specific. Then land the closer: the target, prior condition, exposure, and outcome all hang off being able to identify and date a pregnancy. That is the load-bearing element, and the next slides return to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checks are the spine of the rest of the module — each later segment answers one or two of them. Emphasize check 1 versus check 2: a concept can exist in the vocabulary and appear zero times in your data. That single distinction prevents most feasibility confusion, and the ATLAS demo will make it visceral. The take-home checklist adds one more check between 'time can be anchored' and 'enough of it': whether the outcome is the kind of event this type of data records, since claims and EHR data differ.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let this scare them off the question; use it to make them planners. The lesson is that the pregnancy-timing layer is the part that takes work, so name it on day one. This is also a credibility moment with the clinical fellows, who know pregnancy dating is hard clinically and will appreciate that the data problem mirrors the clinical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shortcuts beat the org chart: ask whether your institution is an OHDSI collaborator, and ask a colleague who has published a cohort study who they worked with. A name is faster than a directory. The right-hand card matters because people conflate platforms. Be specific or you get handed the wrong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every bullet. Highlight the two that save the most pain: whether childbearing-age and obstetric data are captured (the load-bearing element), and whether aggregate counts are allowed before full IRB, so they do not generate anything they are not cleared to. Mention the take-home has a copy-paste first-contact email.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conceptual heart of the demo that follows. Existence lives in the vocabulary and is the same everywhere; presence lives in the specific instance and is what determines feasibility. Keep those two apart and confusion drops away. The bottom line explains why the unmapped rate is a real steward question, not a technicality.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but high-value, especially for clinical fellows new to the model. The single most common false negative in feasibility is looking in the wrong table. Establish the reflex: identify the domain, then go to that table, then count.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before you open the tool. The demo data cannot answer the pregnancy question, which makes it a useful teaching database: it lets the room watch infeasibility happen safely. Diabetes counts will be large, and the rule requiring female sex and age 15 to 44 will remove nearly everyone. Run the saved cohort before class and write the dated counts into these notes, because the synthetic Medicare data include beneficiaries under 65 who qualify through disability, so the count after that rule is small and may not be zero.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live if the connection is good, otherwise narrate from screenshots; the sequence is the same. In Search, show diabetes with large counts, then preeclampsia with very small counts, which is the first sign of trouble. Open the saved cohort from the kit: its entry event is the first diabetes record, and its first inclusion rule requires female sex and age 15 to 44 at that record. At a real instance the entry event would be a pregnancy episode with pregestational diabetes required before it. Then generate. The next slide shows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Before you explain, ask the room why the cohort collapsed, and let a clinical fellow and a technical fellow each guess. The answer they should reach on their own: the concepts exist and the population does not. Read the counts from the attrition report on your own run of the saved cohort, since they depend on the demo database at the time.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transferable habit, the thing that outlives the demo. Two empties look identical on screen and call for opposite moves. A concept problem might be a mapping fix. A population problem means the source can never answer the question, so you take it elsewhere — which leads straight into the network.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Reassure them the free public tool is where you design and validate the logic at no cost, then point that logic at data that can actually answer the question. The Book of OHDSI describes designing an analysis in a public ATLAS and running the exported code where the data are. It also means the work they do in the demo today is not throwaway.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questions like this one, the relevant subgroups are often too small at one site, so the network is frequently the only path to enough power. Be honest about what it is not: not instant, not a single sign-on to raw data, not a replacement for local governance. What it is: a disciplined way to answer across many populations without exposing anyone's people. You do not need to master HADES or Strategus for feasibility, only to know they exist.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decision as the deliverable. The one-page worksheet in the take-home turns this slide into something they fill in for their own question. Reinforce that a no discovered here saved them the study; that reframe is the whole return on the last 30 minutes.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habit, not the tooling. The fellows who finish with a running network study are not the ones with the cleverest questions; they are the ones who checked feasibility first and spent their real time on what survived. Point them to the take-home pages and encourage them to run their own question through the worksheet this week.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20240"/>
            <a:ext cx="10363200" cy="1280160"/>
          </a:xfrm>
        </p:spPr>
        <p:txBody>
          <a:bodyPr anchor="b"/>
          <a:lstStyle>
            <a:lvl1pPr algn="l">
              <a:defRPr sz="4000" b="1"/>
            </a:lvl1pPr>
          </a:lstStyle>
          <a:p>
            <a:r>
              <a:rPr lang="en-US" smtClean="0"/>
              <a:t>Click to edit Master title style</a:t>
            </a:r>
            <a:endParaRPr lang="en-US"/>
          </a:p>
        </p:txBody>
      </p:sp>
      <p:sp>
        <p:nvSpPr>
          <p:cNvPr id="3" name="Text Placeholder 2"/>
          <p:cNvSpPr>
            <a:spLocks noGrp="1"/>
          </p:cNvSpPr>
          <p:nvPr>
            <p:ph type="body" idx="1"/>
          </p:nvPr>
        </p:nvSpPr>
        <p:spPr>
          <a:xfrm>
            <a:off x="963084" y="3291840"/>
            <a:ext cx="10363200" cy="1828800"/>
          </a:xfrm>
        </p:spPr>
        <p:txBody>
          <a:bodyPr anchor="t"/>
          <a:lstStyle>
            <a:lvl1pPr marL="0" indent="0" algn="l">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lgn="l"/>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200" kern="1200" b="1">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Is My Question Feasible?</a:t>
            </a:r>
          </a:p>
        </p:txBody>
      </p:sp>
      <p:sp>
        <p:nvSpPr>
          <p:cNvPr id="3" name="Subtitle 2"/>
          <p:cNvSpPr>
            <a:spLocks noGrp="1"/>
          </p:cNvSpPr>
          <p:nvPr>
            <p:ph type="subTitle" idx="1"/>
          </p:nvPr>
        </p:nvSpPr>
        <p:spPr/>
        <p:txBody>
          <a:bodyPr/>
          <a:lstStyle/>
          <a:p>
            <a:pPr marL="0" indent="0">
              <a:buNone/>
            </a:pPr>
            <a:r>
              <a:t>OMOP · OHDSI FEASIBILITY WALKTHROUGH</a:t>
            </a:r>
          </a:p>
          <a:p>
            <a:pPr marL="0" indent="0">
              <a:buNone/>
            </a:pPr>
            <a:r>
              <a:t>A first look at your OMOP instance — from a question to a go / no-go decision</a:t>
            </a:r>
          </a:p>
          <a:p>
            <a:pPr marL="0" indent="0">
              <a:buNone/>
            </a:pPr>
            <a:r>
              <a:t>~30 minutes   ·   guided walkthrough with the public ATLAS demo</a:t>
            </a:r>
          </a:p>
          <a:p>
            <a:pPr marL="0" indent="0">
              <a:buNone/>
            </a:pPr>
            <a:r>
              <a:rPr i="1"/>
              <a:t>Developed as a use case for the JHU OHDSI MCH Fellowship. The workflow is disease-agnostic — adapt the running example to your own disease area.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 are in their shoes</a:t>
            </a:r>
          </a:p>
        </p:txBody>
      </p:sp>
      <p:sp>
        <p:nvSpPr>
          <p:cNvPr id="3" name="Content Placeholder 2"/>
          <p:cNvSpPr>
            <a:spLocks noGrp="1"/>
          </p:cNvSpPr>
          <p:nvPr>
            <p:ph idx="1"/>
          </p:nvPr>
        </p:nvSpPr>
        <p:spPr/>
        <p:txBody>
          <a:bodyPr/>
          <a:lstStyle/>
          <a:p>
            <a:pPr marL="0" indent="0">
              <a:buNone/>
            </a:pPr>
            <a:r>
              <a:rPr b="1" sz="2400"/>
              <a:t>1. You have a question.</a:t>
            </a:r>
          </a:p>
          <a:p>
            <a:pPr/>
            <a:r>
              <a:rPr sz="2400"/>
              <a:t>A real question you care about — the one that made you open the data in the first place.</a:t>
            </a:r>
          </a:p>
          <a:p>
            <a:pPr marL="0" indent="0">
              <a:buNone/>
            </a:pPr>
            <a:r>
              <a:rPr b="1" sz="2400"/>
              <a:t>2. You don't know the instance.</a:t>
            </a:r>
          </a:p>
          <a:p>
            <a:pPr/>
            <a:r>
              <a:rPr sz="2400"/>
              <a:t>Who runs the OMOP data, what's in it, or how it's mapped.</a:t>
            </a:r>
          </a:p>
          <a:p>
            <a:pPr marL="0" indent="0">
              <a:buNone/>
            </a:pPr>
            <a:r>
              <a:rPr b="1" sz="2400"/>
              <a:t>3. You don't know if it can answer it.</a:t>
            </a:r>
          </a:p>
          <a:p>
            <a:pPr/>
            <a:r>
              <a:rPr sz="2400"/>
              <a:t>Whether the right people are even in the source.</a:t>
            </a:r>
          </a:p>
          <a:p>
            <a:pPr/>
            <a:r>
              <a:rPr i="1" sz="2400"/>
              <a:t>That is not a gap in your knowledge. It is the first real step of the study.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you'll be able to do</a:t>
            </a:r>
          </a:p>
        </p:txBody>
      </p:sp>
      <p:sp>
        <p:nvSpPr>
          <p:cNvPr id="3" name="Content Placeholder 2"/>
          <p:cNvSpPr>
            <a:spLocks noGrp="1"/>
          </p:cNvSpPr>
          <p:nvPr>
            <p:ph idx="1"/>
          </p:nvPr>
        </p:nvSpPr>
        <p:spPr/>
        <p:txBody>
          <a:bodyPr/>
          <a:lstStyle/>
          <a:p>
            <a:pPr marL="0" indent="0">
              <a:buNone/>
            </a:pPr>
            <a:r>
              <a:rPr sz="2400"/>
              <a:t>1. Turn a loose idea into a feasibility-testable specification.</a:t>
            </a:r>
          </a:p>
          <a:p>
            <a:pPr marL="0" indent="0">
              <a:buNone/>
            </a:pPr>
            <a:r>
              <a:rPr sz="2400"/>
              <a:t>2. Find who owns your OMOP instance and ask the right questions.</a:t>
            </a:r>
          </a:p>
          <a:p>
            <a:pPr marL="0" indent="0">
              <a:buNone/>
            </a:pPr>
            <a:r>
              <a:rPr sz="2400"/>
              <a:t>3. Read a vocabulary well enough to know if your concepts exist and are mapped.</a:t>
            </a:r>
          </a:p>
          <a:p>
            <a:pPr marL="0" indent="0">
              <a:buNone/>
            </a:pPr>
            <a:r>
              <a:rPr sz="2400"/>
              <a:t>4. Use ATLAS to test concept presence and cohort counts — and read what they prove.</a:t>
            </a:r>
          </a:p>
          <a:p>
            <a:pPr marL="0" indent="0">
              <a:buNone/>
            </a:pPr>
            <a:r>
              <a:rPr sz="2400"/>
              <a:t>5. Decide: feasible here, feasible via the network, or reframe — before a protocol.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running example</a:t>
            </a:r>
          </a:p>
        </p:txBody>
      </p:sp>
      <p:sp>
        <p:nvSpPr>
          <p:cNvPr id="3" name="Content Placeholder 2"/>
          <p:cNvSpPr>
            <a:spLocks noGrp="1"/>
          </p:cNvSpPr>
          <p:nvPr>
            <p:ph idx="1"/>
          </p:nvPr>
        </p:nvSpPr>
        <p:spPr/>
        <p:txBody>
          <a:bodyPr/>
          <a:lstStyle/>
          <a:p>
            <a:pPr marL="0" indent="0">
              <a:buNone/>
            </a:pPr>
            <a:r>
              <a:rPr b="1" sz="2400"/>
              <a:t>Among pregnant people with pregestational diabetes (type 1 or type 2, diagnosed before the pregnancy), how often does preeclampsia occur — and does that differ by first-trimester metformin versus insulin?</a:t>
            </a:r>
          </a:p>
          <a:p>
            <a:pPr/>
            <a:r>
              <a:rPr i="1" sz="2400"/>
              <a:t>Swap in your own question wherever you like. The steps do not change.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Feasibility is cheap. The wrong data are expensive.</a:t>
            </a:r>
          </a:p>
        </p:txBody>
      </p:sp>
      <p:sp>
        <p:nvSpPr>
          <p:cNvPr id="3" name="Content Placeholder 2"/>
          <p:cNvSpPr>
            <a:spLocks noGrp="1"/>
          </p:cNvSpPr>
          <p:nvPr>
            <p:ph idx="1" sz="half"/>
          </p:nvPr>
        </p:nvSpPr>
        <p:spPr/>
        <p:txBody>
          <a:bodyPr/>
          <a:lstStyle/>
          <a:p>
            <a:pPr marL="0" indent="0">
              <a:buNone/>
            </a:pPr>
            <a:r>
              <a:rPr b="1"/>
              <a:t>DISCOVER IT LATE</a:t>
            </a:r>
          </a:p>
          <a:p>
            <a:pPr marL="0" indent="0">
              <a:buNone/>
            </a:pPr>
            <a:r>
              <a:rPr b="1"/>
              <a:t>Month 6</a:t>
            </a:r>
          </a:p>
          <a:p>
            <a:pPr/>
            <a:r>
              <a:t>Protocol written, IRB filed — and only then the data cannot answer it.</a:t>
            </a:r>
          </a:p>
        </p:txBody>
      </p:sp>
      <p:sp>
        <p:nvSpPr>
          <p:cNvPr id="4" name="Content Placeholder 3"/>
          <p:cNvSpPr>
            <a:spLocks noGrp="1"/>
          </p:cNvSpPr>
          <p:nvPr>
            <p:ph idx="2" sz="half"/>
          </p:nvPr>
        </p:nvSpPr>
        <p:spPr/>
        <p:txBody>
          <a:bodyPr/>
          <a:lstStyle/>
          <a:p>
            <a:pPr marL="0" indent="0">
              <a:buNone/>
            </a:pPr>
            <a:r>
              <a:rPr b="1"/>
              <a:t>CATCH IT EARLY</a:t>
            </a:r>
          </a:p>
          <a:p>
            <a:pPr marL="0" indent="0">
              <a:buNone/>
            </a:pPr>
            <a:r>
              <a:rPr b="1"/>
              <a:t>Minute 5</a:t>
            </a:r>
          </a:p>
          <a:p>
            <a:pPr/>
            <a:r>
              <a:t>A few searches and one cohort tell you before you write a word.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Turn the idea into cohort logic</a:t>
            </a:r>
          </a:p>
        </p:txBody>
      </p:sp>
      <p:graphicFrame>
        <p:nvGraphicFramePr>
          <p:cNvPr id="3" name="Table 2"/>
          <p:cNvGraphicFramePr>
            <a:graphicFrameLocks noGrp="1"/>
          </p:cNvGraphicFramePr>
          <p:nvPr/>
        </p:nvGraphicFramePr>
        <p:xfrm>
          <a:off x="612648" y="1417320"/>
          <a:ext cx="10966703" cy="3143250"/>
        </p:xfrm>
        <a:graphic>
          <a:graphicData uri="http://schemas.openxmlformats.org/drawingml/2006/table">
            <a:tbl>
              <a:tblPr firstRow="1">
                <a:tableStyleId>{5940675A-B579-460E-94D1-54222C63F5DA}</a:tableStyleId>
              </a:tblPr>
              <a:tblGrid>
                <a:gridCol w="1911627"/>
                <a:gridCol w="3923866"/>
                <a:gridCol w="5131210"/>
              </a:tblGrid>
              <a:tr h="400050">
                <a:tc>
                  <a:txBody>
                    <a:bodyPr wrap="square"/>
                    <a:lstStyle/>
                    <a:p>
                      <a:r>
                        <a:rPr sz="1800" b="1">
                          <a:solidFill>
                            <a:srgbClr val="000000"/>
                          </a:solidFill>
                        </a:rPr>
                        <a:t>Component</a:t>
                      </a:r>
                    </a:p>
                  </a:txBody>
                  <a:tcPr marL="73152" marR="73152" marT="27432" marB="27432"/>
                </a:tc>
                <a:tc>
                  <a:txBody>
                    <a:bodyPr wrap="square"/>
                    <a:lstStyle/>
                    <a:p>
                      <a:r>
                        <a:rPr sz="1800" b="1">
                          <a:solidFill>
                            <a:srgbClr val="000000"/>
                          </a:solidFill>
                        </a:rPr>
                        <a:t>The question needs</a:t>
                      </a:r>
                    </a:p>
                  </a:txBody>
                  <a:tcPr marL="73152" marR="73152" marT="27432" marB="27432"/>
                </a:tc>
                <a:tc>
                  <a:txBody>
                    <a:bodyPr wrap="square"/>
                    <a:lstStyle/>
                    <a:p>
                      <a:r>
                        <a:rPr sz="1800" b="1">
                          <a:solidFill>
                            <a:srgbClr val="000000"/>
                          </a:solidFill>
                        </a:rPr>
                        <a:t>So the data must contain</a:t>
                      </a:r>
                    </a:p>
                  </a:txBody>
                  <a:tcPr marL="73152" marR="73152" marT="27432" marB="27432"/>
                </a:tc>
              </a:tr>
              <a:tr h="685800">
                <a:tc>
                  <a:txBody>
                    <a:bodyPr wrap="square"/>
                    <a:lstStyle/>
                    <a:p>
                      <a:r>
                        <a:rPr sz="1800">
                          <a:solidFill>
                            <a:srgbClr val="000000"/>
                          </a:solidFill>
                        </a:rPr>
                        <a:t>Target</a:t>
                      </a:r>
                    </a:p>
                  </a:txBody>
                  <a:tcPr marL="73152" marR="73152" marT="27432" marB="27432"/>
                </a:tc>
                <a:tc>
                  <a:txBody>
                    <a:bodyPr wrap="square"/>
                    <a:lstStyle/>
                    <a:p>
                      <a:r>
                        <a:rPr sz="1800">
                          <a:solidFill>
                            <a:srgbClr val="000000"/>
                          </a:solidFill>
                        </a:rPr>
                        <a:t>A datable pregnancy episode</a:t>
                      </a:r>
                    </a:p>
                  </a:txBody>
                  <a:tcPr marL="73152" marR="73152" marT="27432" marB="27432"/>
                </a:tc>
                <a:tc>
                  <a:txBody>
                    <a:bodyPr wrap="square"/>
                    <a:lstStyle/>
                    <a:p>
                      <a:r>
                        <a:rPr sz="1800">
                          <a:solidFill>
                            <a:srgbClr val="000000"/>
                          </a:solidFill>
                        </a:rPr>
                        <a:t>Obstetric records; a start and end you can date</a:t>
                      </a:r>
                    </a:p>
                  </a:txBody>
                  <a:tcPr marL="73152" marR="73152" marT="27432" marB="27432"/>
                </a:tc>
              </a:tr>
              <a:tr h="685800">
                <a:tc>
                  <a:txBody>
                    <a:bodyPr wrap="square"/>
                    <a:lstStyle/>
                    <a:p>
                      <a:r>
                        <a:rPr sz="1800">
                          <a:solidFill>
                            <a:srgbClr val="000000"/>
                          </a:solidFill>
                        </a:rPr>
                        <a:t>Prior condition</a:t>
                      </a:r>
                    </a:p>
                  </a:txBody>
                  <a:tcPr marL="73152" marR="73152" marT="27432" marB="27432"/>
                </a:tc>
                <a:tc>
                  <a:txBody>
                    <a:bodyPr wrap="square"/>
                    <a:lstStyle/>
                    <a:p>
                      <a:r>
                        <a:rPr sz="1800">
                          <a:solidFill>
                            <a:srgbClr val="000000"/>
                          </a:solidFill>
                        </a:rPr>
                        <a:t>Pregestational diabetes</a:t>
                      </a:r>
                    </a:p>
                  </a:txBody>
                  <a:tcPr marL="73152" marR="73152" marT="27432" marB="27432"/>
                </a:tc>
                <a:tc>
                  <a:txBody>
                    <a:bodyPr wrap="square"/>
                    <a:lstStyle/>
                    <a:p>
                      <a:r>
                        <a:rPr sz="1800">
                          <a:solidFill>
                            <a:srgbClr val="000000"/>
                          </a:solidFill>
                        </a:rPr>
                        <a:t>Diabetes dated before the pregnancy start</a:t>
                      </a:r>
                    </a:p>
                  </a:txBody>
                  <a:tcPr marL="73152" marR="73152" marT="27432" marB="27432"/>
                </a:tc>
              </a:tr>
              <a:tr h="685800">
                <a:tc>
                  <a:txBody>
                    <a:bodyPr wrap="square"/>
                    <a:lstStyle/>
                    <a:p>
                      <a:r>
                        <a:rPr sz="1800">
                          <a:solidFill>
                            <a:srgbClr val="000000"/>
                          </a:solidFill>
                        </a:rPr>
                        <a:t>Exposure</a:t>
                      </a:r>
                    </a:p>
                  </a:txBody>
                  <a:tcPr marL="73152" marR="73152" marT="27432" marB="27432"/>
                </a:tc>
                <a:tc>
                  <a:txBody>
                    <a:bodyPr wrap="square"/>
                    <a:lstStyle/>
                    <a:p>
                      <a:r>
                        <a:rPr sz="1800">
                          <a:solidFill>
                            <a:srgbClr val="000000"/>
                          </a:solidFill>
                        </a:rPr>
                        <a:t>Metformin vs insulin, 1st trimester</a:t>
                      </a:r>
                    </a:p>
                  </a:txBody>
                  <a:tcPr marL="73152" marR="73152" marT="27432" marB="27432"/>
                </a:tc>
                <a:tc>
                  <a:txBody>
                    <a:bodyPr wrap="square"/>
                    <a:lstStyle/>
                    <a:p>
                      <a:r>
                        <a:rPr sz="1800">
                          <a:solidFill>
                            <a:srgbClr val="000000"/>
                          </a:solidFill>
                        </a:rPr>
                        <a:t>Drug records inside the pregnancy window</a:t>
                      </a:r>
                    </a:p>
                  </a:txBody>
                  <a:tcPr marL="73152" marR="73152" marT="27432" marB="27432"/>
                </a:tc>
              </a:tr>
              <a:tr h="685800">
                <a:tc>
                  <a:txBody>
                    <a:bodyPr wrap="square"/>
                    <a:lstStyle/>
                    <a:p>
                      <a:r>
                        <a:rPr sz="1800">
                          <a:solidFill>
                            <a:srgbClr val="000000"/>
                          </a:solidFill>
                        </a:rPr>
                        <a:t>Outcome</a:t>
                      </a:r>
                    </a:p>
                  </a:txBody>
                  <a:tcPr marL="73152" marR="73152" marT="27432" marB="27432"/>
                </a:tc>
                <a:tc>
                  <a:txBody>
                    <a:bodyPr wrap="square"/>
                    <a:lstStyle/>
                    <a:p>
                      <a:r>
                        <a:rPr sz="1800">
                          <a:solidFill>
                            <a:srgbClr val="000000"/>
                          </a:solidFill>
                        </a:rPr>
                        <a:t>Preeclampsia in the pregnancy</a:t>
                      </a:r>
                    </a:p>
                  </a:txBody>
                  <a:tcPr marL="73152" marR="73152" marT="27432" marB="27432"/>
                </a:tc>
                <a:tc>
                  <a:txBody>
                    <a:bodyPr wrap="square"/>
                    <a:lstStyle/>
                    <a:p>
                      <a:r>
                        <a:rPr sz="1800">
                          <a:solidFill>
                            <a:srgbClr val="000000"/>
                          </a:solidFill>
                        </a:rPr>
                        <a:t>Preeclampsia condition records in the episode</a:t>
                      </a:r>
                    </a:p>
                  </a:txBody>
                  <a:tcPr marL="73152" marR="73152" marT="27432" marB="27432"/>
                </a:tc>
              </a:tr>
            </a:tbl>
          </a:graphicData>
        </a:graphic>
      </p:graphicFrame>
      <p:sp>
        <p:nvSpPr>
          <p:cNvPr id="4" name="TextBox 3"/>
          <p:cNvSpPr txBox="1"/>
          <p:nvPr/>
        </p:nvSpPr>
        <p:spPr>
          <a:xfrm>
            <a:off x="612648" y="4670298"/>
            <a:ext cx="10966704" cy="398780"/>
          </a:xfrm>
          <a:prstGeom prst="rect">
            <a:avLst/>
          </a:prstGeom>
          <a:noFill/>
        </p:spPr>
        <p:txBody>
          <a:bodyPr wrap="square">
            <a:spAutoFit/>
          </a:bodyPr>
          <a:lstStyle/>
          <a:p>
            <a:r>
              <a:rPr sz="1800" i="1">
                <a:solidFill>
                  <a:srgbClr val="000000"/>
                </a:solidFill>
              </a:rPr>
              <a:t>All four rows depend on one hard thing: dating a pregnancy.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feasibility checks</a:t>
            </a:r>
          </a:p>
        </p:txBody>
      </p:sp>
      <p:sp>
        <p:nvSpPr>
          <p:cNvPr id="3" name="Content Placeholder 2"/>
          <p:cNvSpPr>
            <a:spLocks noGrp="1"/>
          </p:cNvSpPr>
          <p:nvPr>
            <p:ph idx="1" sz="half"/>
          </p:nvPr>
        </p:nvSpPr>
        <p:spPr/>
        <p:txBody>
          <a:bodyPr/>
          <a:lstStyle/>
          <a:p>
            <a:pPr marL="0" indent="0">
              <a:buNone/>
            </a:pPr>
            <a:r>
              <a:rPr b="1"/>
              <a:t>1. Concepts exist</a:t>
            </a:r>
          </a:p>
          <a:p>
            <a:pPr/>
            <a:r>
              <a:t>Standard concepts for each element, in the right domain.</a:t>
            </a:r>
          </a:p>
          <a:p>
            <a:pPr marL="0" indent="0">
              <a:buNone/>
            </a:pPr>
            <a:r>
              <a:rPr b="1"/>
              <a:t>3. Population fits</a:t>
            </a:r>
          </a:p>
          <a:p>
            <a:pPr/>
            <a:r>
              <a:t>The right people are in the source at all.</a:t>
            </a:r>
          </a:p>
          <a:p>
            <a:pPr marL="0" indent="0">
              <a:buNone/>
            </a:pPr>
            <a:r>
              <a:rPr b="1"/>
              <a:t>5. Enough of it</a:t>
            </a:r>
          </a:p>
          <a:p>
            <a:pPr/>
            <a:r>
              <a:t>The count meeting every criterion at once supports the comparison.</a:t>
            </a:r>
          </a:p>
        </p:txBody>
      </p:sp>
      <p:sp>
        <p:nvSpPr>
          <p:cNvPr id="4" name="Content Placeholder 3"/>
          <p:cNvSpPr>
            <a:spLocks noGrp="1"/>
          </p:cNvSpPr>
          <p:nvPr>
            <p:ph idx="2" sz="half"/>
          </p:nvPr>
        </p:nvSpPr>
        <p:spPr/>
        <p:txBody>
          <a:bodyPr/>
          <a:lstStyle/>
          <a:p>
            <a:pPr marL="0" indent="0">
              <a:buNone/>
            </a:pPr>
            <a:r>
              <a:rPr b="1"/>
              <a:t>2. Concepts are present</a:t>
            </a:r>
          </a:p>
          <a:p>
            <a:pPr/>
            <a:r>
              <a:t>Nonzero record counts in your source — not just the vocabulary.</a:t>
            </a:r>
          </a:p>
          <a:p>
            <a:pPr marL="0" indent="0">
              <a:buNone/>
            </a:pPr>
            <a:r>
              <a:rPr b="1"/>
              <a:t>4. Time can be anchored</a:t>
            </a:r>
          </a:p>
          <a:p>
            <a:pPr/>
            <a:r>
              <a:t>A datable index event, with observation time around it.</a:t>
            </a:r>
          </a:p>
          <a:p>
            <a:pPr marL="0" indent="0">
              <a:buNone/>
            </a:pPr>
            <a:r>
              <a:rPr b="1"/>
              <a:t>6. Governance clears</a:t>
            </a:r>
          </a:p>
          <a:p>
            <a:pPr/>
            <a:r>
              <a:t>You know what counts — and the full study — each require.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part that will take real work</a:t>
            </a:r>
          </a:p>
        </p:txBody>
      </p:sp>
      <p:sp>
        <p:nvSpPr>
          <p:cNvPr id="3" name="Content Placeholder 2"/>
          <p:cNvSpPr>
            <a:spLocks noGrp="1"/>
          </p:cNvSpPr>
          <p:nvPr>
            <p:ph idx="1"/>
          </p:nvPr>
        </p:nvSpPr>
        <p:spPr/>
        <p:txBody>
          <a:bodyPr/>
          <a:lstStyle/>
          <a:p>
            <a:pPr marL="0" indent="0">
              <a:buNone/>
            </a:pPr>
            <a:r>
              <a:rPr b="1" sz="2400"/>
              <a:t>Identifying a pregnancy in observational data is a known, nontrivial problem.</a:t>
            </a:r>
          </a:p>
          <a:p>
            <a:pPr/>
            <a:r>
              <a:rPr sz="2400"/>
              <a:t>A single obstetric code gives you no start date, no end date, no trimester.
OHDSI publishes pregnancy episode algorithms that assemble episodes from prenatal visits, gestational-age observations, and delivery codes — and estimate start and end.</a:t>
            </a:r>
          </a:p>
          <a:p>
            <a:pPr/>
            <a:r>
              <a:rPr i="1" sz="2400"/>
              <a:t>Not a reason to abandon the question — a reason to plan for it on day 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Who runs your OMOP instance</a:t>
            </a:r>
          </a:p>
        </p:txBody>
      </p:sp>
      <p:sp>
        <p:nvSpPr>
          <p:cNvPr id="3" name="Content Placeholder 2"/>
          <p:cNvSpPr>
            <a:spLocks noGrp="1"/>
          </p:cNvSpPr>
          <p:nvPr>
            <p:ph idx="1" sz="half"/>
          </p:nvPr>
        </p:nvSpPr>
        <p:spPr/>
        <p:txBody>
          <a:bodyPr/>
          <a:lstStyle/>
          <a:p>
            <a:pPr marL="0" indent="0">
              <a:buNone/>
            </a:pPr>
            <a:r>
              <a:rPr b="1"/>
              <a:t>Try these, in order</a:t>
            </a:r>
          </a:p>
          <a:p>
            <a:pPr/>
            <a:r>
              <a:t>CTSA / CTSI informatics core</a:t>
            </a:r>
          </a:p>
          <a:p>
            <a:pPr/>
            <a:r>
              <a:t>Enterprise data warehouse / research analytics</a:t>
            </a:r>
          </a:p>
          <a:p>
            <a:pPr/>
            <a:r>
              <a:t>Biomedical informatics department</a:t>
            </a:r>
          </a:p>
          <a:p>
            <a:pPr/>
            <a:r>
              <a:t>Honest broker / research data request service</a:t>
            </a:r>
          </a:p>
          <a:p>
            <a:pPr/>
            <a:r>
              <a:t>Health sciences library data services</a:t>
            </a:r>
          </a:p>
        </p:txBody>
      </p:sp>
      <p:sp>
        <p:nvSpPr>
          <p:cNvPr id="4" name="Content Placeholder 3"/>
          <p:cNvSpPr>
            <a:spLocks noGrp="1"/>
          </p:cNvSpPr>
          <p:nvPr>
            <p:ph idx="2" sz="half"/>
          </p:nvPr>
        </p:nvSpPr>
        <p:spPr/>
        <p:txBody>
          <a:bodyPr/>
          <a:lstStyle/>
          <a:p>
            <a:pPr marL="0" indent="0">
              <a:buNone/>
            </a:pPr>
            <a:r>
              <a:rPr b="1"/>
              <a:t>ASK FOR OMOP BY NAME</a:t>
            </a:r>
          </a:p>
          <a:p>
            <a:pPr marL="0" indent="0">
              <a:buNone/>
            </a:pPr>
            <a:r>
              <a:t>“The research database” might get you a lookalike with different tools and governance:</a:t>
            </a:r>
          </a:p>
          <a:p>
            <a:pPr/>
            <a:r>
              <a:rPr i="1"/>
              <a:t>TriNetX · Epic Cosmos · All of Us · PCORnet CDM</a:t>
            </a:r>
          </a:p>
          <a:p>
            <a:pPr/>
            <a:r>
              <a:t>Ask for “the OMOP CDM instance and ATLAS access.” That is what the OHDSI tools run 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to ask them</a:t>
            </a:r>
          </a:p>
        </p:txBody>
      </p:sp>
      <p:sp>
        <p:nvSpPr>
          <p:cNvPr id="3" name="Content Placeholder 2"/>
          <p:cNvSpPr>
            <a:spLocks noGrp="1"/>
          </p:cNvSpPr>
          <p:nvPr>
            <p:ph idx="1" sz="half"/>
          </p:nvPr>
        </p:nvSpPr>
        <p:spPr/>
        <p:txBody>
          <a:bodyPr/>
          <a:lstStyle/>
          <a:p>
            <a:pPr marL="0" indent="0">
              <a:buNone/>
            </a:pPr>
            <a:r>
              <a:rPr b="1"/>
              <a:t>Source &amp; scope</a:t>
            </a:r>
          </a:p>
          <a:p>
            <a:pPr/>
            <a:r>
              <a:t>EHR, claims, or both? Which EHR?  ·  Which facilities and dates?  ·  Childbearing-age &amp; obstetric care captured?</a:t>
            </a:r>
          </a:p>
          <a:p>
            <a:pPr marL="0" indent="0">
              <a:buNone/>
            </a:pPr>
            <a:r>
              <a:rPr b="1"/>
              <a:t>Quality</a:t>
            </a:r>
          </a:p>
          <a:p>
            <a:pPr/>
            <a:r>
              <a:t>Has Achilles been run — can you see it?  ·  Has the Data Quality Dashboard run?  ·  Pregnancy episode table or algorithm?</a:t>
            </a:r>
          </a:p>
        </p:txBody>
      </p:sp>
      <p:sp>
        <p:nvSpPr>
          <p:cNvPr id="4" name="Content Placeholder 3"/>
          <p:cNvSpPr>
            <a:spLocks noGrp="1"/>
          </p:cNvSpPr>
          <p:nvPr>
            <p:ph idx="2" sz="half"/>
          </p:nvPr>
        </p:nvSpPr>
        <p:spPr/>
        <p:txBody>
          <a:bodyPr/>
          <a:lstStyle/>
          <a:p>
            <a:pPr marL="0" indent="0">
              <a:buNone/>
            </a:pPr>
            <a:r>
              <a:rPr b="1"/>
              <a:t>Model &amp; mapping</a:t>
            </a:r>
          </a:p>
          <a:p>
            <a:pPr/>
            <a:r>
              <a:t>CDM version (5.3 / 5.4) and vocab release?  ·  Which domains are well populated?  ·  Unmapped rate for conditions and drugs?</a:t>
            </a:r>
          </a:p>
          <a:p>
            <a:pPr marL="0" indent="0">
              <a:buNone/>
            </a:pPr>
            <a:r>
              <a:rPr b="1"/>
              <a:t>Access &amp; governance</a:t>
            </a:r>
          </a:p>
          <a:p>
            <a:pPr/>
            <a:r>
              <a:t>ATLAS, R, SQL, or request-and-return?  ·  Training, IRB, or DUA required?  ·  Are counts allowed before full IRB?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ideas that clear up most confusion</a:t>
            </a:r>
          </a:p>
        </p:txBody>
      </p:sp>
      <p:sp>
        <p:nvSpPr>
          <p:cNvPr id="3" name="Content Placeholder 2"/>
          <p:cNvSpPr>
            <a:spLocks noGrp="1"/>
          </p:cNvSpPr>
          <p:nvPr>
            <p:ph idx="1" sz="half"/>
          </p:nvPr>
        </p:nvSpPr>
        <p:spPr>
          <a:xfrm>
            <a:off x="609600" y="1600200"/>
            <a:ext cx="5384800" cy="3703003"/>
          </a:xfrm>
        </p:spPr>
        <p:txBody>
          <a:bodyPr/>
          <a:lstStyle/>
          <a:p>
            <a:pPr marL="0" indent="0">
              <a:buNone/>
            </a:pPr>
            <a:r>
              <a:rPr b="1"/>
              <a:t>EXISTENCE</a:t>
            </a:r>
          </a:p>
          <a:p>
            <a:pPr marL="0" indent="0">
              <a:buNone/>
            </a:pPr>
            <a:r>
              <a:rPr b="1"/>
              <a:t>Is there a standard concept for this idea?</a:t>
            </a:r>
          </a:p>
          <a:p>
            <a:pPr/>
            <a:r>
              <a:t>A property of the vocabulary. The same at every site. Usually yes — and easy to check.</a:t>
            </a:r>
          </a:p>
        </p:txBody>
      </p:sp>
      <p:sp>
        <p:nvSpPr>
          <p:cNvPr id="4" name="Content Placeholder 3"/>
          <p:cNvSpPr>
            <a:spLocks noGrp="1"/>
          </p:cNvSpPr>
          <p:nvPr>
            <p:ph idx="2" sz="half"/>
          </p:nvPr>
        </p:nvSpPr>
        <p:spPr>
          <a:xfrm>
            <a:off x="6197600" y="1600200"/>
            <a:ext cx="5384800" cy="3703003"/>
          </a:xfrm>
        </p:spPr>
        <p:txBody>
          <a:bodyPr/>
          <a:lstStyle/>
          <a:p>
            <a:pPr marL="0" indent="0">
              <a:buNone/>
            </a:pPr>
            <a:r>
              <a:rPr b="1"/>
              <a:t>PRESENCE</a:t>
            </a:r>
          </a:p>
          <a:p>
            <a:pPr marL="0" indent="0">
              <a:buNone/>
            </a:pPr>
            <a:r>
              <a:rPr b="1"/>
              <a:t>Does it actually appear here, in enough records?</a:t>
            </a:r>
          </a:p>
          <a:p>
            <a:pPr/>
            <a:r>
              <a:t>A property of this instance. This is the whole game.</a:t>
            </a:r>
          </a:p>
        </p:txBody>
      </p:sp>
      <p:sp>
        <p:nvSpPr>
          <p:cNvPr id="5" name="TextBox 4"/>
          <p:cNvSpPr txBox="1"/>
          <p:nvPr/>
        </p:nvSpPr>
        <p:spPr>
          <a:xfrm>
            <a:off x="609600" y="5348923"/>
            <a:ext cx="10966704" cy="731520"/>
          </a:xfrm>
          <a:prstGeom prst="rect">
            <a:avLst/>
          </a:prstGeom>
          <a:noFill/>
        </p:spPr>
        <p:txBody>
          <a:bodyPr wrap="square">
            <a:spAutoFit/>
          </a:bodyPr>
          <a:lstStyle/>
          <a:p>
            <a:r>
              <a:rPr sz="1400" i="1">
                <a:solidFill>
                  <a:srgbClr val="000000"/>
                </a:solidFill>
              </a:rPr>
              <a:t>Build cohorts from standard concepts (SNOMED, RxNorm, LOINC). Source codes like ICD-10 and NDC are mapped to them in ETL — an unmapped code is invisible to a standard-concept query.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Domains decide where to look</a:t>
            </a:r>
          </a:p>
        </p:txBody>
      </p:sp>
      <p:graphicFrame>
        <p:nvGraphicFramePr>
          <p:cNvPr id="3" name="Table 2"/>
          <p:cNvGraphicFramePr>
            <a:graphicFrameLocks noGrp="1"/>
          </p:cNvGraphicFramePr>
          <p:nvPr/>
        </p:nvGraphicFramePr>
        <p:xfrm>
          <a:off x="612648" y="1417320"/>
          <a:ext cx="10966703" cy="2000250"/>
        </p:xfrm>
        <a:graphic>
          <a:graphicData uri="http://schemas.openxmlformats.org/drawingml/2006/table">
            <a:tbl>
              <a:tblPr firstRow="1">
                <a:tableStyleId>{5940675A-B579-460E-94D1-54222C63F5DA}</a:tableStyleId>
              </a:tblPr>
              <a:tblGrid>
                <a:gridCol w="3695302"/>
                <a:gridCol w="3576099"/>
                <a:gridCol w="3695302"/>
              </a:tblGrid>
              <a:tr h="400050">
                <a:tc>
                  <a:txBody>
                    <a:bodyPr wrap="square"/>
                    <a:lstStyle/>
                    <a:p>
                      <a:r>
                        <a:rPr sz="1800" b="1">
                          <a:solidFill>
                            <a:srgbClr val="000000"/>
                          </a:solidFill>
                        </a:rPr>
                        <a:t>Idea</a:t>
                      </a:r>
                    </a:p>
                  </a:txBody>
                  <a:tcPr marL="73152" marR="73152" marT="27432" marB="27432"/>
                </a:tc>
                <a:tc>
                  <a:txBody>
                    <a:bodyPr wrap="square"/>
                    <a:lstStyle/>
                    <a:p>
                      <a:r>
                        <a:rPr sz="1800" b="1">
                          <a:solidFill>
                            <a:srgbClr val="000000"/>
                          </a:solidFill>
                        </a:rPr>
                        <a:t>Domain</a:t>
                      </a:r>
                    </a:p>
                  </a:txBody>
                  <a:tcPr marL="73152" marR="73152" marT="27432" marB="27432"/>
                </a:tc>
                <a:tc>
                  <a:txBody>
                    <a:bodyPr wrap="square"/>
                    <a:lstStyle/>
                    <a:p>
                      <a:r>
                        <a:rPr sz="1800" b="1">
                          <a:solidFill>
                            <a:srgbClr val="000000"/>
                          </a:solidFill>
                        </a:rPr>
                        <a:t>Table</a:t>
                      </a:r>
                    </a:p>
                  </a:txBody>
                  <a:tcPr marL="73152" marR="73152" marT="27432" marB="27432"/>
                </a:tc>
              </a:tr>
              <a:tr h="400050">
                <a:tc>
                  <a:txBody>
                    <a:bodyPr wrap="square"/>
                    <a:lstStyle/>
                    <a:p>
                      <a:r>
                        <a:rPr sz="1800">
                          <a:solidFill>
                            <a:srgbClr val="000000"/>
                          </a:solidFill>
                        </a:rPr>
                        <a:t>Preeclampsia</a:t>
                      </a:r>
                    </a:p>
                  </a:txBody>
                  <a:tcPr marL="73152" marR="73152" marT="27432" marB="27432"/>
                </a:tc>
                <a:tc>
                  <a:txBody>
                    <a:bodyPr wrap="square"/>
                    <a:lstStyle/>
                    <a:p>
                      <a:r>
                        <a:rPr sz="1800">
                          <a:solidFill>
                            <a:srgbClr val="000000"/>
                          </a:solidFill>
                        </a:rPr>
                        <a:t>Condition</a:t>
                      </a:r>
                    </a:p>
                  </a:txBody>
                  <a:tcPr marL="73152" marR="73152" marT="27432" marB="27432"/>
                </a:tc>
                <a:tc>
                  <a:txBody>
                    <a:bodyPr wrap="square"/>
                    <a:lstStyle/>
                    <a:p>
                      <a:r>
                        <a:rPr sz="1800">
                          <a:solidFill>
                            <a:srgbClr val="000000"/>
                          </a:solidFill>
                        </a:rPr>
                        <a:t>CONDITION_OCCURRENCE</a:t>
                      </a:r>
                    </a:p>
                  </a:txBody>
                  <a:tcPr marL="73152" marR="73152" marT="27432" marB="27432"/>
                </a:tc>
              </a:tr>
              <a:tr h="400050">
                <a:tc>
                  <a:txBody>
                    <a:bodyPr wrap="square"/>
                    <a:lstStyle/>
                    <a:p>
                      <a:r>
                        <a:rPr sz="1800">
                          <a:solidFill>
                            <a:srgbClr val="000000"/>
                          </a:solidFill>
                        </a:rPr>
                        <a:t>Metformin, insulin</a:t>
                      </a:r>
                    </a:p>
                  </a:txBody>
                  <a:tcPr marL="73152" marR="73152" marT="27432" marB="27432"/>
                </a:tc>
                <a:tc>
                  <a:txBody>
                    <a:bodyPr wrap="square"/>
                    <a:lstStyle/>
                    <a:p>
                      <a:r>
                        <a:rPr sz="1800">
                          <a:solidFill>
                            <a:srgbClr val="000000"/>
                          </a:solidFill>
                        </a:rPr>
                        <a:t>Drug</a:t>
                      </a:r>
                    </a:p>
                  </a:txBody>
                  <a:tcPr marL="73152" marR="73152" marT="27432" marB="27432"/>
                </a:tc>
                <a:tc>
                  <a:txBody>
                    <a:bodyPr wrap="square"/>
                    <a:lstStyle/>
                    <a:p>
                      <a:r>
                        <a:rPr sz="1800">
                          <a:solidFill>
                            <a:srgbClr val="000000"/>
                          </a:solidFill>
                        </a:rPr>
                        <a:t>DRUG_EXPOSURE</a:t>
                      </a:r>
                    </a:p>
                  </a:txBody>
                  <a:tcPr marL="73152" marR="73152" marT="27432" marB="27432"/>
                </a:tc>
              </a:tr>
              <a:tr h="400050">
                <a:tc>
                  <a:txBody>
                    <a:bodyPr wrap="square"/>
                    <a:lstStyle/>
                    <a:p>
                      <a:r>
                        <a:rPr sz="1800">
                          <a:solidFill>
                            <a:srgbClr val="000000"/>
                          </a:solidFill>
                        </a:rPr>
                        <a:t>Hemoglobin A1c</a:t>
                      </a:r>
                    </a:p>
                  </a:txBody>
                  <a:tcPr marL="73152" marR="73152" marT="27432" marB="27432"/>
                </a:tc>
                <a:tc>
                  <a:txBody>
                    <a:bodyPr wrap="square"/>
                    <a:lstStyle/>
                    <a:p>
                      <a:r>
                        <a:rPr sz="1800">
                          <a:solidFill>
                            <a:srgbClr val="000000"/>
                          </a:solidFill>
                        </a:rPr>
                        <a:t>Measurement</a:t>
                      </a:r>
                    </a:p>
                  </a:txBody>
                  <a:tcPr marL="73152" marR="73152" marT="27432" marB="27432"/>
                </a:tc>
                <a:tc>
                  <a:txBody>
                    <a:bodyPr wrap="square"/>
                    <a:lstStyle/>
                    <a:p>
                      <a:r>
                        <a:rPr sz="1800">
                          <a:solidFill>
                            <a:srgbClr val="000000"/>
                          </a:solidFill>
                        </a:rPr>
                        <a:t>MEASUREMENT</a:t>
                      </a:r>
                    </a:p>
                  </a:txBody>
                  <a:tcPr marL="73152" marR="73152" marT="27432" marB="27432"/>
                </a:tc>
              </a:tr>
              <a:tr h="400050">
                <a:tc>
                  <a:txBody>
                    <a:bodyPr wrap="square"/>
                    <a:lstStyle/>
                    <a:p>
                      <a:r>
                        <a:rPr sz="1800">
                          <a:solidFill>
                            <a:srgbClr val="000000"/>
                          </a:solidFill>
                        </a:rPr>
                        <a:t>Pregnancy / gestational age</a:t>
                      </a:r>
                    </a:p>
                  </a:txBody>
                  <a:tcPr marL="73152" marR="73152" marT="27432" marB="27432"/>
                </a:tc>
                <a:tc>
                  <a:txBody>
                    <a:bodyPr wrap="square"/>
                    <a:lstStyle/>
                    <a:p>
                      <a:r>
                        <a:rPr sz="1800">
                          <a:solidFill>
                            <a:srgbClr val="000000"/>
                          </a:solidFill>
                        </a:rPr>
                        <a:t>Observation or Measurement</a:t>
                      </a:r>
                    </a:p>
                  </a:txBody>
                  <a:tcPr marL="73152" marR="73152" marT="27432" marB="27432"/>
                </a:tc>
                <a:tc>
                  <a:txBody>
                    <a:bodyPr wrap="square"/>
                    <a:lstStyle/>
                    <a:p>
                      <a:r>
                        <a:rPr sz="1800">
                          <a:solidFill>
                            <a:srgbClr val="000000"/>
                          </a:solidFill>
                        </a:rPr>
                        <a:t>depends how it was recorded</a:t>
                      </a:r>
                    </a:p>
                  </a:txBody>
                  <a:tcPr marL="73152" marR="73152" marT="27432" marB="27432"/>
                </a:tc>
              </a:tr>
            </a:tbl>
          </a:graphicData>
        </a:graphic>
      </p:graphicFrame>
      <p:sp>
        <p:nvSpPr>
          <p:cNvPr id="4" name="TextBox 3"/>
          <p:cNvSpPr txBox="1"/>
          <p:nvPr/>
        </p:nvSpPr>
        <p:spPr>
          <a:xfrm>
            <a:off x="612648" y="3527298"/>
            <a:ext cx="10966704" cy="695960"/>
          </a:xfrm>
          <a:prstGeom prst="rect">
            <a:avLst/>
          </a:prstGeom>
          <a:noFill/>
        </p:spPr>
        <p:txBody>
          <a:bodyPr wrap="square">
            <a:spAutoFit/>
          </a:bodyPr>
          <a:lstStyle/>
          <a:p>
            <a:r>
              <a:rPr sz="1800" i="1">
                <a:solidFill>
                  <a:srgbClr val="000000"/>
                </a:solidFill>
              </a:rPr>
              <a:t>Look for a drug in the condition table, find nothing, and you'll wrongly conclude the data are missing. Confirm the domain first.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demo, and its deliberate trap</a:t>
            </a:r>
          </a:p>
        </p:txBody>
      </p:sp>
      <p:graphicFrame>
        <p:nvGraphicFramePr>
          <p:cNvPr id="3" name="Table 2"/>
          <p:cNvGraphicFramePr>
            <a:graphicFrameLocks noGrp="1"/>
          </p:cNvGraphicFramePr>
          <p:nvPr/>
        </p:nvGraphicFramePr>
        <p:xfrm>
          <a:off x="612648" y="1417320"/>
          <a:ext cx="10966704" cy="1657350"/>
        </p:xfrm>
        <a:graphic>
          <a:graphicData uri="http://schemas.openxmlformats.org/drawingml/2006/table">
            <a:tbl>
              <a:tblPr firstRow="1">
                <a:tableStyleId>{5940675A-B579-460E-94D1-54222C63F5DA}</a:tableStyleId>
              </a:tblPr>
              <a:tblGrid>
                <a:gridCol w="5483352"/>
                <a:gridCol w="5483352"/>
              </a:tblGrid>
              <a:tr h="400050">
                <a:tc>
                  <a:txBody>
                    <a:bodyPr wrap="square"/>
                    <a:lstStyle/>
                    <a:p>
                      <a:r>
                        <a:rPr sz="1800" b="1">
                          <a:solidFill>
                            <a:srgbClr val="000000"/>
                          </a:solidFill>
                        </a:rPr>
                        <a:t>atlas-demo.ohdsi.org</a:t>
                      </a:r>
                    </a:p>
                  </a:txBody>
                  <a:tcPr marL="73152" marR="73152" marT="27432" marB="27432"/>
                </a:tc>
                <a:tc>
                  <a:txBody>
                    <a:bodyPr wrap="square"/>
                    <a:lstStyle/>
                    <a:p>
                      <a:r>
                        <a:rPr sz="1800" b="1">
                          <a:solidFill>
                            <a:srgbClr val="000000"/>
                          </a:solidFill>
                        </a:rPr>
                        <a:t>Runs on SynPUF</a:t>
                      </a:r>
                    </a:p>
                  </a:txBody>
                  <a:tcPr marL="73152" marR="73152" marT="27432" marB="27432"/>
                </a:tc>
              </a:tr>
              <a:tr h="1257300">
                <a:tc>
                  <a:txBody>
                    <a:bodyPr wrap="square"/>
                    <a:lstStyle/>
                    <a:p>
                      <a:r>
                        <a:rPr sz="1800">
                          <a:solidFill>
                            <a:srgbClr val="000000"/>
                          </a:solidFill>
                        </a:rPr>
                        <a:t>Free, public ATLAS. No account needed to follow along. Chrome is the supported browser.</a:t>
                      </a:r>
                    </a:p>
                  </a:txBody>
                  <a:tcPr marL="73152" marR="73152" marT="27432" marB="27432"/>
                </a:tc>
                <a:tc>
                  <a:txBody>
                    <a:bodyPr wrap="square"/>
                    <a:lstStyle/>
                    <a:p>
                      <a:r>
                        <a:rPr sz="1800">
                          <a:solidFill>
                            <a:srgbClr val="000000"/>
                          </a:solidFill>
                        </a:rPr>
                        <a:t>Synthetic Medicare claims. Most of the population is 65 or older. Diabetes records are abundant. Pregnancy records are rare because of who Medicare covers.</a:t>
                      </a:r>
                    </a:p>
                  </a:txBody>
                  <a:tcPr marL="73152" marR="73152" marT="27432" marB="27432"/>
                </a:tc>
              </a:tr>
            </a:tbl>
          </a:graphicData>
        </a:graphic>
      </p:graphicFrame>
      <p:sp>
        <p:nvSpPr>
          <p:cNvPr id="4" name="TextBox 3"/>
          <p:cNvSpPr txBox="1"/>
          <p:nvPr/>
        </p:nvSpPr>
        <p:spPr>
          <a:xfrm>
            <a:off x="612648" y="3184398"/>
            <a:ext cx="10966704" cy="695960"/>
          </a:xfrm>
          <a:prstGeom prst="rect">
            <a:avLst/>
          </a:prstGeom>
          <a:noFill/>
        </p:spPr>
        <p:txBody>
          <a:bodyPr wrap="square">
            <a:spAutoFit/>
          </a:bodyPr>
          <a:lstStyle/>
          <a:p>
            <a:r>
              <a:rPr sz="1800" i="1">
                <a:solidFill>
                  <a:srgbClr val="000000"/>
                </a:solidFill>
              </a:rPr>
              <a:t>That mismatch is the lesson: a concept-level check that passes, and a population-level check that fails.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moves</a:t>
            </a:r>
          </a:p>
        </p:txBody>
      </p:sp>
      <p:graphicFrame>
        <p:nvGraphicFramePr>
          <p:cNvPr id="3" name="Table 2"/>
          <p:cNvGraphicFramePr>
            <a:graphicFrameLocks noGrp="1"/>
          </p:cNvGraphicFramePr>
          <p:nvPr/>
        </p:nvGraphicFramePr>
        <p:xfrm>
          <a:off x="612648" y="1417320"/>
          <a:ext cx="10966703" cy="2171700"/>
        </p:xfrm>
        <a:graphic>
          <a:graphicData uri="http://schemas.openxmlformats.org/drawingml/2006/table">
            <a:tbl>
              <a:tblPr>
                <a:tableStyleId>{5940675A-B579-460E-94D1-54222C63F5DA}</a:tableStyleId>
              </a:tblPr>
              <a:tblGrid>
                <a:gridCol w="2815775"/>
                <a:gridCol w="8150928"/>
              </a:tblGrid>
              <a:tr h="400050">
                <a:tc>
                  <a:txBody>
                    <a:bodyPr wrap="square"/>
                    <a:lstStyle/>
                    <a:p>
                      <a:r>
                        <a:rPr sz="1800">
                          <a:solidFill>
                            <a:srgbClr val="000000"/>
                          </a:solidFill>
                        </a:rPr>
                        <a:t>1. Search</a:t>
                      </a:r>
                    </a:p>
                  </a:txBody>
                  <a:tcPr marL="73152" marR="73152" marT="27432" marB="27432"/>
                </a:tc>
                <a:tc>
                  <a:txBody>
                    <a:bodyPr wrap="square"/>
                    <a:lstStyle/>
                    <a:p>
                      <a:r>
                        <a:rPr sz="1800">
                          <a:solidFill>
                            <a:srgbClr val="000000"/>
                          </a:solidFill>
                        </a:rPr>
                        <a:t>Confirm each concept exists and is standard. Note the counts.</a:t>
                      </a:r>
                    </a:p>
                  </a:txBody>
                  <a:tcPr marL="73152" marR="73152" marT="27432" marB="27432"/>
                </a:tc>
              </a:tr>
              <a:tr h="685800">
                <a:tc>
                  <a:txBody>
                    <a:bodyPr wrap="square"/>
                    <a:lstStyle/>
                    <a:p>
                      <a:r>
                        <a:rPr sz="1800">
                          <a:solidFill>
                            <a:srgbClr val="000000"/>
                          </a:solidFill>
                        </a:rPr>
                        <a:t>2. Concept sets</a:t>
                      </a:r>
                    </a:p>
                  </a:txBody>
                  <a:tcPr marL="73152" marR="73152" marT="27432" marB="27432"/>
                </a:tc>
                <a:tc>
                  <a:txBody>
                    <a:bodyPr wrap="square"/>
                    <a:lstStyle/>
                    <a:p>
                      <a:r>
                        <a:rPr sz="1800">
                          <a:solidFill>
                            <a:srgbClr val="000000"/>
                          </a:solidFill>
                        </a:rPr>
                        <a:t>Diabetes and metformin for the demo; preeclampsia and insulin at your own instance.</a:t>
                      </a:r>
                    </a:p>
                  </a:txBody>
                  <a:tcPr marL="73152" marR="73152" marT="27432" marB="27432"/>
                </a:tc>
              </a:tr>
              <a:tr h="685800">
                <a:tc>
                  <a:txBody>
                    <a:bodyPr wrap="square"/>
                    <a:lstStyle/>
                    <a:p>
                      <a:r>
                        <a:rPr sz="1800">
                          <a:solidFill>
                            <a:srgbClr val="000000"/>
                          </a:solidFill>
                        </a:rPr>
                        <a:t>3. Cohort</a:t>
                      </a:r>
                    </a:p>
                  </a:txBody>
                  <a:tcPr marL="73152" marR="73152" marT="27432" marB="27432"/>
                </a:tc>
                <a:tc>
                  <a:txBody>
                    <a:bodyPr wrap="square"/>
                    <a:lstStyle/>
                    <a:p>
                      <a:r>
                        <a:rPr sz="1800">
                          <a:solidFill>
                            <a:srgbClr val="000000"/>
                          </a:solidFill>
                        </a:rPr>
                        <a:t>Entry = first diabetes record; require female, age 15–44; add the exposure.</a:t>
                      </a:r>
                    </a:p>
                  </a:txBody>
                  <a:tcPr marL="73152" marR="73152" marT="27432" marB="27432"/>
                </a:tc>
              </a:tr>
              <a:tr h="400050">
                <a:tc>
                  <a:txBody>
                    <a:bodyPr wrap="square"/>
                    <a:lstStyle/>
                    <a:p>
                      <a:r>
                        <a:rPr sz="1800">
                          <a:solidFill>
                            <a:srgbClr val="000000"/>
                          </a:solidFill>
                        </a:rPr>
                        <a:t>4. Generate</a:t>
                      </a:r>
                    </a:p>
                  </a:txBody>
                  <a:tcPr marL="73152" marR="73152" marT="27432" marB="27432"/>
                </a:tc>
                <a:tc>
                  <a:txBody>
                    <a:bodyPr wrap="square"/>
                    <a:lstStyle/>
                    <a:p>
                      <a:r>
                        <a:rPr sz="1800">
                          <a:solidFill>
                            <a:srgbClr val="000000"/>
                          </a:solidFill>
                        </a:rPr>
                        <a:t>Run against SynPUF and read the counts.</a:t>
                      </a:r>
                    </a:p>
                  </a:txBody>
                  <a:tcPr marL="73152" marR="73152" marT="27432" marB="27432"/>
                </a:tc>
              </a:tr>
            </a:tbl>
          </a:graphicData>
        </a:graphic>
      </p:graphicFrame>
      <p:sp>
        <p:nvSpPr>
          <p:cNvPr id="4" name="TextBox 3"/>
          <p:cNvSpPr txBox="1"/>
          <p:nvPr/>
        </p:nvSpPr>
        <p:spPr>
          <a:xfrm>
            <a:off x="612648" y="3698748"/>
            <a:ext cx="10966704" cy="398780"/>
          </a:xfrm>
          <a:prstGeom prst="rect">
            <a:avLst/>
          </a:prstGeom>
          <a:noFill/>
        </p:spPr>
        <p:txBody>
          <a:bodyPr wrap="square">
            <a:spAutoFit/>
          </a:bodyPr>
          <a:lstStyle/>
          <a:p>
            <a:r>
              <a:rPr sz="1800" i="1">
                <a:solidFill>
                  <a:srgbClr val="000000"/>
                </a:solidFill>
              </a:rPr>
              <a:t>Pre-build these before class, so you show saved definitions — not live typing.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Watch the cohort collapse</a:t>
            </a:r>
          </a:p>
        </p:txBody>
      </p:sp>
      <p:graphicFrame>
        <p:nvGraphicFramePr>
          <p:cNvPr id="3" name="Table 2"/>
          <p:cNvGraphicFramePr>
            <a:graphicFrameLocks noGrp="1"/>
          </p:cNvGraphicFramePr>
          <p:nvPr/>
        </p:nvGraphicFramePr>
        <p:xfrm>
          <a:off x="612648" y="1417320"/>
          <a:ext cx="10966703" cy="1200150"/>
        </p:xfrm>
        <a:graphic>
          <a:graphicData uri="http://schemas.openxmlformats.org/drawingml/2006/table">
            <a:tbl>
              <a:tblPr>
                <a:tableStyleId>{5940675A-B579-460E-94D1-54222C63F5DA}</a:tableStyleId>
              </a:tblPr>
              <a:tblGrid>
                <a:gridCol w="7695932"/>
                <a:gridCol w="3270771"/>
              </a:tblGrid>
              <a:tr h="400050">
                <a:tc>
                  <a:txBody>
                    <a:bodyPr wrap="square"/>
                    <a:lstStyle/>
                    <a:p>
                      <a:r>
                        <a:rPr sz="1800">
                          <a:solidFill>
                            <a:srgbClr val="000000"/>
                          </a:solidFill>
                        </a:rPr>
                        <a:t>Diabetes alone</a:t>
                      </a:r>
                    </a:p>
                  </a:txBody>
                  <a:tcPr marL="73152" marR="73152" marT="27432" marB="27432"/>
                </a:tc>
                <a:tc>
                  <a:txBody>
                    <a:bodyPr wrap="square"/>
                    <a:lstStyle/>
                    <a:p>
                      <a:r>
                        <a:rPr sz="1800">
                          <a:solidFill>
                            <a:srgbClr val="000000"/>
                          </a:solidFill>
                        </a:rPr>
                        <a:t>large</a:t>
                      </a:r>
                    </a:p>
                  </a:txBody>
                  <a:tcPr marL="73152" marR="73152" marT="27432" marB="27432"/>
                </a:tc>
              </a:tr>
              <a:tr h="400050">
                <a:tc>
                  <a:txBody>
                    <a:bodyPr wrap="square"/>
                    <a:lstStyle/>
                    <a:p>
                      <a:r>
                        <a:rPr sz="1800">
                          <a:solidFill>
                            <a:srgbClr val="000000"/>
                          </a:solidFill>
                        </a:rPr>
                        <a:t>+ require female, age 15–44</a:t>
                      </a:r>
                    </a:p>
                  </a:txBody>
                  <a:tcPr marL="73152" marR="73152" marT="27432" marB="27432"/>
                </a:tc>
                <a:tc>
                  <a:txBody>
                    <a:bodyPr wrap="square"/>
                    <a:lstStyle/>
                    <a:p>
                      <a:r>
                        <a:rPr sz="1800">
                          <a:solidFill>
                            <a:srgbClr val="000000"/>
                          </a:solidFill>
                        </a:rPr>
                        <a:t>falls sharply</a:t>
                      </a:r>
                    </a:p>
                  </a:txBody>
                  <a:tcPr marL="73152" marR="73152" marT="27432" marB="27432"/>
                </a:tc>
              </a:tr>
              <a:tr h="400050">
                <a:tc>
                  <a:txBody>
                    <a:bodyPr wrap="square"/>
                    <a:lstStyle/>
                    <a:p>
                      <a:r>
                        <a:rPr sz="1800">
                          <a:solidFill>
                            <a:srgbClr val="000000"/>
                          </a:solidFill>
                        </a:rPr>
                        <a:t>+ metformin exposure (optional rule)</a:t>
                      </a:r>
                    </a:p>
                  </a:txBody>
                  <a:tcPr marL="73152" marR="73152" marT="27432" marB="27432"/>
                </a:tc>
                <a:tc>
                  <a:txBody>
                    <a:bodyPr wrap="square"/>
                    <a:lstStyle/>
                    <a:p>
                      <a:r>
                        <a:rPr sz="1800">
                          <a:solidFill>
                            <a:srgbClr val="000000"/>
                          </a:solidFill>
                        </a:rPr>
                        <a:t>smaller still</a:t>
                      </a:r>
                    </a:p>
                  </a:txBody>
                  <a:tcPr marL="73152" marR="73152" marT="27432" marB="27432"/>
                </a:tc>
              </a:tr>
            </a:tbl>
          </a:graphicData>
        </a:graphic>
      </p:graphicFrame>
      <p:sp>
        <p:nvSpPr>
          <p:cNvPr id="4" name="TextBox 3"/>
          <p:cNvSpPr txBox="1"/>
          <p:nvPr/>
        </p:nvSpPr>
        <p:spPr>
          <a:xfrm>
            <a:off x="612648" y="2727198"/>
            <a:ext cx="10966704" cy="993140"/>
          </a:xfrm>
          <a:prstGeom prst="rect">
            <a:avLst/>
          </a:prstGeom>
          <a:noFill/>
        </p:spPr>
        <p:txBody>
          <a:bodyPr wrap="square">
            <a:spAutoFit/>
          </a:bodyPr>
          <a:lstStyle/>
          <a:p>
            <a:r>
              <a:rPr sz="1800" b="1">
                <a:solidFill>
                  <a:srgbClr val="000000"/>
                </a:solidFill>
              </a:rPr>
              <a:t>Every concept exists. The cohort shrinks to a small fraction. Nothing is broken: the source has few people of childbearing age.</a:t>
            </a:r>
          </a:p>
          <a:p>
            <a:r>
              <a:rPr sz="1800" i="1">
                <a:solidFill>
                  <a:srgbClr val="000000"/>
                </a:solidFill>
              </a:rPr>
              <a:t>You found this in about eight minutes, not about eight months.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Empty cohort? Ask which kind of empty.</a:t>
            </a:r>
          </a:p>
        </p:txBody>
      </p:sp>
      <p:graphicFrame>
        <p:nvGraphicFramePr>
          <p:cNvPr id="3" name="Table 2"/>
          <p:cNvGraphicFramePr>
            <a:graphicFrameLocks noGrp="1"/>
          </p:cNvGraphicFramePr>
          <p:nvPr/>
        </p:nvGraphicFramePr>
        <p:xfrm>
          <a:off x="612648" y="1417320"/>
          <a:ext cx="10966704" cy="2057400"/>
        </p:xfrm>
        <a:graphic>
          <a:graphicData uri="http://schemas.openxmlformats.org/drawingml/2006/table">
            <a:tbl>
              <a:tblPr firstRow="1">
                <a:tableStyleId>{5940675A-B579-460E-94D1-54222C63F5DA}</a:tableStyleId>
              </a:tblPr>
              <a:tblGrid>
                <a:gridCol w="5483352"/>
                <a:gridCol w="5483352"/>
              </a:tblGrid>
              <a:tr h="400050">
                <a:tc>
                  <a:txBody>
                    <a:bodyPr wrap="square"/>
                    <a:lstStyle/>
                    <a:p>
                      <a:r>
                        <a:rPr sz="1800" b="1">
                          <a:solidFill>
                            <a:srgbClr val="000000"/>
                          </a:solidFill>
                        </a:rPr>
                        <a:t>Concept problem</a:t>
                      </a:r>
                    </a:p>
                  </a:txBody>
                  <a:tcPr marL="73152" marR="73152" marT="27432" marB="27432"/>
                </a:tc>
                <a:tc>
                  <a:txBody>
                    <a:bodyPr wrap="square"/>
                    <a:lstStyle/>
                    <a:p>
                      <a:r>
                        <a:rPr sz="1800" b="1">
                          <a:solidFill>
                            <a:srgbClr val="000000"/>
                          </a:solidFill>
                        </a:rPr>
                        <a:t>Population problem</a:t>
                      </a:r>
                    </a:p>
                  </a:txBody>
                  <a:tcPr marL="73152" marR="73152" marT="27432" marB="27432"/>
                </a:tc>
              </a:tr>
              <a:tr h="971550">
                <a:tc>
                  <a:txBody>
                    <a:bodyPr wrap="square"/>
                    <a:lstStyle/>
                    <a:p>
                      <a:r>
                        <a:rPr sz="1800">
                          <a:solidFill>
                            <a:srgbClr val="000000"/>
                          </a:solidFill>
                        </a:rPr>
                        <a:t>The codes may be there but unmapped, so a standard-concept query misses them.</a:t>
                      </a:r>
                    </a:p>
                  </a:txBody>
                  <a:tcPr marL="73152" marR="73152" marT="27432" marB="27432"/>
                </a:tc>
                <a:tc>
                  <a:txBody>
                    <a:bodyPr wrap="square"/>
                    <a:lstStyle/>
                    <a:p>
                      <a:r>
                        <a:rPr sz="1800">
                          <a:solidFill>
                            <a:srgbClr val="000000"/>
                          </a:solidFill>
                        </a:rPr>
                        <a:t>The people are not in this source, or are too few, as with people of childbearing age in Medicare.</a:t>
                      </a:r>
                    </a:p>
                  </a:txBody>
                  <a:tcPr marL="73152" marR="73152" marT="27432" marB="27432"/>
                </a:tc>
              </a:tr>
              <a:tr h="685800">
                <a:tc>
                  <a:txBody>
                    <a:bodyPr wrap="square"/>
                    <a:lstStyle/>
                    <a:p>
                      <a:r>
                        <a:rPr sz="1800">
                          <a:solidFill>
                            <a:srgbClr val="000000"/>
                          </a:solidFill>
                        </a:rPr>
                        <a:t>Possibly fixable — ask your steward about mapping before giving up.</a:t>
                      </a:r>
                    </a:p>
                  </a:txBody>
                  <a:tcPr marL="73152" marR="73152" marT="27432" marB="27432"/>
                </a:tc>
                <a:tc>
                  <a:txBody>
                    <a:bodyPr wrap="square"/>
                    <a:lstStyle/>
                    <a:p>
                      <a:r>
                        <a:rPr sz="1800">
                          <a:solidFill>
                            <a:srgbClr val="000000"/>
                          </a:solidFill>
                        </a:rPr>
                        <a:t>Not fixable here — take the question to data that has the population.</a:t>
                      </a:r>
                    </a:p>
                  </a:txBody>
                  <a:tcPr marL="73152" marR="73152" marT="27432" marB="27432"/>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definition travels to your data</a:t>
            </a:r>
          </a:p>
        </p:txBody>
      </p:sp>
      <p:graphicFrame>
        <p:nvGraphicFramePr>
          <p:cNvPr id="3" name="Table 2"/>
          <p:cNvGraphicFramePr>
            <a:graphicFrameLocks noGrp="1"/>
          </p:cNvGraphicFramePr>
          <p:nvPr/>
        </p:nvGraphicFramePr>
        <p:xfrm>
          <a:off x="612648" y="1417320"/>
          <a:ext cx="10966704" cy="1371600"/>
        </p:xfrm>
        <a:graphic>
          <a:graphicData uri="http://schemas.openxmlformats.org/drawingml/2006/table">
            <a:tbl>
              <a:tblPr firstRow="1">
                <a:tableStyleId>{5940675A-B579-460E-94D1-54222C63F5DA}</a:tableStyleId>
              </a:tblPr>
              <a:tblGrid>
                <a:gridCol w="5483352"/>
                <a:gridCol w="5483352"/>
              </a:tblGrid>
              <a:tr h="400050">
                <a:tc>
                  <a:txBody>
                    <a:bodyPr wrap="square"/>
                    <a:lstStyle/>
                    <a:p>
                      <a:r>
                        <a:rPr sz="1800" b="1">
                          <a:solidFill>
                            <a:srgbClr val="000000"/>
                          </a:solidFill>
                        </a:rPr>
                        <a:t>Export the definition</a:t>
                      </a:r>
                    </a:p>
                  </a:txBody>
                  <a:tcPr marL="73152" marR="73152" marT="27432" marB="27432"/>
                </a:tc>
                <a:tc>
                  <a:txBody>
                    <a:bodyPr wrap="square"/>
                    <a:lstStyle/>
                    <a:p>
                      <a:r>
                        <a:rPr sz="1800" b="1">
                          <a:solidFill>
                            <a:srgbClr val="000000"/>
                          </a:solidFill>
                        </a:rPr>
                        <a:t>Run it with HADES</a:t>
                      </a:r>
                    </a:p>
                  </a:txBody>
                  <a:tcPr marL="73152" marR="73152" marT="27432" marB="27432"/>
                </a:tc>
              </a:tr>
              <a:tr h="971550">
                <a:tc>
                  <a:txBody>
                    <a:bodyPr wrap="square"/>
                    <a:lstStyle/>
                    <a:p>
                      <a:r>
                        <a:rPr sz="1800">
                          <a:solidFill>
                            <a:srgbClr val="000000"/>
                          </a:solidFill>
                        </a:rPr>
                        <a:t>Save the cohort as JSON, import it into your institution's ATLAS, and run it against real obstetric data.</a:t>
                      </a:r>
                    </a:p>
                  </a:txBody>
                  <a:tcPr marL="73152" marR="73152" marT="27432" marB="27432"/>
                </a:tc>
                <a:tc>
                  <a:txBody>
                    <a:bodyPr wrap="square"/>
                    <a:lstStyle/>
                    <a:p>
                      <a:r>
                        <a:rPr sz="1800">
                          <a:solidFill>
                            <a:srgbClr val="000000"/>
                          </a:solidFill>
                        </a:rPr>
                        <a:t>A definition built on the public instance exports as JSON and SQL, and the HADES packages can run it on any CDM without a local ATLAS.</a:t>
                      </a:r>
                    </a:p>
                  </a:txBody>
                  <a:tcPr marL="73152" marR="73152" marT="27432" marB="27432"/>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travel. Records don't.</a:t>
            </a:r>
          </a:p>
        </p:txBody>
      </p:sp>
      <p:sp>
        <p:nvSpPr>
          <p:cNvPr id="3" name="TextBox 2"/>
          <p:cNvSpPr txBox="1"/>
          <p:nvPr/>
        </p:nvSpPr>
        <p:spPr>
          <a:xfrm>
            <a:off x="612648" y="1417320"/>
            <a:ext cx="10966704" cy="695960"/>
          </a:xfrm>
          <a:prstGeom prst="rect">
            <a:avLst/>
          </a:prstGeom>
          <a:noFill/>
        </p:spPr>
        <p:txBody>
          <a:bodyPr wrap="square">
            <a:spAutoFit/>
          </a:bodyPr>
          <a:lstStyle/>
          <a:p>
            <a:r>
              <a:rPr sz="1800">
                <a:solidFill>
                  <a:srgbClr val="000000"/>
                </a:solidFill>
              </a:rPr>
              <a:t>You define a study once. Each site runs it locally, behind its own firewall. Only aggregate results come back — no person-level data ever leaves any site.</a:t>
            </a:r>
          </a:p>
        </p:txBody>
      </p:sp>
      <p:graphicFrame>
        <p:nvGraphicFramePr>
          <p:cNvPr id="4" name="Table 3"/>
          <p:cNvGraphicFramePr>
            <a:graphicFrameLocks noGrp="1"/>
          </p:cNvGraphicFramePr>
          <p:nvPr/>
        </p:nvGraphicFramePr>
        <p:xfrm>
          <a:off x="612648" y="2113280"/>
          <a:ext cx="10966704" cy="1371600"/>
        </p:xfrm>
        <a:graphic>
          <a:graphicData uri="http://schemas.openxmlformats.org/drawingml/2006/table">
            <a:tbl>
              <a:tblPr firstRow="1">
                <a:tableStyleId>{5940675A-B579-460E-94D1-54222C63F5DA}</a:tableStyleId>
              </a:tblPr>
              <a:tblGrid>
                <a:gridCol w="5483352"/>
                <a:gridCol w="5483352"/>
              </a:tblGrid>
              <a:tr h="400050">
                <a:tc>
                  <a:txBody>
                    <a:bodyPr wrap="square"/>
                    <a:lstStyle/>
                    <a:p>
                      <a:r>
                        <a:rPr sz="1800" b="1">
                          <a:solidFill>
                            <a:srgbClr val="000000"/>
                          </a:solidFill>
                        </a:rPr>
                        <a:t>Gauge feasibility</a:t>
                      </a:r>
                    </a:p>
                  </a:txBody>
                  <a:tcPr marL="73152" marR="73152" marT="27432" marB="27432"/>
                </a:tc>
                <a:tc>
                  <a:txBody>
                    <a:bodyPr wrap="square"/>
                    <a:lstStyle/>
                    <a:p>
                      <a:r>
                        <a:rPr sz="1800" b="1">
                          <a:solidFill>
                            <a:srgbClr val="000000"/>
                          </a:solidFill>
                        </a:rPr>
                        <a:t>How it runs</a:t>
                      </a:r>
                    </a:p>
                  </a:txBody>
                  <a:tcPr marL="73152" marR="73152" marT="27432" marB="27432"/>
                </a:tc>
              </a:tr>
              <a:tr h="971550">
                <a:tc>
                  <a:txBody>
                    <a:bodyPr wrap="square"/>
                    <a:lstStyle/>
                    <a:p>
                      <a:r>
                        <a:rPr sz="1800">
                          <a:solidFill>
                            <a:srgbClr val="000000"/>
                          </a:solidFill>
                        </a:rPr>
                        <a:t>Published data-source characterizations  ·  The OHDSI Forums — ask who has the population  ·  Prior network studies with similar cohorts</a:t>
                      </a:r>
                    </a:p>
                  </a:txBody>
                  <a:tcPr marL="73152" marR="73152" marT="27432" marB="27432"/>
                </a:tc>
                <a:tc>
                  <a:txBody>
                    <a:bodyPr wrap="square"/>
                    <a:lstStyle/>
                    <a:p>
                      <a:r>
                        <a:rPr sz="1800">
                          <a:solidFill>
                            <a:srgbClr val="000000"/>
                          </a:solidFill>
                        </a:rPr>
                        <a:t>Build cohorts in ATLAS  ·  Package with HADES, run via Strategus  ·  Sites return aggregate results to pool</a:t>
                      </a:r>
                    </a:p>
                  </a:txBody>
                  <a:tcPr marL="73152" marR="73152" marT="27432" marB="27432"/>
                </a:tc>
              </a:tr>
            </a:tbl>
          </a:graphicData>
        </a:graphic>
      </p:graphicFrame>
      <p:sp>
        <p:nvSpPr>
          <p:cNvPr id="5" name="TextBox 4"/>
          <p:cNvSpPr txBox="1"/>
          <p:nvPr/>
        </p:nvSpPr>
        <p:spPr>
          <a:xfrm>
            <a:off x="612648" y="3594608"/>
            <a:ext cx="10966704" cy="398780"/>
          </a:xfrm>
          <a:prstGeom prst="rect">
            <a:avLst/>
          </a:prstGeom>
          <a:noFill/>
        </p:spPr>
        <p:txBody>
          <a:bodyPr wrap="square">
            <a:spAutoFit/>
          </a:bodyPr>
          <a:lstStyle/>
          <a:p>
            <a:r>
              <a:rPr sz="1800" i="1">
                <a:solidFill>
                  <a:srgbClr val="000000"/>
                </a:solidFill>
              </a:rPr>
              <a:t>You don't need to master HADES or Strategus for feasibility — only to know they exist.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Decide before you write a protocol</a:t>
            </a:r>
          </a:p>
        </p:txBody>
      </p:sp>
      <p:graphicFrame>
        <p:nvGraphicFramePr>
          <p:cNvPr id="3" name="Table 2"/>
          <p:cNvGraphicFramePr>
            <a:graphicFrameLocks noGrp="1"/>
          </p:cNvGraphicFramePr>
          <p:nvPr/>
        </p:nvGraphicFramePr>
        <p:xfrm>
          <a:off x="612648" y="1417320"/>
          <a:ext cx="10966704" cy="1371600"/>
        </p:xfrm>
        <a:graphic>
          <a:graphicData uri="http://schemas.openxmlformats.org/drawingml/2006/table">
            <a:tbl>
              <a:tblPr firstRow="1">
                <a:tableStyleId>{5940675A-B579-460E-94D1-54222C63F5DA}</a:tableStyleId>
              </a:tblPr>
              <a:tblGrid>
                <a:gridCol w="3655568"/>
                <a:gridCol w="3655568"/>
                <a:gridCol w="3655568"/>
              </a:tblGrid>
              <a:tr h="400050">
                <a:tc>
                  <a:txBody>
                    <a:bodyPr wrap="square"/>
                    <a:lstStyle/>
                    <a:p>
                      <a:r>
                        <a:rPr sz="1800" b="1">
                          <a:solidFill>
                            <a:srgbClr val="000000"/>
                          </a:solidFill>
                        </a:rPr>
                        <a:t>Feasible here</a:t>
                      </a:r>
                    </a:p>
                  </a:txBody>
                  <a:tcPr marL="73152" marR="73152" marT="27432" marB="27432"/>
                </a:tc>
                <a:tc>
                  <a:txBody>
                    <a:bodyPr wrap="square"/>
                    <a:lstStyle/>
                    <a:p>
                      <a:r>
                        <a:rPr sz="1800" b="1">
                          <a:solidFill>
                            <a:srgbClr val="000000"/>
                          </a:solidFill>
                        </a:rPr>
                        <a:t>Feasible via network only</a:t>
                      </a:r>
                    </a:p>
                  </a:txBody>
                  <a:tcPr marL="73152" marR="73152" marT="27432" marB="27432"/>
                </a:tc>
                <a:tc>
                  <a:txBody>
                    <a:bodyPr wrap="square"/>
                    <a:lstStyle/>
                    <a:p>
                      <a:r>
                        <a:rPr sz="1800" b="1">
                          <a:solidFill>
                            <a:srgbClr val="000000"/>
                          </a:solidFill>
                        </a:rPr>
                        <a:t>Not feasible as posed</a:t>
                      </a:r>
                    </a:p>
                  </a:txBody>
                  <a:tcPr marL="73152" marR="73152" marT="27432" marB="27432"/>
                </a:tc>
              </a:tr>
              <a:tr h="971550">
                <a:tc>
                  <a:txBody>
                    <a:bodyPr wrap="square"/>
                    <a:lstStyle/>
                    <a:p>
                      <a:r>
                        <a:rPr sz="1800">
                          <a:solidFill>
                            <a:srgbClr val="000000"/>
                          </a:solidFill>
                        </a:rPr>
                        <a:t>Population present and sufficient. Pilot locally first.</a:t>
                      </a:r>
                    </a:p>
                  </a:txBody>
                  <a:tcPr marL="73152" marR="73152" marT="27432" marB="27432"/>
                </a:tc>
                <a:tc>
                  <a:txBody>
                    <a:bodyPr wrap="square"/>
                    <a:lstStyle/>
                    <a:p>
                      <a:r>
                        <a:rPr sz="1800">
                          <a:solidFill>
                            <a:srgbClr val="000000"/>
                          </a:solidFill>
                        </a:rPr>
                        <a:t>Population present but too few. Scope it as a network study; engage early.</a:t>
                      </a:r>
                    </a:p>
                  </a:txBody>
                  <a:tcPr marL="73152" marR="73152" marT="27432" marB="27432"/>
                </a:tc>
                <a:tc>
                  <a:txBody>
                    <a:bodyPr wrap="square"/>
                    <a:lstStyle/>
                    <a:p>
                      <a:r>
                        <a:rPr sz="1800">
                          <a:solidFill>
                            <a:srgbClr val="000000"/>
                          </a:solidFill>
                        </a:rPr>
                        <a:t>No reachable source has it. Reframe before writing anything.</a:t>
                      </a:r>
                    </a:p>
                  </a:txBody>
                  <a:tcPr marL="73152" marR="73152" marT="27432" marB="27432"/>
                </a:tc>
              </a:tr>
            </a:tbl>
          </a:graphicData>
        </a:graphic>
      </p:graphicFrame>
      <p:sp>
        <p:nvSpPr>
          <p:cNvPr id="4" name="TextBox 3"/>
          <p:cNvSpPr txBox="1"/>
          <p:nvPr/>
        </p:nvSpPr>
        <p:spPr>
          <a:xfrm>
            <a:off x="612648" y="2898648"/>
            <a:ext cx="10966704" cy="398780"/>
          </a:xfrm>
          <a:prstGeom prst="rect">
            <a:avLst/>
          </a:prstGeom>
          <a:noFill/>
        </p:spPr>
        <p:txBody>
          <a:bodyPr wrap="square">
            <a:spAutoFit/>
          </a:bodyPr>
          <a:lstStyle/>
          <a:p>
            <a:r>
              <a:rPr sz="1800" i="1">
                <a:solidFill>
                  <a:srgbClr val="000000"/>
                </a:solidFill>
              </a:rPr>
              <a:t>A hard “no” found now is a win, not a failure.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 feasibility first.</a:t>
            </a:r>
          </a:p>
        </p:txBody>
      </p:sp>
      <p:sp>
        <p:nvSpPr>
          <p:cNvPr id="3" name="Content Placeholder 2"/>
          <p:cNvSpPr>
            <a:spLocks noGrp="1"/>
          </p:cNvSpPr>
          <p:nvPr>
            <p:ph idx="1"/>
          </p:nvPr>
        </p:nvSpPr>
        <p:spPr/>
        <p:txBody>
          <a:bodyPr/>
          <a:lstStyle/>
          <a:p>
            <a:pPr/>
            <a:r>
              <a:rPr sz="2400"/>
              <a:t>Find the dead ends in minutes. Spend your real time on the question that survives.</a:t>
            </a:r>
          </a:p>
          <a:p>
            <a:pPr/>
            <a:r>
              <a:rPr sz="2400"/>
              <a:t>Take-home: the checks · the steward email · the ATLAS walkthrough · the one-page worksheet</a:t>
            </a:r>
          </a:p>
          <a:p>
            <a:pPr/>
            <a:r>
              <a:rPr i="1" sz="2400"/>
              <a:t>atlas-demo.ohdsi.org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62626"/>
      </a:dk2>
      <a:lt2>
        <a:srgbClr val="F2F2F2"/>
      </a:lt2>
      <a:accent1>
        <a:srgbClr val="404040"/>
      </a:accent1>
      <a:accent2>
        <a:srgbClr val="7F7F7F"/>
      </a:accent2>
      <a:accent3>
        <a:srgbClr val="A6A6A6"/>
      </a:accent3>
      <a:accent4>
        <a:srgbClr val="595959"/>
      </a:accent4>
      <a:accent5>
        <a:srgbClr val="BFBFBF"/>
      </a:accent5>
      <a:accent6>
        <a:srgbClr val="262626"/>
      </a:accent6>
      <a:hlink>
        <a:srgbClr val="000000"/>
      </a:hlink>
      <a:folHlink>
        <a:srgbClr val="40404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