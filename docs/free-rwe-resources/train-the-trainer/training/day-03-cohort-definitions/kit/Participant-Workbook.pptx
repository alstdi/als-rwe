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188720"/>
            <a:ext cx="3291840" cy="45720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527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920240"/>
            <a:ext cx="112379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Cohort Definition
and Characterization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297680"/>
            <a:ext cx="112379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8B4E6"/>
                </a:solidFill>
              </a:rPr>
              <a:t>Participant Workbook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6CD"/>
                </a:solidFill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24712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</a:rPr>
              <a:t>By the end of this session, you will be able 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81912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09344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58191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Define an OHDSI cohort and explain how it differs from a simple code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249424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276856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2494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Identify and apply the four parts: entry event, concept sets, inclusion criteria, exit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916936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944368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91693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Apply temporal logic correctly in inclusion and exclusion rules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584448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611880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58444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Build and generate a cohort in ATLAS, read the attrition report, and characterize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Four Parts — Fill 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123797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92"/>
                <a:gridCol w="3745992"/>
                <a:gridCol w="3745992"/>
              </a:tblGrid>
              <a:tr h="566928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Defines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Your Example (fill in)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Entry Event (Initial Event)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The qualifying event that brings a person into the cohort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Concept 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The reusable clinical concepts defining the entry event and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Inclusion Criteria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Additional conditions a person must meet after entry event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Cohort 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When and how a person leaves the cohort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My Metformin Cohort — Lab Worksheet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Entry event concept: ____________________________________________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Include Descendants ON?  ☐ Yes  ☐ No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Restrict to first event?  ☐ Yes  ☐ No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Inclusion Rule 1 (prior observation):  ___________________________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   Window: _________ days  BEFORE  AFTER  BOTH (circle one)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Inclusion Rule 2 (no prior sulfonylurea):  _______________________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   Window: _________ days  BEFORE  AFTER  BOTH (circle one)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Cohort exit strategy:  _________________________________________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Atlas cohort count (final):  ____________________________________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91919"/>
                </a:solidFill>
              </a:rPr>
              <a:t>Biggest attrition step (rule name + % removed):  _________________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Characterization Findings — Record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Mean age of cohort members:  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Sex distribution (% male / % female):  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Top 3 prior conditions:</a:t>
            </a:r>
          </a:p>
          <a:p>
            <a:pPr lvl="1">
              <a:spcBef>
                <a:spcPts val="300"/>
              </a:spcBef>
            </a:pPr>
            <a:r>
              <a:rPr sz="1500">
                <a:solidFill>
                  <a:srgbClr val="191919"/>
                </a:solidFill>
              </a:rPr>
              <a:t>1.  ______________________________________________</a:t>
            </a:r>
          </a:p>
          <a:p>
            <a:pPr lvl="1">
              <a:spcBef>
                <a:spcPts val="300"/>
              </a:spcBef>
            </a:pPr>
            <a:r>
              <a:rPr sz="1500">
                <a:solidFill>
                  <a:srgbClr val="191919"/>
                </a:solidFill>
              </a:rPr>
              <a:t>2.  ______________________________________________</a:t>
            </a:r>
          </a:p>
          <a:p>
            <a:pPr lvl="1">
              <a:spcBef>
                <a:spcPts val="300"/>
              </a:spcBef>
            </a:pPr>
            <a:r>
              <a:rPr sz="1500">
                <a:solidFill>
                  <a:srgbClr val="191919"/>
                </a:solidFill>
              </a:rPr>
              <a:t>3.  ______________________________________________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Top 3 prior drugs:</a:t>
            </a:r>
          </a:p>
          <a:p>
            <a:pPr lvl="1">
              <a:spcBef>
                <a:spcPts val="300"/>
              </a:spcBef>
            </a:pPr>
            <a:r>
              <a:rPr sz="1500">
                <a:solidFill>
                  <a:srgbClr val="191919"/>
                </a:solidFill>
              </a:rPr>
              <a:t>1.  ______________________________________________</a:t>
            </a:r>
          </a:p>
          <a:p>
            <a:pPr lvl="1">
              <a:spcBef>
                <a:spcPts val="300"/>
              </a:spcBef>
            </a:pPr>
            <a:r>
              <a:rPr sz="1500">
                <a:solidFill>
                  <a:srgbClr val="191919"/>
                </a:solidFill>
              </a:rPr>
              <a:t>2.  ______________________________________________</a:t>
            </a:r>
          </a:p>
          <a:p>
            <a:pPr lvl="1">
              <a:spcBef>
                <a:spcPts val="300"/>
              </a:spcBef>
            </a:pPr>
            <a:r>
              <a:rPr sz="1500">
                <a:solidFill>
                  <a:srgbClr val="191919"/>
                </a:solidFill>
              </a:rPr>
              <a:t>3.  ______________________________________________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Does this population look like what you expected?  ☐ Yes  ☐ No — Why?  __________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