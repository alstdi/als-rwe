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20240"/>
            <a:ext cx="10363200" cy="128016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291840"/>
            <a:ext cx="10363200" cy="18288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l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Cohort Definition</a:t>
            </a:r>
          </a:p>
          <a:p>
            <a:r>
              <a:t>and Characterization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DAY 3</a:t>
            </a:r>
          </a:p>
          <a:p>
            <a:pPr marL="0" indent="0">
              <a:buNone/>
            </a:pPr>
            <a:r>
              <a:t>Participant Workbook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i="1" sz="2400"/>
              <a:t>By the end of this session, you will be able to:</a:t>
            </a:r>
          </a:p>
          <a:p>
            <a:pPr marL="0" indent="0">
              <a:buNone/>
            </a:pPr>
            <a:r>
              <a:rPr sz="2400"/>
              <a:t>1. Define an OHDSI cohort and explain how it differs from a simple code list</a:t>
            </a:r>
          </a:p>
          <a:p>
            <a:pPr marL="0" indent="0">
              <a:buNone/>
            </a:pPr>
            <a:r>
              <a:rPr sz="2400"/>
              <a:t>2. Identify and apply the four parts: entry event, concept sets, inclusion criteria, exit</a:t>
            </a:r>
          </a:p>
          <a:p>
            <a:pPr marL="0" indent="0">
              <a:buNone/>
            </a:pPr>
            <a:r>
              <a:rPr sz="2400"/>
              <a:t>3. Apply temporal logic correctly in inclusion and exclusion rules</a:t>
            </a:r>
          </a:p>
          <a:p>
            <a:pPr marL="0" indent="0">
              <a:buNone/>
            </a:pPr>
            <a:r>
              <a:rPr sz="2400"/>
              <a:t>4. Build and generate a cohort in ATLAS, read the attrition report, and characterize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Parts — Fill 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12648" y="1417320"/>
          <a:ext cx="10966704" cy="314325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035427"/>
                <a:gridCol w="5385435"/>
                <a:gridCol w="254584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Part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What It Defines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</a:rPr>
                        <a:t>Your Example (fill in)</a:t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Entry Event (Initial Event)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The qualifying event that brings a person into the cohort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Concept Sets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The reusable clinical concepts defining the entry event and rules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Inclusion Criteria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Additional conditions evaluated relative to the entry event (the index date)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Cohort Exit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When and how a person leaves the cohort</a:t>
                      </a:r>
                    </a:p>
                  </a:txBody>
                  <a:tcPr marL="73152" marR="73152" marT="27432" marB="27432"/>
                </a:tc>
                <a:tc>
                  <a:txBody>
                    <a:bodyPr wrap="square"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/>
                      </a:r>
                    </a:p>
                  </a:txBody>
                  <a:tcPr marL="73152" marR="73152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Riluzole Cohort: Lab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Entry event concept: ____________________________________________</a:t>
            </a:r>
          </a:p>
          <a:p>
            <a:pPr/>
            <a:r>
              <a:rPr sz="2200"/>
              <a:t>Include Descendants ON?  ☐ Yes  ☐ No</a:t>
            </a:r>
          </a:p>
          <a:p>
            <a:pPr/>
            <a:r>
              <a:rPr sz="2200"/>
              <a:t>Restrict to first event?  ☐ Yes  ☐ No</a:t>
            </a:r>
          </a:p>
          <a:p>
            <a:pPr/>
            <a:r>
              <a:rPr sz="2200"/>
              <a:t>Inclusion Rule 1 (prior observation):  ___________________________</a:t>
            </a:r>
          </a:p>
          <a:p>
            <a:pPr/>
            <a:r>
              <a:rPr sz="2200"/>
              <a:t>Window: _________ days  BEFORE  AFTER  BOTH (circle one)</a:t>
            </a:r>
          </a:p>
          <a:p>
            <a:pPr/>
            <a:r>
              <a:rPr sz="2200"/>
              <a:t>Inclusion Rule 2 (motor neuron disease diagnosis):  _______________________</a:t>
            </a:r>
          </a:p>
          <a:p>
            <a:pPr/>
            <a:r>
              <a:rPr sz="2200"/>
              <a:t>Window: _________ days  BEFORE  AFTER  BOTH (circle one)</a:t>
            </a:r>
          </a:p>
          <a:p>
            <a:pPr/>
            <a:r>
              <a:rPr sz="2200"/>
              <a:t>Cohort exit strategy:  _________________________________________</a:t>
            </a:r>
          </a:p>
          <a:p>
            <a:pPr/>
            <a:r>
              <a:rPr sz="2200"/>
              <a:t>Atlas cohort count (final):  ____________________________________</a:t>
            </a:r>
          </a:p>
          <a:p>
            <a:pPr/>
            <a:r>
              <a:rPr sz="2200"/>
              <a:t>Biggest attrition step (rule name + % removed):  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Characterization Findings — Record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Mean age of cohort members:  ____________________________________</a:t>
            </a:r>
          </a:p>
          <a:p>
            <a:pPr/>
            <a:r>
              <a:rPr sz="1800"/>
              <a:t>Sex distribution (% male / % female):  __________________________</a:t>
            </a:r>
          </a:p>
          <a:p>
            <a:pPr marL="0" indent="0">
              <a:buNone/>
            </a:pPr>
            <a:r>
              <a:rPr sz="1800"/>
              <a:t>Top 3 prior conditions:</a:t>
            </a:r>
          </a:p>
          <a:p>
            <a:pPr lvl="1" marL="0" indent="0">
              <a:buNone/>
            </a:pPr>
            <a:r>
              <a:rPr sz="1600"/>
              <a:t>1.  ______________________________________________</a:t>
            </a:r>
          </a:p>
          <a:p>
            <a:pPr lvl="1" marL="0" indent="0">
              <a:buNone/>
            </a:pPr>
            <a:r>
              <a:rPr sz="1600"/>
              <a:t>2.  ______________________________________________</a:t>
            </a:r>
          </a:p>
          <a:p>
            <a:pPr lvl="1" marL="0" indent="0">
              <a:buNone/>
            </a:pPr>
            <a:r>
              <a:rPr sz="1600"/>
              <a:t>3.  ______________________________________________</a:t>
            </a:r>
          </a:p>
          <a:p>
            <a:pPr marL="0" indent="0">
              <a:buNone/>
            </a:pPr>
            <a:r>
              <a:rPr sz="1800"/>
              <a:t>Top 3 prior drugs:</a:t>
            </a:r>
          </a:p>
          <a:p>
            <a:pPr lvl="1" marL="0" indent="0">
              <a:buNone/>
            </a:pPr>
            <a:r>
              <a:rPr sz="1600"/>
              <a:t>1.  ______________________________________________</a:t>
            </a:r>
          </a:p>
          <a:p>
            <a:pPr lvl="1" marL="0" indent="0">
              <a:buNone/>
            </a:pPr>
            <a:r>
              <a:rPr sz="1600"/>
              <a:t>2.  ______________________________________________</a:t>
            </a:r>
          </a:p>
          <a:p>
            <a:pPr lvl="1" marL="0" indent="0">
              <a:buNone/>
            </a:pPr>
            <a:r>
              <a:rPr sz="1600"/>
              <a:t>3.  ______________________________________________</a:t>
            </a:r>
          </a:p>
          <a:p>
            <a:pPr/>
            <a:r>
              <a:rPr sz="1800"/>
              <a:t>Does this population look like what you expected?  ☐ Yes  ☐ No — Why?  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You.  Questions?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t>Danielle Boyce</a:t>
            </a:r>
          </a:p>
          <a:p>
            <a:pPr marL="0" indent="0">
              <a:buNone/>
            </a:pPr>
            <a:r>
              <a:t>dboyce@als.net</a:t>
            </a:r>
          </a:p>
          <a:p>
            <a:pPr marL="0" indent="0">
              <a:buNone/>
            </a:pPr>
            <a:r>
              <a:t>ALS TDI · OHDSI/OMOP Train-the-Trainer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404040"/>
      </a:accent1>
      <a:accent2>
        <a:srgbClr val="7F7F7F"/>
      </a:accent2>
      <a:accent3>
        <a:srgbClr val="A6A6A6"/>
      </a:accent3>
      <a:accent4>
        <a:srgbClr val="595959"/>
      </a:accent4>
      <a:accent5>
        <a:srgbClr val="BFBFBF"/>
      </a:accent5>
      <a:accent6>
        <a:srgbClr val="262626"/>
      </a:accent6>
      <a:hlink>
        <a:srgbClr val="000000"/>
      </a:hlink>
      <a:folHlink>
        <a:srgbClr val="40404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