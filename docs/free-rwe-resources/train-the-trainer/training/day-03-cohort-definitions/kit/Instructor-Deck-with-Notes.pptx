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the difference between a 'list of patients with type 2 diabetes' and a proper cohort definition is the temporal logic — when they qualified, what prior exposure they had, and when they exit. This distinction is what makes OHDSI studies reproducible.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ATLAS and the Book of OHDSI (chapter 10) present a cohort definition as cohort entry events, inclusion criteria, and cohort exit. Concept sets are the building blocks those sections use. This deck teaches concept sets as a fourth part so that the Day 2 work stays in view; say so, because the written tutorial follows the Book of OHDSI structure.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participants try to identify the entry event for a study they're working on. What concept set would it use? What domain? Is 'first' exposure the right design, or first observed?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'exclusion as inclusion' syntax confuses many new users. Walk through an example: 'exclude patients with prior insulin' becomes 'require that the count of insulin exposures in the prior 365 days is exactly 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ATLAS UI step by step. Stop at each section header (Entry Events, Inclusion Criteria, Cohort Exit) and ask the group what they expect to see. The attrition report is the key teaching moment — show how many people each rule removed.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participants run their cohort and share the attrition numbers. Ask: which rule removed the most people? Does that make clinical sense? What would you change to make the cohort larger / smaller?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Reconciliation exercise: have each participant run the count query and compare to the Atlas UI number. If they differ, work through the checklist: same CDM? Same schema? Same cohort_definition_id?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l">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920240"/>
            <a:ext cx="10363200" cy="1280160"/>
          </a:xfrm>
        </p:spPr>
        <p:txBody>
          <a:bodyPr anchor="b"/>
          <a:lstStyle>
            <a:lvl1pPr algn="l">
              <a:defRPr sz="4000" b="1"/>
            </a:lvl1pPr>
          </a:lstStyle>
          <a:p>
            <a:r>
              <a:rPr lang="en-US" smtClean="0"/>
              <a:t>Click to edit Master title style</a:t>
            </a:r>
            <a:endParaRPr lang="en-US"/>
          </a:p>
        </p:txBody>
      </p:sp>
      <p:sp>
        <p:nvSpPr>
          <p:cNvPr id="3" name="Text Placeholder 2"/>
          <p:cNvSpPr>
            <a:spLocks noGrp="1"/>
          </p:cNvSpPr>
          <p:nvPr>
            <p:ph type="body" idx="1"/>
          </p:nvPr>
        </p:nvSpPr>
        <p:spPr>
          <a:xfrm>
            <a:off x="963084" y="3291840"/>
            <a:ext cx="10363200" cy="1828800"/>
          </a:xfrm>
        </p:spPr>
        <p:txBody>
          <a:bodyPr anchor="t"/>
          <a:lstStyle>
            <a:lvl1pPr marL="0" indent="0" algn="l">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lgn="l"/>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6"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6"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0"/>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200" kern="1200" b="1">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0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Cohort Definition</a:t>
            </a:r>
          </a:p>
          <a:p>
            <a:r>
              <a:t>and Characterization</a:t>
            </a:r>
          </a:p>
        </p:txBody>
      </p:sp>
      <p:sp>
        <p:nvSpPr>
          <p:cNvPr id="3" name="Subtitle 2"/>
          <p:cNvSpPr>
            <a:spLocks noGrp="1"/>
          </p:cNvSpPr>
          <p:nvPr>
            <p:ph type="subTitle" idx="1"/>
          </p:nvPr>
        </p:nvSpPr>
        <p:spPr/>
        <p:txBody>
          <a:bodyPr/>
          <a:lstStyle/>
          <a:p>
            <a:pPr marL="0" indent="0">
              <a:buNone/>
            </a:pPr>
            <a:r>
              <a:t>DAY 3</a:t>
            </a:r>
          </a:p>
          <a:p>
            <a:pPr marL="0" indent="0">
              <a:buNone/>
            </a:pPr>
            <a:r>
              <a:t>Building new-user cohorts in ATLAS · temporal logic · characterization</a:t>
            </a:r>
          </a:p>
          <a:p>
            <a:pPr marL="0" indent="0">
              <a:buNone/>
            </a:pPr>
            <a:r>
              <a:t>ALS TDI · OHDSI/OMOP Train-the-Trainer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pPr/>
            <a:r>
              <a:rPr sz="2400"/>
              <a:t>Thank you for being here and for investing your time in this work.</a:t>
            </a:r>
          </a:p>
          <a:p>
            <a:pPr/>
            <a:r>
              <a:rPr sz="2400"/>
              <a:t>This program stands on the shoulders of the global OHDSI community and everyone who contributes to open, reproducible health data science.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Housekeeping</a:t>
            </a:r>
          </a:p>
        </p:txBody>
      </p:sp>
      <p:sp>
        <p:nvSpPr>
          <p:cNvPr id="3" name="Content Placeholder 2"/>
          <p:cNvSpPr>
            <a:spLocks noGrp="1"/>
          </p:cNvSpPr>
          <p:nvPr>
            <p:ph idx="1"/>
          </p:nvPr>
        </p:nvSpPr>
        <p:spPr/>
        <p:txBody>
          <a:bodyPr/>
          <a:lstStyle/>
          <a:p>
            <a:pPr/>
            <a:r>
              <a:rPr sz="2400"/>
              <a:t>Recording: today's session is recorded and shared within 24 hours.</a:t>
            </a:r>
          </a:p>
          <a:p>
            <a:pPr/>
            <a:r>
              <a:rPr sz="2400"/>
              <a:t>Questions: ask anytime in the chat — we'll pause at each section break.</a:t>
            </a:r>
          </a:p>
          <a:p>
            <a:pPr/>
            <a:r>
              <a:rPr sz="2400"/>
              <a:t>Materials: the slides, participant workbook, and Kahoot live in the program repo.</a:t>
            </a:r>
          </a:p>
          <a:p>
            <a:pPr/>
            <a:r>
              <a:rPr sz="2400"/>
              <a:t>Breaks: we'll take a short break partway through the session.</a:t>
            </a:r>
          </a:p>
          <a:p>
            <a:pPr/>
            <a:r>
              <a:rPr sz="2400"/>
              <a:t>Be kind to yourself — this is a lot of material; mastery comes with practice, not in one day.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graphicFrame>
        <p:nvGraphicFramePr>
          <p:cNvPr id="3" name="Table 2"/>
          <p:cNvGraphicFramePr>
            <a:graphicFrameLocks noGrp="1"/>
          </p:cNvGraphicFramePr>
          <p:nvPr/>
        </p:nvGraphicFramePr>
        <p:xfrm>
          <a:off x="612648" y="1417320"/>
          <a:ext cx="10966703" cy="4000500"/>
        </p:xfrm>
        <a:graphic>
          <a:graphicData uri="http://schemas.openxmlformats.org/drawingml/2006/table">
            <a:tbl>
              <a:tblPr firstRow="1">
                <a:tableStyleId>{5940675A-B579-460E-94D1-54222C63F5DA}</a:tableStyleId>
              </a:tblPr>
              <a:tblGrid>
                <a:gridCol w="2589360"/>
                <a:gridCol w="8377343"/>
              </a:tblGrid>
              <a:tr h="400050">
                <a:tc>
                  <a:txBody>
                    <a:bodyPr wrap="square"/>
                    <a:lstStyle/>
                    <a:p>
                      <a:r>
                        <a:rPr sz="1800" b="1">
                          <a:solidFill>
                            <a:srgbClr val="000000"/>
                          </a:solidFill>
                        </a:rPr>
                        <a:t>Time</a:t>
                      </a:r>
                    </a:p>
                  </a:txBody>
                  <a:tcPr marL="73152" marR="73152" marT="27432" marB="27432"/>
                </a:tc>
                <a:tc>
                  <a:txBody>
                    <a:bodyPr wrap="square"/>
                    <a:lstStyle/>
                    <a:p>
                      <a:r>
                        <a:rPr sz="1800" b="1">
                          <a:solidFill>
                            <a:srgbClr val="000000"/>
                          </a:solidFill>
                        </a:rPr>
                        <a:t>Topic</a:t>
                      </a:r>
                    </a:p>
                  </a:txBody>
                  <a:tcPr marL="73152" marR="73152" marT="27432" marB="27432"/>
                </a:tc>
              </a:tr>
              <a:tr h="400050">
                <a:tc>
                  <a:txBody>
                    <a:bodyPr wrap="square"/>
                    <a:lstStyle/>
                    <a:p>
                      <a:r>
                        <a:rPr sz="1800">
                          <a:solidFill>
                            <a:srgbClr val="000000"/>
                          </a:solidFill>
                        </a:rPr>
                        <a:t>9:30 – 9:40</a:t>
                      </a:r>
                    </a:p>
                  </a:txBody>
                  <a:tcPr marL="73152" marR="73152" marT="27432" marB="27432"/>
                </a:tc>
                <a:tc>
                  <a:txBody>
                    <a:bodyPr wrap="square"/>
                    <a:lstStyle/>
                    <a:p>
                      <a:r>
                        <a:rPr sz="1800">
                          <a:solidFill>
                            <a:srgbClr val="000000"/>
                          </a:solidFill>
                        </a:rPr>
                        <a:t>Recap and Q&amp;A from Day 2</a:t>
                      </a:r>
                    </a:p>
                  </a:txBody>
                  <a:tcPr marL="73152" marR="73152" marT="27432" marB="27432"/>
                </a:tc>
              </a:tr>
              <a:tr h="400050">
                <a:tc>
                  <a:txBody>
                    <a:bodyPr wrap="square"/>
                    <a:lstStyle/>
                    <a:p>
                      <a:r>
                        <a:rPr sz="1800">
                          <a:solidFill>
                            <a:srgbClr val="000000"/>
                          </a:solidFill>
                        </a:rPr>
                        <a:t>9:40 – 10:00</a:t>
                      </a:r>
                    </a:p>
                  </a:txBody>
                  <a:tcPr marL="73152" marR="73152" marT="27432" marB="27432"/>
                </a:tc>
                <a:tc>
                  <a:txBody>
                    <a:bodyPr wrap="square"/>
                    <a:lstStyle/>
                    <a:p>
                      <a:r>
                        <a:rPr sz="1800">
                          <a:solidFill>
                            <a:srgbClr val="000000"/>
                          </a:solidFill>
                        </a:rPr>
                        <a:t>What is an OHDSI cohort? Why it's not a code list</a:t>
                      </a:r>
                    </a:p>
                  </a:txBody>
                  <a:tcPr marL="73152" marR="73152" marT="27432" marB="27432"/>
                </a:tc>
              </a:tr>
              <a:tr h="400050">
                <a:tc>
                  <a:txBody>
                    <a:bodyPr wrap="square"/>
                    <a:lstStyle/>
                    <a:p>
                      <a:r>
                        <a:rPr sz="1800">
                          <a:solidFill>
                            <a:srgbClr val="000000"/>
                          </a:solidFill>
                        </a:rPr>
                        <a:t>10:00 – 10:30</a:t>
                      </a:r>
                    </a:p>
                  </a:txBody>
                  <a:tcPr marL="73152" marR="73152" marT="27432" marB="27432"/>
                </a:tc>
                <a:tc>
                  <a:txBody>
                    <a:bodyPr wrap="square"/>
                    <a:lstStyle/>
                    <a:p>
                      <a:r>
                        <a:rPr sz="1800">
                          <a:solidFill>
                            <a:srgbClr val="000000"/>
                          </a:solidFill>
                        </a:rPr>
                        <a:t>The four parts of a cohort definition</a:t>
                      </a:r>
                    </a:p>
                  </a:txBody>
                  <a:tcPr marL="73152" marR="73152" marT="27432" marB="27432"/>
                </a:tc>
              </a:tr>
              <a:tr h="400050">
                <a:tc>
                  <a:txBody>
                    <a:bodyPr wrap="square"/>
                    <a:lstStyle/>
                    <a:p>
                      <a:r>
                        <a:rPr sz="1800">
                          <a:solidFill>
                            <a:srgbClr val="000000"/>
                          </a:solidFill>
                        </a:rPr>
                        <a:t>10:30 – 10:45</a:t>
                      </a:r>
                    </a:p>
                  </a:txBody>
                  <a:tcPr marL="73152" marR="73152" marT="27432" marB="27432"/>
                </a:tc>
                <a:tc>
                  <a:txBody>
                    <a:bodyPr wrap="square"/>
                    <a:lstStyle/>
                    <a:p>
                      <a:r>
                        <a:rPr sz="1800">
                          <a:solidFill>
                            <a:srgbClr val="000000"/>
                          </a:solidFill>
                        </a:rPr>
                        <a:t>Break</a:t>
                      </a:r>
                    </a:p>
                  </a:txBody>
                  <a:tcPr marL="73152" marR="73152" marT="27432" marB="27432"/>
                </a:tc>
              </a:tr>
              <a:tr h="400050">
                <a:tc>
                  <a:txBody>
                    <a:bodyPr wrap="square"/>
                    <a:lstStyle/>
                    <a:p>
                      <a:r>
                        <a:rPr sz="1800">
                          <a:solidFill>
                            <a:srgbClr val="000000"/>
                          </a:solidFill>
                        </a:rPr>
                        <a:t>10:45 – 11:10</a:t>
                      </a:r>
                    </a:p>
                  </a:txBody>
                  <a:tcPr marL="73152" marR="73152" marT="27432" marB="27432"/>
                </a:tc>
                <a:tc>
                  <a:txBody>
                    <a:bodyPr wrap="square"/>
                    <a:lstStyle/>
                    <a:p>
                      <a:r>
                        <a:rPr sz="1800">
                          <a:solidFill>
                            <a:srgbClr val="000000"/>
                          </a:solidFill>
                        </a:rPr>
                        <a:t>Temporal logic and inclusion criteria deep dive</a:t>
                      </a:r>
                    </a:p>
                  </a:txBody>
                  <a:tcPr marL="73152" marR="73152" marT="27432" marB="27432"/>
                </a:tc>
              </a:tr>
              <a:tr h="400050">
                <a:tc>
                  <a:txBody>
                    <a:bodyPr wrap="square"/>
                    <a:lstStyle/>
                    <a:p>
                      <a:r>
                        <a:rPr sz="1800">
                          <a:solidFill>
                            <a:srgbClr val="000000"/>
                          </a:solidFill>
                        </a:rPr>
                        <a:t>11:10 – 11:30</a:t>
                      </a:r>
                    </a:p>
                  </a:txBody>
                  <a:tcPr marL="73152" marR="73152" marT="27432" marB="27432"/>
                </a:tc>
                <a:tc>
                  <a:txBody>
                    <a:bodyPr wrap="square"/>
                    <a:lstStyle/>
                    <a:p>
                      <a:r>
                        <a:rPr sz="1800">
                          <a:solidFill>
                            <a:srgbClr val="000000"/>
                          </a:solidFill>
                        </a:rPr>
                        <a:t>Live demo: building new-user metformin cohort in ATLAS</a:t>
                      </a:r>
                    </a:p>
                  </a:txBody>
                  <a:tcPr marL="73152" marR="73152" marT="27432" marB="27432"/>
                </a:tc>
              </a:tr>
              <a:tr h="400050">
                <a:tc>
                  <a:txBody>
                    <a:bodyPr wrap="square"/>
                    <a:lstStyle/>
                    <a:p>
                      <a:r>
                        <a:rPr sz="1800">
                          <a:solidFill>
                            <a:srgbClr val="000000"/>
                          </a:solidFill>
                        </a:rPr>
                        <a:t>11:30 – 12:20</a:t>
                      </a:r>
                    </a:p>
                  </a:txBody>
                  <a:tcPr marL="73152" marR="73152" marT="27432" marB="27432"/>
                </a:tc>
                <a:tc>
                  <a:txBody>
                    <a:bodyPr wrap="square"/>
                    <a:lstStyle/>
                    <a:p>
                      <a:r>
                        <a:rPr sz="1800">
                          <a:solidFill>
                            <a:srgbClr val="000000"/>
                          </a:solidFill>
                        </a:rPr>
                        <a:t>ATLAS lab: build, generate, read attrition, characterize</a:t>
                      </a:r>
                    </a:p>
                  </a:txBody>
                  <a:tcPr marL="73152" marR="73152" marT="27432" marB="27432"/>
                </a:tc>
              </a:tr>
              <a:tr h="400050">
                <a:tc>
                  <a:txBody>
                    <a:bodyPr wrap="square"/>
                    <a:lstStyle/>
                    <a:p>
                      <a:r>
                        <a:rPr sz="1800">
                          <a:solidFill>
                            <a:srgbClr val="000000"/>
                          </a:solidFill>
                        </a:rPr>
                        <a:t>12:20 – 12:45</a:t>
                      </a:r>
                    </a:p>
                  </a:txBody>
                  <a:tcPr marL="73152" marR="73152" marT="27432" marB="27432"/>
                </a:tc>
                <a:tc>
                  <a:txBody>
                    <a:bodyPr wrap="square"/>
                    <a:lstStyle/>
                    <a:p>
                      <a:r>
                        <a:rPr sz="1800">
                          <a:solidFill>
                            <a:srgbClr val="000000"/>
                          </a:solidFill>
                        </a:rPr>
                        <a:t>Export cohort SQL and validate counts</a:t>
                      </a:r>
                    </a:p>
                  </a:txBody>
                  <a:tcPr marL="73152" marR="73152" marT="27432" marB="27432"/>
                </a:tc>
              </a:tr>
              <a:tr h="400050">
                <a:tc>
                  <a:txBody>
                    <a:bodyPr wrap="square"/>
                    <a:lstStyle/>
                    <a:p>
                      <a:r>
                        <a:rPr sz="1800">
                          <a:solidFill>
                            <a:srgbClr val="000000"/>
                          </a:solidFill>
                        </a:rPr>
                        <a:t>12:45 – 1:00</a:t>
                      </a:r>
                    </a:p>
                  </a:txBody>
                  <a:tcPr marL="73152" marR="73152" marT="27432" marB="27432"/>
                </a:tc>
                <a:tc>
                  <a:txBody>
                    <a:bodyPr wrap="square"/>
                    <a:lstStyle/>
                    <a:p>
                      <a:r>
                        <a:rPr sz="1800">
                          <a:solidFill>
                            <a:srgbClr val="000000"/>
                          </a:solidFill>
                        </a:rPr>
                        <a:t>Recap, homework, Day 4 preview</a:t>
                      </a:r>
                    </a:p>
                  </a:txBody>
                  <a:tcPr marL="73152" marR="73152" marT="27432" marB="27432"/>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Kahoot!</a:t>
            </a:r>
          </a:p>
        </p:txBody>
      </p:sp>
      <p:sp>
        <p:nvSpPr>
          <p:cNvPr id="3" name="Text Placeholder 2"/>
          <p:cNvSpPr>
            <a:spLocks noGrp="1"/>
          </p:cNvSpPr>
          <p:nvPr>
            <p:ph type="body" idx="1"/>
          </p:nvPr>
        </p:nvSpPr>
        <p:spPr/>
        <p:txBody>
          <a:bodyPr/>
          <a:lstStyle/>
          <a:p>
            <a:pPr marL="0" indent="0">
              <a:buNone/>
            </a:pPr>
            <a:r>
              <a:t>Quick warm-up — let's see what stuck.</a:t>
            </a:r>
          </a:p>
          <a:p>
            <a:pPr marL="0" indent="0">
              <a:buNone/>
            </a:pPr>
            <a:r>
              <a:t>Join at kahoot.it  ·  enter the game PIN on screen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Objectives</a:t>
            </a:r>
          </a:p>
        </p:txBody>
      </p:sp>
      <p:sp>
        <p:nvSpPr>
          <p:cNvPr id="3" name="Content Placeholder 2"/>
          <p:cNvSpPr>
            <a:spLocks noGrp="1"/>
          </p:cNvSpPr>
          <p:nvPr>
            <p:ph idx="1"/>
          </p:nvPr>
        </p:nvSpPr>
        <p:spPr/>
        <p:txBody>
          <a:bodyPr/>
          <a:lstStyle/>
          <a:p>
            <a:pPr marL="0" indent="0">
              <a:buNone/>
            </a:pPr>
            <a:r>
              <a:rPr i="1" sz="2200"/>
              <a:t>By the end of this session, you will be able to:</a:t>
            </a:r>
          </a:p>
          <a:p>
            <a:pPr marL="0" indent="0">
              <a:buNone/>
            </a:pPr>
            <a:r>
              <a:rPr sz="2200"/>
              <a:t>1. Define an OHDSI cohort and explain how it differs from a simple code list</a:t>
            </a:r>
          </a:p>
          <a:p>
            <a:pPr marL="0" indent="0">
              <a:buNone/>
            </a:pPr>
            <a:r>
              <a:rPr sz="2200"/>
              <a:t>2. Identify and apply the four parts: entry event, concept sets, inclusion criteria, and exit</a:t>
            </a:r>
          </a:p>
          <a:p>
            <a:pPr marL="0" indent="0">
              <a:buNone/>
            </a:pPr>
            <a:r>
              <a:rPr sz="2200"/>
              <a:t>3. Apply temporal logic correctly in inclusion and exclusion rules</a:t>
            </a:r>
          </a:p>
          <a:p>
            <a:pPr marL="0" indent="0">
              <a:buNone/>
            </a:pPr>
            <a:r>
              <a:rPr sz="2200"/>
              <a:t>4. Build and generate a cohort in ATLAS step by step</a:t>
            </a:r>
          </a:p>
          <a:p>
            <a:pPr marL="0" indent="0">
              <a:buNone/>
            </a:pPr>
            <a:r>
              <a:rPr sz="2200"/>
              <a:t>5. Read an attrition report and identify logic errors from the counts</a:t>
            </a:r>
          </a:p>
          <a:p>
            <a:pPr marL="0" indent="0">
              <a:buNone/>
            </a:pPr>
            <a:r>
              <a:rPr sz="2200"/>
              <a:t>6. Characterize a generated cohort and interpret the output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Let's discuss</a:t>
            </a:r>
          </a:p>
        </p:txBody>
      </p:sp>
      <p:sp>
        <p:nvSpPr>
          <p:cNvPr id="3" name="Content Placeholder 2"/>
          <p:cNvSpPr>
            <a:spLocks noGrp="1"/>
          </p:cNvSpPr>
          <p:nvPr>
            <p:ph idx="1"/>
          </p:nvPr>
        </p:nvSpPr>
        <p:spPr/>
        <p:txBody>
          <a:bodyPr/>
          <a:lstStyle/>
          <a:p>
            <a:pPr marL="0" indent="0">
              <a:buNone/>
            </a:pPr>
            <a:r>
              <a:rPr b="1" sz="2400"/>
              <a:t>Tell me about a time you were asked to create a cohort.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an OHDSI Cohort?</a:t>
            </a:r>
          </a:p>
        </p:txBody>
      </p:sp>
      <p:sp>
        <p:nvSpPr>
          <p:cNvPr id="3" name="Content Placeholder 2"/>
          <p:cNvSpPr>
            <a:spLocks noGrp="1"/>
          </p:cNvSpPr>
          <p:nvPr>
            <p:ph idx="1" sz="half"/>
          </p:nvPr>
        </p:nvSpPr>
        <p:spPr/>
        <p:txBody>
          <a:bodyPr/>
          <a:lstStyle/>
          <a:p>
            <a:pPr marL="0" indent="0">
              <a:buNone/>
            </a:pPr>
            <a:r>
              <a:rPr b="1" sz="1800"/>
              <a:t>A Cohort IS</a:t>
            </a:r>
          </a:p>
          <a:p>
            <a:pPr/>
            <a:r>
              <a:rPr sz="1800"/>
              <a:t>A set of persons who satisfy one or more criteria for a duration of time</a:t>
            </a:r>
          </a:p>
          <a:p>
            <a:pPr/>
            <a:r>
              <a:rPr sz="1800"/>
              <a:t>A rule set: who qualifies, under what conditions, and for how long</a:t>
            </a:r>
          </a:p>
          <a:p>
            <a:pPr/>
            <a:r>
              <a:rPr sz="1800"/>
              <a:t>Reproducible: the same definition applied to any OMOP CDM produces a comparable result</a:t>
            </a:r>
          </a:p>
          <a:p>
            <a:pPr/>
            <a:r>
              <a:rPr sz="1800"/>
              <a:t>An entry event (initial qualifying event) with optional inclusion rules and an exit strategy</a:t>
            </a:r>
          </a:p>
          <a:p>
            <a:pPr/>
            <a:r>
              <a:rPr sz="1800"/>
              <a:t>The foundational unit of all OHDSI analysis</a:t>
            </a:r>
          </a:p>
        </p:txBody>
      </p:sp>
      <p:sp>
        <p:nvSpPr>
          <p:cNvPr id="4" name="Content Placeholder 3"/>
          <p:cNvSpPr>
            <a:spLocks noGrp="1"/>
          </p:cNvSpPr>
          <p:nvPr>
            <p:ph idx="2" sz="half"/>
          </p:nvPr>
        </p:nvSpPr>
        <p:spPr/>
        <p:txBody>
          <a:bodyPr/>
          <a:lstStyle/>
          <a:p>
            <a:pPr marL="0" indent="0">
              <a:buNone/>
            </a:pPr>
            <a:r>
              <a:rPr b="1" sz="1800"/>
              <a:t>A Cohort IS NOT</a:t>
            </a:r>
          </a:p>
          <a:p>
            <a:pPr/>
            <a:r>
              <a:rPr sz="1800"/>
              <a:t>A simple list of patients with a diagnosis code</a:t>
            </a:r>
          </a:p>
          <a:p>
            <a:pPr/>
            <a:r>
              <a:rPr sz="1800"/>
              <a:t>An ad-hoc SQL query without formal definition</a:t>
            </a:r>
          </a:p>
          <a:p>
            <a:pPr/>
            <a:r>
              <a:rPr sz="1800"/>
              <a:t>A list of concept IDs (that's a concept set — different thing)</a:t>
            </a:r>
          </a:p>
          <a:p>
            <a:pPr/>
            <a:r>
              <a:rPr sz="1800"/>
              <a:t>An un-timestamped set of people who 'have' a condition</a:t>
            </a:r>
          </a:p>
          <a:p>
            <a:pPr/>
            <a:r>
              <a:rPr sz="1800"/>
              <a:t>A static export that ignores observation period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Parts of a Cohort Definition</a:t>
            </a:r>
          </a:p>
        </p:txBody>
      </p:sp>
      <p:sp>
        <p:nvSpPr>
          <p:cNvPr id="3" name="Text Placeholder 2"/>
          <p:cNvSpPr>
            <a:spLocks noGrp="1"/>
          </p:cNvSpPr>
          <p:nvPr>
            <p:ph type="body" idx="1"/>
          </p:nvPr>
        </p:nvSpPr>
        <p:spPr/>
        <p:txBody>
          <a:bodyPr/>
          <a:lstStyle/>
          <a:p>
            <a:pPr marL="0" indent="0">
              <a:buNone/>
            </a:pPr>
            <a:r>
              <a:rPr b="1"/>
              <a:t>Entry event, inclusion criteria, and exit, built on concept sets</a:t>
            </a:r>
          </a:p>
          <a:p>
            <a:pPr marL="0" indent="0">
              <a:buNone/>
            </a:pPr>
            <a:r>
              <a:t>This deck teaches concept sets as their own part, so the Day 2 work stays in view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1: Cohort Entry Event (Initial Event)</a:t>
            </a:r>
          </a:p>
        </p:txBody>
      </p:sp>
      <p:sp>
        <p:nvSpPr>
          <p:cNvPr id="3" name="Content Placeholder 2"/>
          <p:cNvSpPr>
            <a:spLocks noGrp="1"/>
          </p:cNvSpPr>
          <p:nvPr>
            <p:ph idx="1"/>
          </p:nvPr>
        </p:nvSpPr>
        <p:spPr/>
        <p:txBody>
          <a:bodyPr/>
          <a:lstStyle/>
          <a:p>
            <a:pPr/>
            <a:r>
              <a:t>The event that qualifies a person to enter the cohort</a:t>
            </a:r>
          </a:p>
          <a:p>
            <a:pPr/>
            <a:r>
              <a:t>Examples: first drug exposure to metformin · first ALS diagnosis · first inpatient hospitalization</a:t>
            </a:r>
          </a:p>
          <a:p>
            <a:pPr/>
            <a:r>
              <a:t>Built on a concept set — the concept set defines WHAT the event is</a:t>
            </a:r>
          </a:p>
          <a:p>
            <a:pPr/>
            <a:r>
              <a:t>Usually restricted to the FIRST qualifying event per person (new-user design)</a:t>
            </a:r>
          </a:p>
          <a:p>
            <a:pPr/>
            <a:r>
              <a:t>Time constraint: the entry event defines 'index date' — the temporal anchor for all inclusion rules</a:t>
            </a:r>
          </a:p>
          <a:p>
            <a:pPr/>
            <a:r>
              <a:t>A person can have several qualifying events; the 'limit initial events' setting keeps the earliest, the latest, or all of them</a:t>
            </a:r>
          </a:p>
          <a:p>
            <a:pPr/>
            <a:r>
              <a:t>Entry event domain: Drug Exposure · Condition Occurrence · Measurement · Visit Occurrence · etc.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2: Concept Sets — The Day 2 Building Block</a:t>
            </a:r>
          </a:p>
        </p:txBody>
      </p:sp>
      <p:sp>
        <p:nvSpPr>
          <p:cNvPr id="3" name="Content Placeholder 2"/>
          <p:cNvSpPr>
            <a:spLocks noGrp="1"/>
          </p:cNvSpPr>
          <p:nvPr>
            <p:ph idx="1"/>
          </p:nvPr>
        </p:nvSpPr>
        <p:spPr/>
        <p:txBody>
          <a:bodyPr/>
          <a:lstStyle/>
          <a:p>
            <a:pPr/>
            <a:r>
              <a:rPr sz="2200"/>
              <a:t>Every cohort entry event and inclusion rule is built on a concept set</a:t>
            </a:r>
          </a:p>
          <a:p>
            <a:pPr/>
            <a:r>
              <a:rPr sz="2200"/>
              <a:t>The concept set defines 'what counts' as the clinical event</a:t>
            </a:r>
          </a:p>
          <a:p>
            <a:pPr/>
            <a:r>
              <a:rPr sz="2200"/>
              <a:t>Best practice: build and validate concept sets (Day 2) BEFORE building cohorts (Day 3)</a:t>
            </a:r>
          </a:p>
          <a:p>
            <a:pPr/>
            <a:r>
              <a:rPr sz="2200"/>
              <a:t>You can reuse the same concept set across multiple cohorts — this ensures consistency</a:t>
            </a:r>
          </a:p>
          <a:p>
            <a:pPr/>
            <a:r>
              <a:rPr sz="2200"/>
              <a:t>Common mistake: modifying a concept set that is already used in a generated cohort — regenerate after any change</a:t>
            </a:r>
          </a:p>
          <a:p>
            <a:pPr/>
            <a:r>
              <a:rPr sz="2200"/>
              <a:t>Export concept sets as JSON alongside your cohort definition JSON for version control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3: Inclusion Criteria</a:t>
            </a:r>
          </a:p>
        </p:txBody>
      </p:sp>
      <p:sp>
        <p:nvSpPr>
          <p:cNvPr id="3" name="Content Placeholder 2"/>
          <p:cNvSpPr>
            <a:spLocks noGrp="1"/>
          </p:cNvSpPr>
          <p:nvPr>
            <p:ph idx="1"/>
          </p:nvPr>
        </p:nvSpPr>
        <p:spPr/>
        <p:txBody>
          <a:bodyPr/>
          <a:lstStyle/>
          <a:p>
            <a:pPr/>
            <a:r>
              <a:rPr sz="1800"/>
              <a:t>Additional conditions applied to the entry events</a:t>
            </a:r>
          </a:p>
          <a:p>
            <a:pPr/>
            <a:r>
              <a:rPr sz="1800"/>
              <a:t>Each criterion is a named, testable rule with a temporal window</a:t>
            </a:r>
          </a:p>
          <a:p>
            <a:pPr marL="0" indent="0">
              <a:buNone/>
            </a:pPr>
            <a:r>
              <a:rPr sz="1800"/>
              <a:t>Examples:</a:t>
            </a:r>
          </a:p>
          <a:p>
            <a:pPr lvl="1"/>
            <a:r>
              <a:rPr sz="1600"/>
              <a:t>'At least 365 days of continuous prior observation before index'</a:t>
            </a:r>
          </a:p>
          <a:p>
            <a:pPr lvl="1"/>
            <a:r>
              <a:rPr sz="1600"/>
              <a:t>'No prior insulin exposure in the 365 days before index'</a:t>
            </a:r>
          </a:p>
          <a:p>
            <a:pPr lvl="1"/>
            <a:r>
              <a:rPr sz="1600"/>
              <a:t>'Age ≥ 18 at index date'</a:t>
            </a:r>
          </a:p>
          <a:p>
            <a:pPr lvl="1"/>
            <a:r>
              <a:rPr sz="1600"/>
              <a:t>'At least one type 2 diabetes diagnosis in the 365 days before index'</a:t>
            </a:r>
          </a:p>
          <a:p>
            <a:pPr/>
            <a:r>
              <a:rPr sz="1800"/>
              <a:t>Exclusions are written as inclusions: 'no prior insulin' = 'count of prior insulin exposures = 0'</a:t>
            </a:r>
          </a:p>
          <a:p>
            <a:pPr/>
            <a:r>
              <a:rPr sz="1800"/>
              <a:t>There is no separate exclusion list in ATLAS: an exclusion is written as an inclusion rule requiring exactly 0 occurrences</a:t>
            </a:r>
          </a:p>
          <a:p>
            <a:pPr/>
            <a:r>
              <a:rPr sz="1800"/>
              <a:t>Each rule removes a subset of the cohort → the attrition report shows how many each rule removed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Temporal Logic — The Most Common Source of Errors</a:t>
            </a:r>
          </a:p>
        </p:txBody>
      </p:sp>
      <p:sp>
        <p:nvSpPr>
          <p:cNvPr id="3" name="Content Placeholder 2"/>
          <p:cNvSpPr>
            <a:spLocks noGrp="1"/>
          </p:cNvSpPr>
          <p:nvPr>
            <p:ph idx="1"/>
          </p:nvPr>
        </p:nvSpPr>
        <p:spPr/>
        <p:txBody>
          <a:bodyPr/>
          <a:lstStyle/>
          <a:p>
            <a:pPr/>
            <a:r>
              <a:rPr sz="1800"/>
              <a:t>Every inclusion rule has a time window relative to the index date (entry event)</a:t>
            </a:r>
          </a:p>
          <a:p>
            <a:pPr/>
            <a:r>
              <a:rPr sz="1800"/>
              <a:t>Window settings: a start and an end, each a number of days (or All) before or after the index date</a:t>
            </a:r>
          </a:p>
          <a:p>
            <a:pPr marL="0" indent="0">
              <a:buNone/>
            </a:pPr>
            <a:r>
              <a:rPr sz="1800"/>
              <a:t>Examples of windows:</a:t>
            </a:r>
          </a:p>
          <a:p>
            <a:pPr lvl="1"/>
            <a:r>
              <a:rPr sz="1600"/>
              <a:t>365 days BEFORE index: look back one year from the entry event</a:t>
            </a:r>
          </a:p>
          <a:p>
            <a:pPr lvl="1"/>
            <a:r>
              <a:rPr sz="1600"/>
              <a:t>0–90 days AFTER index: look forward 3 months from the entry event</a:t>
            </a:r>
          </a:p>
          <a:p>
            <a:pPr lvl="1"/>
            <a:r>
              <a:rPr sz="1600"/>
              <a:t>'Any time prior': no lookback limit — captures entire patient history before entry</a:t>
            </a:r>
          </a:p>
          <a:p>
            <a:pPr/>
            <a:r>
              <a:rPr sz="1800"/>
              <a:t>The window defines what 'counts' as prior vs. subsequent exposure</a:t>
            </a:r>
          </a:p>
          <a:p>
            <a:pPr/>
            <a:r>
              <a:rPr sz="1800"/>
              <a:t>Wrong temporal logic is the most common cause of unexpectedly large or small cohorts</a:t>
            </a:r>
          </a:p>
          <a:p>
            <a:pPr/>
            <a:r>
              <a:rPr sz="1800"/>
              <a:t>Always review the attrition report BEFORE using a cohort for analysis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4: Cohort Exit</a:t>
            </a:r>
          </a:p>
        </p:txBody>
      </p:sp>
      <p:sp>
        <p:nvSpPr>
          <p:cNvPr id="3" name="Content Placeholder 2"/>
          <p:cNvSpPr>
            <a:spLocks noGrp="1"/>
          </p:cNvSpPr>
          <p:nvPr>
            <p:ph idx="1"/>
          </p:nvPr>
        </p:nvSpPr>
        <p:spPr/>
        <p:txBody>
          <a:bodyPr/>
          <a:lstStyle/>
          <a:p>
            <a:pPr/>
            <a:r>
              <a:rPr sz="1800"/>
              <a:t>Defines when and how a person leaves the cohort</a:t>
            </a:r>
          </a:p>
          <a:p>
            <a:pPr marL="0" indent="0">
              <a:buNone/>
            </a:pPr>
            <a:r>
              <a:rPr sz="1800"/>
              <a:t>Common exit strategies:</a:t>
            </a:r>
          </a:p>
          <a:p>
            <a:pPr lvl="1"/>
            <a:r>
              <a:rPr sz="1600"/>
              <a:t>End of observation period: person stays in cohort until data ends — widest possible follow-up</a:t>
            </a:r>
          </a:p>
          <a:p>
            <a:pPr lvl="1"/>
            <a:r>
              <a:rPr sz="1600"/>
              <a:t>End of continuous drug exposure + gap: exits when drug fill lapses by &gt;N days — correct for drug era studies</a:t>
            </a:r>
          </a:p>
          <a:p>
            <a:pPr lvl="1"/>
            <a:r>
              <a:rPr sz="1600"/>
              <a:t>Fixed duration: exits N days after index — useful for fixed-horizon studies</a:t>
            </a:r>
          </a:p>
          <a:p>
            <a:pPr lvl="1"/>
            <a:r>
              <a:rPr sz="1600"/>
              <a:t>Event-based: exits when a specific event occurs (e.g., death, hospitalization)</a:t>
            </a:r>
          </a:p>
          <a:p>
            <a:pPr/>
            <a:r>
              <a:rPr sz="1800"/>
              <a:t>Exit strategy dramatically affects cohort size and follow-up time</a:t>
            </a:r>
          </a:p>
          <a:p>
            <a:pPr/>
            <a:r>
              <a:rPr sz="1800"/>
              <a:t>New-user cohorts typically use: end of continuous exposure OR end of observation period</a:t>
            </a:r>
          </a:p>
          <a:p>
            <a:pPr/>
            <a:r>
              <a:rPr sz="1800"/>
              <a:t>Document your exit strategy in the study protocol — it determines what analytic window you have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Live Demo: New-User Metformin Cohort in ATLAS</a:t>
            </a:r>
          </a:p>
        </p:txBody>
      </p:sp>
      <p:sp>
        <p:nvSpPr>
          <p:cNvPr id="3" name="Content Placeholder 2"/>
          <p:cNvSpPr>
            <a:spLocks noGrp="1"/>
          </p:cNvSpPr>
          <p:nvPr>
            <p:ph idx="1"/>
          </p:nvPr>
        </p:nvSpPr>
        <p:spPr/>
        <p:txBody>
          <a:bodyPr/>
          <a:lstStyle/>
          <a:p>
            <a:pPr/>
            <a:r>
              <a:rPr sz="1800"/>
              <a:t>Time: ~25 minutes (demo)</a:t>
            </a:r>
          </a:p>
          <a:p>
            <a:pPr/>
            <a:r>
              <a:rPr sz="1800"/>
              <a:t>Tool: ATLAS (your site's instance)</a:t>
            </a:r>
          </a:p>
          <a:p>
            <a:pPr marL="0" indent="0">
              <a:buNone/>
            </a:pPr>
            <a:r>
              <a:rPr sz="1800"/>
              <a:t>1. In ATLAS → Cohort Definitions → New Cohort Definition</a:t>
            </a:r>
          </a:p>
          <a:p>
            <a:pPr marL="0" indent="0">
              <a:buNone/>
            </a:pPr>
            <a:r>
              <a:rPr sz="1800"/>
              <a:t>2. Entry event: Drug Exposure · concept set = Metformin (from Day 2) · restrict to FIRST event</a:t>
            </a:r>
          </a:p>
          <a:p>
            <a:pPr marL="0" indent="0">
              <a:buNone/>
            </a:pPr>
            <a:r>
              <a:rPr sz="1800"/>
              <a:t>3. Prior observation: require 365 days of continuous observation before index. ATLAS offers this in the entry event section; added as an inclusion rule instead, it becomes a row in attrition</a:t>
            </a:r>
          </a:p>
          <a:p>
            <a:pPr marL="0" indent="0">
              <a:buNone/>
            </a:pPr>
            <a:r>
              <a:rPr sz="1800"/>
              <a:t>4. Inclusion rule: 'No prior sulfonylurea' (exactly 0 drug exposures in the 365 days before index)</a:t>
            </a:r>
          </a:p>
          <a:p>
            <a:pPr marL="0" indent="0">
              <a:buNone/>
            </a:pPr>
            <a:r>
              <a:rPr sz="1800"/>
              <a:t>5. Cohort exit: End of continuous drug exposure + 30-day gap</a:t>
            </a:r>
          </a:p>
          <a:p>
            <a:pPr marL="0" indent="0">
              <a:buNone/>
            </a:pPr>
            <a:r>
              <a:rPr sz="1800"/>
              <a:t>6. Save → Generate → wait for completion → open the Attrition report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Reading the Attrition Report</a:t>
            </a:r>
          </a:p>
        </p:txBody>
      </p:sp>
      <p:sp>
        <p:nvSpPr>
          <p:cNvPr id="3" name="Content Placeholder 2"/>
          <p:cNvSpPr>
            <a:spLocks noGrp="1"/>
          </p:cNvSpPr>
          <p:nvPr>
            <p:ph idx="1"/>
          </p:nvPr>
        </p:nvSpPr>
        <p:spPr/>
        <p:txBody>
          <a:bodyPr/>
          <a:lstStyle/>
          <a:p>
            <a:pPr/>
            <a:r>
              <a:rPr sz="1800"/>
              <a:t>The attrition report shows the count at each step of the cohort building process</a:t>
            </a:r>
          </a:p>
          <a:p>
            <a:pPr/>
            <a:r>
              <a:rPr sz="1800"/>
              <a:t>Row 0: total persons meeting the entry event (ALL qualifying events, before inclusion criteria)</a:t>
            </a:r>
          </a:p>
          <a:p>
            <a:pPr/>
            <a:r>
              <a:rPr sz="1800"/>
              <a:t>Row 1: after applying Inclusion Rule 1 — how many remain?</a:t>
            </a:r>
          </a:p>
          <a:p>
            <a:pPr/>
            <a:r>
              <a:rPr sz="1800"/>
              <a:t>Row 2: after applying Inclusion Rule 2 — how many remain?</a:t>
            </a:r>
          </a:p>
          <a:p>
            <a:pPr/>
            <a:r>
              <a:rPr sz="1800"/>
              <a:t>Final row: the cohort size</a:t>
            </a:r>
          </a:p>
          <a:p>
            <a:pPr marL="0" indent="0">
              <a:buNone/>
            </a:pPr>
            <a:r>
              <a:rPr sz="1800"/>
              <a:t>What the attrition report teaches you:</a:t>
            </a:r>
          </a:p>
          <a:p>
            <a:pPr lvl="1"/>
            <a:r>
              <a:rPr sz="1600"/>
              <a:t>A rule that removes almost everyone → probably too strict (temporal window too long?)</a:t>
            </a:r>
          </a:p>
          <a:p>
            <a:pPr lvl="1"/>
            <a:r>
              <a:rPr sz="1600"/>
              <a:t>A rule that removes almost no one may overlap with an earlier rule; confirm that is what you expect</a:t>
            </a:r>
          </a:p>
          <a:p>
            <a:pPr lvl="1"/>
            <a:r>
              <a:rPr sz="1600"/>
              <a:t>A rule that removes exactly 0 → may have a logic error — investigate</a:t>
            </a:r>
          </a:p>
          <a:p>
            <a:pPr/>
            <a:r>
              <a:rPr sz="1800"/>
              <a:t>The attrition report is the single most useful diagnostic for cohort validation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Cohort Characterization — Sanity-Check Who You Captured</a:t>
            </a:r>
          </a:p>
        </p:txBody>
      </p:sp>
      <p:sp>
        <p:nvSpPr>
          <p:cNvPr id="3" name="Content Placeholder 2"/>
          <p:cNvSpPr>
            <a:spLocks noGrp="1"/>
          </p:cNvSpPr>
          <p:nvPr>
            <p:ph idx="1"/>
          </p:nvPr>
        </p:nvSpPr>
        <p:spPr/>
        <p:txBody>
          <a:bodyPr/>
          <a:lstStyle/>
          <a:p>
            <a:pPr/>
            <a:r>
              <a:rPr sz="1800"/>
              <a:t>After generating a cohort, characterization summarizes WHO is in it</a:t>
            </a:r>
          </a:p>
          <a:p>
            <a:pPr/>
            <a:r>
              <a:rPr sz="1800"/>
              <a:t>Characterization outputs: demographics · prior conditions · prior drugs · procedures</a:t>
            </a:r>
          </a:p>
          <a:p>
            <a:pPr/>
            <a:r>
              <a:rPr sz="1800"/>
              <a:t>Run in ATLAS: Characterizations (left menu) → new characterization → add the cohort and feature analyses → execute</a:t>
            </a:r>
          </a:p>
          <a:p>
            <a:pPr marL="0" indent="0">
              <a:buNone/>
            </a:pPr>
            <a:r>
              <a:rPr sz="1800"/>
              <a:t>What to look for:</a:t>
            </a:r>
          </a:p>
          <a:p>
            <a:pPr lvl="1"/>
            <a:r>
              <a:rPr sz="1600"/>
              <a:t>Demographics: does the age/sex distribution match what you'd expect for new metformin users?</a:t>
            </a:r>
          </a:p>
          <a:p>
            <a:pPr lvl="1"/>
            <a:r>
              <a:rPr sz="1600"/>
              <a:t>Prior conditions: is type 2 diabetes among the most frequent? Metformin is recorded for other reasons too, so compare with what you know about your site</a:t>
            </a:r>
          </a:p>
          <a:p>
            <a:pPr lvl="1"/>
            <a:r>
              <a:rPr sz="1600"/>
              <a:t>Prior drugs: are other antidiabetic drugs common at baseline? (depends on your design)</a:t>
            </a:r>
          </a:p>
          <a:p>
            <a:pPr/>
            <a:r>
              <a:rPr sz="1800"/>
              <a:t>Characterization is the first face-validity check — if the output looks wrong, revisit the definition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Exporting and Validating Cohort SQL</a:t>
            </a:r>
          </a:p>
        </p:txBody>
      </p:sp>
      <p:sp>
        <p:nvSpPr>
          <p:cNvPr id="3" name="Content Placeholder 2"/>
          <p:cNvSpPr>
            <a:spLocks noGrp="1"/>
          </p:cNvSpPr>
          <p:nvPr>
            <p:ph idx="1"/>
          </p:nvPr>
        </p:nvSpPr>
        <p:spPr/>
        <p:txBody>
          <a:bodyPr/>
          <a:lstStyle/>
          <a:p>
            <a:pPr marL="0" indent="0">
              <a:buNone/>
            </a:pPr>
            <a:r>
              <a:rPr i="1" sz="1600"/>
              <a:t>Export from ATLAS, then run a validation count in your SQL client:</a:t>
            </a:r>
          </a:p>
          <a:p>
            <a:pPr marL="0" indent="0">
              <a:buNone/>
            </a:pPr>
            <a:r>
              <a:rPr sz="1500">
                <a:latin typeface="Courier New"/>
              </a:rPr>
              <a:t>-- Step 1: In ATLAS, click Export → SQL (choose your dialect)</a:t>
            </a:r>
          </a:p>
          <a:p>
            <a:pPr marL="0" indent="0">
              <a:buNone/>
            </a:pPr>
            <a:r>
              <a:rPr sz="1500">
                <a:latin typeface="Courier New"/>
              </a:rPr>
              <a:t>-- Fill in the @parameters (CDM schema, cohort table, cohort id), then run it in your client</a:t>
            </a:r>
          </a:p>
          <a:p>
            <a:pPr marL="0" indent="0">
              <a:buNone/>
            </a:pPr>
            <a:r>
              <a:rPr sz="1500">
                <a:latin typeface="Courier New"/>
              </a:rPr>
              <a:t/>
            </a:r>
          </a:p>
          <a:p>
            <a:pPr marL="0" indent="0">
              <a:buNone/>
            </a:pPr>
            <a:r>
              <a:rPr sz="1500">
                <a:latin typeface="Courier New"/>
              </a:rPr>
              <a:t>-- Step 2: Validate the cohort count independently</a:t>
            </a:r>
          </a:p>
          <a:p>
            <a:pPr marL="0" indent="0">
              <a:buNone/>
            </a:pPr>
            <a:r>
              <a:rPr sz="1500">
                <a:latin typeface="Courier New"/>
              </a:rPr>
              <a:t>SELECT COUNT(DISTINCT subject_id) AS cohort_size</a:t>
            </a:r>
          </a:p>
          <a:p>
            <a:pPr marL="0" indent="0">
              <a:buNone/>
            </a:pPr>
            <a:r>
              <a:rPr sz="1500">
                <a:latin typeface="Courier New"/>
              </a:rPr>
              <a:t>FROM results.cohort</a:t>
            </a:r>
          </a:p>
          <a:p>
            <a:pPr marL="0" indent="0">
              <a:buNone/>
            </a:pPr>
            <a:r>
              <a:rPr sz="1500">
                <a:latin typeface="Courier New"/>
              </a:rPr>
              <a:t>WHERE cohort_definition_id = [your_cohort_id];</a:t>
            </a:r>
          </a:p>
          <a:p>
            <a:pPr marL="0" indent="0">
              <a:buNone/>
            </a:pPr>
            <a:r>
              <a:rPr sz="1500">
                <a:latin typeface="Courier New"/>
              </a:rPr>
              <a:t/>
            </a:r>
          </a:p>
          <a:p>
            <a:pPr marL="0" indent="0">
              <a:buNone/>
            </a:pPr>
            <a:r>
              <a:rPr sz="1500">
                <a:latin typeface="Courier New"/>
              </a:rPr>
              <a:t>-- Step 3: Compare to Atlas UI count</a:t>
            </a:r>
          </a:p>
          <a:p>
            <a:pPr marL="0" indent="0">
              <a:buNone/>
            </a:pPr>
            <a:r>
              <a:rPr sz="1500">
                <a:latin typeface="Courier New"/>
              </a:rPr>
              <a:t>-- If they match: your extraction path is trustworthy</a:t>
            </a:r>
          </a:p>
          <a:p>
            <a:pPr marL="0" indent="0">
              <a:buNone/>
            </a:pPr>
            <a:r>
              <a:rPr sz="1500">
                <a:latin typeface="Courier New"/>
              </a:rPr>
              <a:t>-- If they differ: check CDM version, results schema, vocabulary version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a:lstStyle/>
          <a:p>
            <a:pPr marL="0" indent="0">
              <a:buNone/>
            </a:pPr>
            <a:r>
              <a:rPr sz="1800"/>
              <a:t>✓  A cohort is a rule set — not a list. Same definition, any OMOP CDM, comparable result</a:t>
            </a:r>
          </a:p>
          <a:p>
            <a:pPr marL="0" indent="0">
              <a:buNone/>
            </a:pPr>
            <a:r>
              <a:rPr sz="1800"/>
              <a:t>✓  Every cohort has four parts: entry event, concept sets, inclusion criteria, exit</a:t>
            </a:r>
          </a:p>
          <a:p>
            <a:pPr marL="0" indent="0">
              <a:buNone/>
            </a:pPr>
            <a:r>
              <a:rPr sz="1800"/>
              <a:t>✓  Temporal logic is the most common source of errors — review the attrition report carefully</a:t>
            </a:r>
          </a:p>
          <a:p>
            <a:pPr marL="0" indent="0">
              <a:buNone/>
            </a:pPr>
            <a:r>
              <a:rPr sz="1800"/>
              <a:t>✓  ATLAS is the main graphical tool for cohort building; definitions export as JSON and SQL for version control</a:t>
            </a:r>
          </a:p>
          <a:p>
            <a:pPr marL="0" indent="0">
              <a:buNone/>
            </a:pPr>
            <a:r>
              <a:rPr sz="1800"/>
              <a:t>✓  Characterization is the first sanity check: does the population look like what you intended?</a:t>
            </a:r>
          </a:p>
          <a:p>
            <a:pPr marL="0" indent="0">
              <a:buNone/>
            </a:pPr>
            <a:r>
              <a:rPr sz="1800"/>
              <a:t>✓  Always validate cohort counts against your SQL client — if they disagree, investigate before analysis</a:t>
            </a:r>
          </a:p>
          <a:p>
            <a:pPr/>
            <a:r>
              <a:rPr i="1" sz="1800"/>
              <a:t>Next session: Day 4 · Data Extraction — turning your cohort into an analytic dataset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  Questions?</a:t>
            </a:r>
          </a:p>
        </p:txBody>
      </p:sp>
      <p:sp>
        <p:nvSpPr>
          <p:cNvPr id="3" name="Text Placeholder 2"/>
          <p:cNvSpPr>
            <a:spLocks noGrp="1"/>
          </p:cNvSpPr>
          <p:nvPr>
            <p:ph type="body" idx="1"/>
          </p:nvPr>
        </p:nvSpPr>
        <p:spPr/>
        <p:txBody>
          <a:bodyPr/>
          <a:lstStyle/>
          <a:p>
            <a:pPr marL="0" indent="0">
              <a:buNone/>
            </a:pPr>
            <a:r>
              <a:t>Danielle Boyce</a:t>
            </a:r>
          </a:p>
          <a:p>
            <a:pPr marL="0" indent="0">
              <a:buNone/>
            </a:pPr>
            <a:r>
              <a:t>dboyce@als.net</a:t>
            </a:r>
          </a:p>
          <a:p>
            <a:pPr marL="0" indent="0">
              <a:buNone/>
            </a:pPr>
            <a:r>
              <a:t>ALS TDI · OHDSI/OMOP Train-the-Trainer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62626"/>
      </a:dk2>
      <a:lt2>
        <a:srgbClr val="F2F2F2"/>
      </a:lt2>
      <a:accent1>
        <a:srgbClr val="404040"/>
      </a:accent1>
      <a:accent2>
        <a:srgbClr val="7F7F7F"/>
      </a:accent2>
      <a:accent3>
        <a:srgbClr val="A6A6A6"/>
      </a:accent3>
      <a:accent4>
        <a:srgbClr val="595959"/>
      </a:accent4>
      <a:accent5>
        <a:srgbClr val="BFBFBF"/>
      </a:accent5>
      <a:accent6>
        <a:srgbClr val="262626"/>
      </a:accent6>
      <a:hlink>
        <a:srgbClr val="000000"/>
      </a:hlink>
      <a:folHlink>
        <a:srgbClr val="40404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