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Instructor Answer Key: HADES Prediction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6, Part 2 – Facilitator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Expect variation across databases</a:t>
            </a:r>
          </a:p>
          <a:p>
            <a:pPr/>
            <a:r>
              <a:rPr sz="2400"/>
              <a:t>Focus on patterns, not exact values</a:t>
            </a:r>
          </a:p>
          <a:p>
            <a:pPr/>
            <a:r>
              <a:rPr sz="2400"/>
              <a:t>Emphasize interpretation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Expected:</a:t>
            </a:r>
          </a:p>
          <a:p>
            <a:pPr/>
            <a:r>
              <a:rPr sz="2400"/>
              <a:t>Successful connection OR clear permission error</a:t>
            </a:r>
          </a:p>
          <a:p>
            <a:pPr marL="0" indent="0">
              <a:buNone/>
            </a:pPr>
            <a:r>
              <a:rPr sz="2400"/>
              <a:t>Acceptable:</a:t>
            </a:r>
          </a:p>
          <a:p>
            <a:pPr/>
            <a:r>
              <a:rPr sz="2400"/>
              <a:t>Some students cannot connect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Extraction (getPlpData)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Expected:</a:t>
            </a:r>
          </a:p>
          <a:p>
            <a:pPr/>
            <a:r>
              <a:rPr sz="2400"/>
              <a:t>Step completes after feature extraction</a:t>
            </a:r>
          </a:p>
          <a:p>
            <a:pPr marL="0" indent="0">
              <a:buNone/>
            </a:pPr>
            <a:r>
              <a:rPr sz="2400"/>
              <a:t>Red flags:</a:t>
            </a:r>
          </a:p>
          <a:p>
            <a:pPr/>
            <a:r>
              <a:rPr sz="2400"/>
              <a:t>Zero rows</a:t>
            </a:r>
          </a:p>
          <a:p>
            <a:pPr/>
            <a:r>
              <a:rPr sz="2400"/>
              <a:t>Missing cohorts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Expected:</a:t>
            </a:r>
          </a:p>
          <a:p>
            <a:pPr/>
            <a:r>
              <a:rPr sz="2400"/>
              <a:t>Model completes</a:t>
            </a:r>
          </a:p>
          <a:p>
            <a:pPr/>
            <a:r>
              <a:rPr sz="2400"/>
              <a:t>Runtime varies</a:t>
            </a:r>
          </a:p>
          <a:p>
            <a:pPr marL="0" indent="0">
              <a:buNone/>
            </a:pPr>
            <a:r>
              <a:rPr sz="2400"/>
              <a:t>Acceptable:</a:t>
            </a:r>
          </a:p>
          <a:p>
            <a:pPr/>
            <a:r>
              <a:rPr sz="2400"/>
              <a:t>Long runtimes on large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Performance: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Record:</a:t>
            </a:r>
          </a:p>
          <a:p>
            <a:pPr/>
            <a:r>
              <a:rPr sz="2400"/>
              <a:t>The AUC and its confidence interval</a:t>
            </a:r>
          </a:p>
          <a:p>
            <a:pPr marL="0" indent="0">
              <a:buNone/>
            </a:pPr>
            <a:r>
              <a:rPr sz="2400"/>
              <a:t>Acceptable:</a:t>
            </a:r>
          </a:p>
          <a:p>
            <a:pPr/>
            <a:r>
              <a:rPr sz="2400"/>
              <a:t>Any value, with a reason offered for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Expected:</a:t>
            </a:r>
          </a:p>
          <a:p>
            <a:pPr/>
            <a:r>
              <a:rPr sz="2400"/>
              <a:t>Some miscalibration</a:t>
            </a:r>
          </a:p>
          <a:p>
            <a:pPr marL="0" indent="0">
              <a:buNone/>
            </a:pPr>
            <a:r>
              <a:rPr sz="2400"/>
              <a:t>Teaching point:</a:t>
            </a:r>
          </a:p>
          <a:p>
            <a:pPr/>
            <a:r>
              <a:rPr sz="2400"/>
              <a:t>Calibration and discrimination answer different questions; report both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Poor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Possible causes:</a:t>
            </a:r>
          </a:p>
          <a:p>
            <a:pPr/>
            <a:r>
              <a:rPr sz="2400"/>
              <a:t>Weak predictors</a:t>
            </a:r>
          </a:p>
          <a:p>
            <a:pPr/>
            <a:r>
              <a:rPr sz="2400"/>
              <a:t>Short time-at-risk</a:t>
            </a:r>
          </a:p>
          <a:p>
            <a:pPr/>
            <a:r>
              <a:rPr sz="2400"/>
              <a:t>Rare outcome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Student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Why is my AUC low?</a:t>
            </a:r>
          </a:p>
          <a:p>
            <a:pPr/>
            <a:r>
              <a:rPr sz="2400"/>
              <a:t>Why does my model take so long?</a:t>
            </a:r>
          </a:p>
          <a:p>
            <a:pPr/>
            <a:r>
              <a:rPr sz="2400"/>
              <a:t>Why do results differ?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Prediction ≠ causality</a:t>
            </a:r>
          </a:p>
          <a:p>
            <a:pPr/>
            <a:r>
              <a:rPr sz="2400"/>
              <a:t>Validation required</a:t>
            </a:r>
          </a:p>
          <a:p>
            <a:pPr/>
            <a:r>
              <a:rPr sz="2400"/>
              <a:t>Design drives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Reporting only best metric</a:t>
            </a:r>
          </a:p>
          <a:p>
            <a:pPr/>
            <a:r>
              <a:rPr sz="2400"/>
              <a:t>Overclaiming clinical utility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Reinforce:</a:t>
            </a:r>
          </a:p>
          <a:p>
            <a:pPr/>
            <a:r>
              <a:rPr sz="2400"/>
              <a:t>Workflow understanding</a:t>
            </a:r>
          </a:p>
          <a:p>
            <a:pPr/>
            <a:r>
              <a:rPr sz="2400"/>
              <a:t>Reproducibility</a:t>
            </a:r>
          </a:p>
          <a:p>
            <a:pPr/>
            <a:r>
              <a:rPr sz="2400"/>
              <a:t>Publication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