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1920240"/>
            <a:ext cx="10363200" cy="1280160"/>
          </a:xfrm>
        </p:spPr>
        <p:txBody>
          <a:bodyPr anchor="b"/>
          <a:lstStyle>
            <a:lvl1pPr algn="l">
              <a:defRPr sz="4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3291840"/>
            <a:ext cx="10363200" cy="18288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algn="l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6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6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b="1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HADES Prediction Modeling – Day 6, Part 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0" indent="0">
              <a:buNone/>
            </a:pPr>
            <a:r>
              <a:t>Participant Handout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Learning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400"/>
              <a:t>Understand HADES</a:t>
            </a:r>
          </a:p>
          <a:p>
            <a:pPr/>
            <a:r>
              <a:rPr sz="2400"/>
              <a:t>Run a prediction model</a:t>
            </a:r>
          </a:p>
          <a:p>
            <a:pPr/>
            <a:r>
              <a:rPr sz="2400"/>
              <a:t>Interpret outputs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Concepts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400"/>
              <a:t>ATLAS designs studies</a:t>
            </a:r>
          </a:p>
          <a:p>
            <a:pPr/>
            <a:r>
              <a:rPr sz="2400"/>
              <a:t>HADES runs analytics</a:t>
            </a:r>
          </a:p>
          <a:p>
            <a:pPr/>
            <a:r>
              <a:rPr sz="2400"/>
              <a:t>Prediction ≠ causality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Workflow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400"/>
              <a:t>Connect → Define cohorts → Build model → Validate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Exercise Prompts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sz="2400"/>
              <a:t>1. Run prediction model</a:t>
            </a:r>
          </a:p>
          <a:p>
            <a:pPr marL="0" indent="0">
              <a:buNone/>
            </a:pPr>
            <a:r>
              <a:rPr sz="2400"/>
              <a:t>2. Inspect AUC</a:t>
            </a:r>
          </a:p>
          <a:p>
            <a:pPr marL="0" indent="0">
              <a:buNone/>
            </a:pPr>
            <a:r>
              <a:rPr sz="2400"/>
              <a:t>3. Review calibration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Interpretation Tips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t>AUC shows discrimination</a:t>
            </a:r>
          </a:p>
          <a:p>
            <a:pPr marL="0" indent="0">
              <a:buNone/>
            </a:pPr>
            <a:r>
              <a:t>Calibration shows risk accuracy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62626"/>
      </a:dk2>
      <a:lt2>
        <a:srgbClr val="F2F2F2"/>
      </a:lt2>
      <a:accent1>
        <a:srgbClr val="404040"/>
      </a:accent1>
      <a:accent2>
        <a:srgbClr val="7F7F7F"/>
      </a:accent2>
      <a:accent3>
        <a:srgbClr val="A6A6A6"/>
      </a:accent3>
      <a:accent4>
        <a:srgbClr val="595959"/>
      </a:accent4>
      <a:accent5>
        <a:srgbClr val="BFBFBF"/>
      </a:accent5>
      <a:accent6>
        <a:srgbClr val="262626"/>
      </a:accent6>
      <a:hlink>
        <a:srgbClr val="000000"/>
      </a:hlink>
      <a:folHlink>
        <a:srgbClr val="40404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