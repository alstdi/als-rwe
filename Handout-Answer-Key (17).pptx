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difference between a 'list of patients with type 2 diabetes' and a proper cohort definition is the temporal logic — when they qualified, what prior exposure they had, and when they exit. This distinction is what makes OHDSI studies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try to identify the entry event for a study they're working on. What concept set would it use? What domain? Is 'first' exposure the right design, or first observed?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'exclusion as inclusion' syntax confuses many new users. Walk through an example: 'exclude patients with prior insulin' becomes 'require that the count of insulin exposures in the prior 365 days is exactly 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ATLAS UI step by step. Stop at each section header (Entry Events, Inclusion Criteria, Cohort Exit) and ask the group what they expect to see. The attrition report is the key teaching moment — show how many people each rule removed.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participants run their cohort and share the attrition numbers. Ask: which rule removed the most people? Does that make clinical sense? What would you change to make the cohort larger / smaller?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Reconciliation exercise: have each participant run the count query and compare to the Atlas UI number. If they differ, work through the checklist: same CDM? Same schema? Same cohort_definition_id?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5488" y="1188720"/>
            <a:ext cx="3291840" cy="45720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252728"/>
            <a:ext cx="3108960" cy="365760"/>
          </a:xfrm>
          <a:prstGeom prst="rect">
            <a:avLst/>
          </a:prstGeom>
          <a:noFill/>
        </p:spPr>
        <p:txBody>
          <a:bodyPr wrap="square">
            <a:spAutoFit/>
          </a:bodyPr>
          <a:lstStyle/>
          <a:p>
            <a:pPr algn="l"/>
            <a:r>
              <a:rPr sz="1400" b="1" i="0">
                <a:solidFill>
                  <a:srgbClr val="FFFFFF"/>
                </a:solidFill>
                <a:latin typeface="Century Gothic"/>
              </a:rPr>
              <a:t>DAY 3</a:t>
            </a:r>
          </a:p>
        </p:txBody>
      </p:sp>
      <p:sp>
        <p:nvSpPr>
          <p:cNvPr id="7" name="TextBox 6"/>
          <p:cNvSpPr txBox="1"/>
          <p:nvPr/>
        </p:nvSpPr>
        <p:spPr>
          <a:xfrm>
            <a:off x="475488" y="1920240"/>
            <a:ext cx="11237976" cy="2194560"/>
          </a:xfrm>
          <a:prstGeom prst="rect">
            <a:avLst/>
          </a:prstGeom>
          <a:noFill/>
        </p:spPr>
        <p:txBody>
          <a:bodyPr wrap="square">
            <a:spAutoFit/>
          </a:bodyPr>
          <a:lstStyle/>
          <a:p>
            <a:pPr algn="l"/>
            <a:r>
              <a:rPr sz="4000" b="1" i="0">
                <a:solidFill>
                  <a:srgbClr val="FFFFFF"/>
                </a:solidFill>
                <a:latin typeface="Century Gothic"/>
              </a:rPr>
              <a:t>Cohort Definition
and Characterization</a:t>
            </a:r>
          </a:p>
        </p:txBody>
      </p:sp>
      <p:sp>
        <p:nvSpPr>
          <p:cNvPr id="8" name="TextBox 7"/>
          <p:cNvSpPr txBox="1"/>
          <p:nvPr/>
        </p:nvSpPr>
        <p:spPr>
          <a:xfrm>
            <a:off x="475488" y="4297680"/>
            <a:ext cx="11237976" cy="1005840"/>
          </a:xfrm>
          <a:prstGeom prst="rect">
            <a:avLst/>
          </a:prstGeom>
          <a:noFill/>
        </p:spPr>
        <p:txBody>
          <a:bodyPr wrap="square">
            <a:spAutoFit/>
          </a:bodyPr>
          <a:lstStyle/>
          <a:p>
            <a:pPr algn="l"/>
            <a:r>
              <a:rPr sz="2200" b="0" i="0">
                <a:solidFill>
                  <a:srgbClr val="D9C4E6"/>
                </a:solidFill>
                <a:latin typeface="Arial"/>
              </a:rPr>
              <a:t>Building new-user cohorts in ATLAS · temporal logic · characterization</a:t>
            </a:r>
          </a:p>
        </p:txBody>
      </p:sp>
      <p:sp>
        <p:nvSpPr>
          <p:cNvPr id="9" name="TextBox 8"/>
          <p:cNvSpPr txBox="1"/>
          <p:nvPr/>
        </p:nvSpPr>
        <p:spPr>
          <a:xfrm>
            <a:off x="475488" y="6355080"/>
            <a:ext cx="7315200" cy="365760"/>
          </a:xfrm>
          <a:prstGeom prst="rect">
            <a:avLst/>
          </a:prstGeom>
          <a:noFill/>
        </p:spPr>
        <p:txBody>
          <a:bodyPr wrap="square">
            <a:spAutoFit/>
          </a:bodyPr>
          <a:lstStyle/>
          <a:p>
            <a:pPr algn="l"/>
            <a:r>
              <a:rPr sz="1300" b="0" i="0">
                <a:solidFill>
                  <a:srgbClr val="AEC4D2"/>
                </a:solidFill>
                <a:latin typeface="Arial"/>
              </a:rP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554480"/>
            <a:ext cx="11237976" cy="1188720"/>
          </a:xfrm>
          <a:prstGeom prst="rect">
            <a:avLst/>
          </a:prstGeom>
          <a:noFill/>
        </p:spPr>
        <p:txBody>
          <a:bodyPr wrap="square">
            <a:spAutoFit/>
          </a:bodyPr>
          <a:lstStyle/>
          <a:p>
            <a:pPr algn="l"/>
            <a:r>
              <a:rPr sz="4800" b="1" i="0">
                <a:solidFill>
                  <a:srgbClr val="FFFFFF"/>
                </a:solidFill>
                <a:latin typeface="Century Gothic"/>
              </a:rPr>
              <a:t>Thank You</a:t>
            </a:r>
          </a:p>
        </p:txBody>
      </p:sp>
      <p:sp>
        <p:nvSpPr>
          <p:cNvPr id="6" name="TextBox 5"/>
          <p:cNvSpPr txBox="1"/>
          <p:nvPr/>
        </p:nvSpPr>
        <p:spPr>
          <a:xfrm>
            <a:off x="475488" y="3017520"/>
            <a:ext cx="11237976" cy="2743200"/>
          </a:xfrm>
          <a:prstGeom prst="rect">
            <a:avLst/>
          </a:prstGeom>
          <a:noFill/>
        </p:spPr>
        <p:txBody>
          <a:bodyPr wrap="square">
            <a:spAutoFit/>
          </a:bodyPr>
          <a:lstStyle/>
          <a:p>
            <a:pPr>
              <a:spcBef>
                <a:spcPts val="800"/>
              </a:spcBef>
            </a:pPr>
            <a:r>
              <a:rPr sz="2000">
                <a:solidFill>
                  <a:srgbClr val="D9C4E6"/>
                </a:solidFill>
                <a:latin typeface="Arial"/>
              </a:rPr>
              <a:t>Thank you for being here and for investing your time in this work.</a:t>
            </a:r>
          </a:p>
          <a:p>
            <a:pPr>
              <a:spcBef>
                <a:spcPts val="800"/>
              </a:spcBef>
            </a:pPr>
            <a:r>
              <a:rPr sz="2000">
                <a:solidFill>
                  <a:srgbClr val="D9C4E6"/>
                </a:solidFill>
                <a:latin typeface="Arial"/>
              </a:rPr>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Housekeeping</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Recording: today's session is recorded and shared within 24 hours.</a:t>
            </a:r>
          </a:p>
          <a:p>
            <a:pPr>
              <a:spcBef>
                <a:spcPts val="600"/>
              </a:spcBef>
            </a:pPr>
            <a:r>
              <a:rPr sz="1800">
                <a:solidFill>
                  <a:srgbClr val="191919"/>
                </a:solidFill>
                <a:latin typeface="Arial"/>
              </a:rPr>
              <a:t>Questions: ask anytime in the chat — we'll pause at each section break.</a:t>
            </a:r>
          </a:p>
          <a:p>
            <a:pPr>
              <a:spcBef>
                <a:spcPts val="600"/>
              </a:spcBef>
            </a:pPr>
            <a:r>
              <a:rPr sz="1800">
                <a:solidFill>
                  <a:srgbClr val="191919"/>
                </a:solidFill>
                <a:latin typeface="Arial"/>
              </a:rPr>
              <a:t>Materials: the slides, participant workbook, and Kahoot live in the program repo.</a:t>
            </a:r>
          </a:p>
          <a:p>
            <a:pPr>
              <a:spcBef>
                <a:spcPts val="600"/>
              </a:spcBef>
            </a:pPr>
            <a:r>
              <a:rPr sz="1800">
                <a:solidFill>
                  <a:srgbClr val="191919"/>
                </a:solidFill>
                <a:latin typeface="Arial"/>
              </a:rPr>
              <a:t>Breaks: we'll take a short break partway through the session.</a:t>
            </a:r>
          </a:p>
          <a:p>
            <a:pPr>
              <a:spcBef>
                <a:spcPts val="600"/>
              </a:spcBef>
            </a:pPr>
            <a:r>
              <a:rPr sz="1800">
                <a:solidFill>
                  <a:srgbClr val="191919"/>
                </a:solidFill>
                <a:latin typeface="Arial"/>
              </a:rPr>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Agenda</a:t>
            </a:r>
          </a:p>
        </p:txBody>
      </p:sp>
      <p:sp>
        <p:nvSpPr>
          <p:cNvPr id="5" name="Rectangle 4"/>
          <p:cNvSpPr/>
          <p:nvPr/>
        </p:nvSpPr>
        <p:spPr>
          <a:xfrm>
            <a:off x="475488" y="1161288"/>
            <a:ext cx="1965960" cy="481888"/>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243584"/>
            <a:ext cx="1828800" cy="372160"/>
          </a:xfrm>
          <a:prstGeom prst="rect">
            <a:avLst/>
          </a:prstGeom>
          <a:noFill/>
        </p:spPr>
        <p:txBody>
          <a:bodyPr wrap="square">
            <a:spAutoFit/>
          </a:bodyPr>
          <a:lstStyle/>
          <a:p>
            <a:pPr algn="l"/>
            <a:r>
              <a:rPr sz="1400" b="0" i="0">
                <a:solidFill>
                  <a:srgbClr val="20425A"/>
                </a:solidFill>
                <a:latin typeface="Arial"/>
              </a:rPr>
              <a:t>9:00 – 9:15</a:t>
            </a:r>
          </a:p>
        </p:txBody>
      </p:sp>
      <p:sp>
        <p:nvSpPr>
          <p:cNvPr id="7" name="TextBox 6"/>
          <p:cNvSpPr txBox="1"/>
          <p:nvPr/>
        </p:nvSpPr>
        <p:spPr>
          <a:xfrm>
            <a:off x="2606040" y="1243584"/>
            <a:ext cx="9034272" cy="372160"/>
          </a:xfrm>
          <a:prstGeom prst="rect">
            <a:avLst/>
          </a:prstGeom>
          <a:noFill/>
        </p:spPr>
        <p:txBody>
          <a:bodyPr wrap="square">
            <a:spAutoFit/>
          </a:bodyPr>
          <a:lstStyle/>
          <a:p>
            <a:pPr algn="l"/>
            <a:r>
              <a:rPr sz="1700" b="0" i="0">
                <a:solidFill>
                  <a:srgbClr val="191919"/>
                </a:solidFill>
                <a:latin typeface="Arial"/>
              </a:rPr>
              <a:t>Recap and Q&amp;A from Day 2</a:t>
            </a:r>
          </a:p>
        </p:txBody>
      </p:sp>
      <p:sp>
        <p:nvSpPr>
          <p:cNvPr id="8" name="Rectangle 7"/>
          <p:cNvSpPr/>
          <p:nvPr/>
        </p:nvSpPr>
        <p:spPr>
          <a:xfrm>
            <a:off x="475488" y="1716328"/>
            <a:ext cx="1965960" cy="481888"/>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798624"/>
            <a:ext cx="1828800" cy="372160"/>
          </a:xfrm>
          <a:prstGeom prst="rect">
            <a:avLst/>
          </a:prstGeom>
          <a:noFill/>
        </p:spPr>
        <p:txBody>
          <a:bodyPr wrap="square">
            <a:spAutoFit/>
          </a:bodyPr>
          <a:lstStyle/>
          <a:p>
            <a:pPr algn="l"/>
            <a:r>
              <a:rPr sz="1400" b="0" i="0">
                <a:solidFill>
                  <a:srgbClr val="20425A"/>
                </a:solidFill>
                <a:latin typeface="Arial"/>
              </a:rPr>
              <a:t>9:15 – 9:45</a:t>
            </a:r>
          </a:p>
        </p:txBody>
      </p:sp>
      <p:sp>
        <p:nvSpPr>
          <p:cNvPr id="10" name="TextBox 9"/>
          <p:cNvSpPr txBox="1"/>
          <p:nvPr/>
        </p:nvSpPr>
        <p:spPr>
          <a:xfrm>
            <a:off x="2606040" y="1798624"/>
            <a:ext cx="9034272" cy="372160"/>
          </a:xfrm>
          <a:prstGeom prst="rect">
            <a:avLst/>
          </a:prstGeom>
          <a:noFill/>
        </p:spPr>
        <p:txBody>
          <a:bodyPr wrap="square">
            <a:spAutoFit/>
          </a:bodyPr>
          <a:lstStyle/>
          <a:p>
            <a:pPr algn="l"/>
            <a:r>
              <a:rPr sz="1700" b="0" i="0">
                <a:solidFill>
                  <a:srgbClr val="191919"/>
                </a:solidFill>
                <a:latin typeface="Arial"/>
              </a:rPr>
              <a:t>What is an OHDSI cohort? Why it's not a code list</a:t>
            </a:r>
          </a:p>
        </p:txBody>
      </p:sp>
      <p:sp>
        <p:nvSpPr>
          <p:cNvPr id="11" name="Rectangle 10"/>
          <p:cNvSpPr/>
          <p:nvPr/>
        </p:nvSpPr>
        <p:spPr>
          <a:xfrm>
            <a:off x="475488" y="2271369"/>
            <a:ext cx="1965960" cy="481888"/>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353665"/>
            <a:ext cx="1828800" cy="372160"/>
          </a:xfrm>
          <a:prstGeom prst="rect">
            <a:avLst/>
          </a:prstGeom>
          <a:noFill/>
        </p:spPr>
        <p:txBody>
          <a:bodyPr wrap="square">
            <a:spAutoFit/>
          </a:bodyPr>
          <a:lstStyle/>
          <a:p>
            <a:pPr algn="l"/>
            <a:r>
              <a:rPr sz="1400" b="0" i="0">
                <a:solidFill>
                  <a:srgbClr val="20425A"/>
                </a:solidFill>
                <a:latin typeface="Arial"/>
              </a:rPr>
              <a:t>9:45 – 10:30</a:t>
            </a:r>
          </a:p>
        </p:txBody>
      </p:sp>
      <p:sp>
        <p:nvSpPr>
          <p:cNvPr id="13" name="TextBox 12"/>
          <p:cNvSpPr txBox="1"/>
          <p:nvPr/>
        </p:nvSpPr>
        <p:spPr>
          <a:xfrm>
            <a:off x="2606040" y="2353665"/>
            <a:ext cx="9034272" cy="372160"/>
          </a:xfrm>
          <a:prstGeom prst="rect">
            <a:avLst/>
          </a:prstGeom>
          <a:noFill/>
        </p:spPr>
        <p:txBody>
          <a:bodyPr wrap="square">
            <a:spAutoFit/>
          </a:bodyPr>
          <a:lstStyle/>
          <a:p>
            <a:pPr algn="l"/>
            <a:r>
              <a:rPr sz="1700" b="0" i="0">
                <a:solidFill>
                  <a:srgbClr val="191919"/>
                </a:solidFill>
                <a:latin typeface="Arial"/>
              </a:rPr>
              <a:t>The four parts of a cohort definition</a:t>
            </a:r>
          </a:p>
        </p:txBody>
      </p:sp>
      <p:sp>
        <p:nvSpPr>
          <p:cNvPr id="14" name="Rectangle 13"/>
          <p:cNvSpPr/>
          <p:nvPr/>
        </p:nvSpPr>
        <p:spPr>
          <a:xfrm>
            <a:off x="475488" y="2826410"/>
            <a:ext cx="1965960" cy="481888"/>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908706"/>
            <a:ext cx="1828800" cy="372160"/>
          </a:xfrm>
          <a:prstGeom prst="rect">
            <a:avLst/>
          </a:prstGeom>
          <a:noFill/>
        </p:spPr>
        <p:txBody>
          <a:bodyPr wrap="square">
            <a:spAutoFit/>
          </a:bodyPr>
          <a:lstStyle/>
          <a:p>
            <a:pPr algn="l"/>
            <a:r>
              <a:rPr sz="1400" b="0" i="0">
                <a:solidFill>
                  <a:srgbClr val="20425A"/>
                </a:solidFill>
                <a:latin typeface="Arial"/>
              </a:rPr>
              <a:t>10:30 – 10:45</a:t>
            </a:r>
          </a:p>
        </p:txBody>
      </p:sp>
      <p:sp>
        <p:nvSpPr>
          <p:cNvPr id="16" name="TextBox 15"/>
          <p:cNvSpPr txBox="1"/>
          <p:nvPr/>
        </p:nvSpPr>
        <p:spPr>
          <a:xfrm>
            <a:off x="2606040" y="2908706"/>
            <a:ext cx="9034272" cy="372160"/>
          </a:xfrm>
          <a:prstGeom prst="rect">
            <a:avLst/>
          </a:prstGeom>
          <a:noFill/>
        </p:spPr>
        <p:txBody>
          <a:bodyPr wrap="square">
            <a:spAutoFit/>
          </a:bodyPr>
          <a:lstStyle/>
          <a:p>
            <a:pPr algn="l"/>
            <a:r>
              <a:rPr sz="1700" b="0" i="0">
                <a:solidFill>
                  <a:srgbClr val="191919"/>
                </a:solidFill>
                <a:latin typeface="Arial"/>
              </a:rPr>
              <a:t>Break</a:t>
            </a:r>
          </a:p>
        </p:txBody>
      </p:sp>
      <p:sp>
        <p:nvSpPr>
          <p:cNvPr id="17" name="Rectangle 16"/>
          <p:cNvSpPr/>
          <p:nvPr/>
        </p:nvSpPr>
        <p:spPr>
          <a:xfrm>
            <a:off x="475488" y="3381451"/>
            <a:ext cx="1965960" cy="481888"/>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463747"/>
            <a:ext cx="1828800" cy="372160"/>
          </a:xfrm>
          <a:prstGeom prst="rect">
            <a:avLst/>
          </a:prstGeom>
          <a:noFill/>
        </p:spPr>
        <p:txBody>
          <a:bodyPr wrap="square">
            <a:spAutoFit/>
          </a:bodyPr>
          <a:lstStyle/>
          <a:p>
            <a:pPr algn="l"/>
            <a:r>
              <a:rPr sz="1400" b="0" i="0">
                <a:solidFill>
                  <a:srgbClr val="20425A"/>
                </a:solidFill>
                <a:latin typeface="Arial"/>
              </a:rPr>
              <a:t>10:45 – 11:30</a:t>
            </a:r>
          </a:p>
        </p:txBody>
      </p:sp>
      <p:sp>
        <p:nvSpPr>
          <p:cNvPr id="19" name="TextBox 18"/>
          <p:cNvSpPr txBox="1"/>
          <p:nvPr/>
        </p:nvSpPr>
        <p:spPr>
          <a:xfrm>
            <a:off x="2606040" y="3463747"/>
            <a:ext cx="9034272" cy="372160"/>
          </a:xfrm>
          <a:prstGeom prst="rect">
            <a:avLst/>
          </a:prstGeom>
          <a:noFill/>
        </p:spPr>
        <p:txBody>
          <a:bodyPr wrap="square">
            <a:spAutoFit/>
          </a:bodyPr>
          <a:lstStyle/>
          <a:p>
            <a:pPr algn="l"/>
            <a:r>
              <a:rPr sz="1700" b="0" i="0">
                <a:solidFill>
                  <a:srgbClr val="191919"/>
                </a:solidFill>
                <a:latin typeface="Arial"/>
              </a:rPr>
              <a:t>Temporal logic and inclusion criteria deep dive</a:t>
            </a:r>
          </a:p>
        </p:txBody>
      </p:sp>
      <p:sp>
        <p:nvSpPr>
          <p:cNvPr id="20" name="Rectangle 19"/>
          <p:cNvSpPr/>
          <p:nvPr/>
        </p:nvSpPr>
        <p:spPr>
          <a:xfrm>
            <a:off x="475488" y="3936492"/>
            <a:ext cx="1965960" cy="481888"/>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018788"/>
            <a:ext cx="1828800" cy="372160"/>
          </a:xfrm>
          <a:prstGeom prst="rect">
            <a:avLst/>
          </a:prstGeom>
          <a:noFill/>
        </p:spPr>
        <p:txBody>
          <a:bodyPr wrap="square">
            <a:spAutoFit/>
          </a:bodyPr>
          <a:lstStyle/>
          <a:p>
            <a:pPr algn="l"/>
            <a:r>
              <a:rPr sz="1400" b="0" i="0">
                <a:solidFill>
                  <a:srgbClr val="20425A"/>
                </a:solidFill>
                <a:latin typeface="Arial"/>
              </a:rPr>
              <a:t>11:30 – 12:00</a:t>
            </a:r>
          </a:p>
        </p:txBody>
      </p:sp>
      <p:sp>
        <p:nvSpPr>
          <p:cNvPr id="22" name="TextBox 21"/>
          <p:cNvSpPr txBox="1"/>
          <p:nvPr/>
        </p:nvSpPr>
        <p:spPr>
          <a:xfrm>
            <a:off x="2606040" y="4018788"/>
            <a:ext cx="9034272" cy="372160"/>
          </a:xfrm>
          <a:prstGeom prst="rect">
            <a:avLst/>
          </a:prstGeom>
          <a:noFill/>
        </p:spPr>
        <p:txBody>
          <a:bodyPr wrap="square">
            <a:spAutoFit/>
          </a:bodyPr>
          <a:lstStyle/>
          <a:p>
            <a:pPr algn="l"/>
            <a:r>
              <a:rPr sz="1700" b="0" i="0">
                <a:solidFill>
                  <a:srgbClr val="191919"/>
                </a:solidFill>
                <a:latin typeface="Arial"/>
              </a:rPr>
              <a:t>Live demo: building new-user metformin cohort in ATLAS</a:t>
            </a:r>
          </a:p>
        </p:txBody>
      </p:sp>
      <p:sp>
        <p:nvSpPr>
          <p:cNvPr id="23" name="Rectangle 22"/>
          <p:cNvSpPr/>
          <p:nvPr/>
        </p:nvSpPr>
        <p:spPr>
          <a:xfrm>
            <a:off x="475488" y="4491532"/>
            <a:ext cx="1965960" cy="481888"/>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573828"/>
            <a:ext cx="1828800" cy="372160"/>
          </a:xfrm>
          <a:prstGeom prst="rect">
            <a:avLst/>
          </a:prstGeom>
          <a:noFill/>
        </p:spPr>
        <p:txBody>
          <a:bodyPr wrap="square">
            <a:spAutoFit/>
          </a:bodyPr>
          <a:lstStyle/>
          <a:p>
            <a:pPr algn="l"/>
            <a:r>
              <a:rPr sz="1400" b="0" i="0">
                <a:solidFill>
                  <a:srgbClr val="20425A"/>
                </a:solidFill>
                <a:latin typeface="Arial"/>
              </a:rPr>
              <a:t>12:00 – 13:00</a:t>
            </a:r>
          </a:p>
        </p:txBody>
      </p:sp>
      <p:sp>
        <p:nvSpPr>
          <p:cNvPr id="25" name="TextBox 24"/>
          <p:cNvSpPr txBox="1"/>
          <p:nvPr/>
        </p:nvSpPr>
        <p:spPr>
          <a:xfrm>
            <a:off x="2606040" y="4573828"/>
            <a:ext cx="9034272" cy="372160"/>
          </a:xfrm>
          <a:prstGeom prst="rect">
            <a:avLst/>
          </a:prstGeom>
          <a:noFill/>
        </p:spPr>
        <p:txBody>
          <a:bodyPr wrap="square">
            <a:spAutoFit/>
          </a:bodyPr>
          <a:lstStyle/>
          <a:p>
            <a:pPr algn="l"/>
            <a:r>
              <a:rPr sz="1700" b="0" i="0">
                <a:solidFill>
                  <a:srgbClr val="191919"/>
                </a:solidFill>
                <a:latin typeface="Arial"/>
              </a:rPr>
              <a:t>Lunch</a:t>
            </a:r>
          </a:p>
        </p:txBody>
      </p:sp>
      <p:sp>
        <p:nvSpPr>
          <p:cNvPr id="26" name="Rectangle 25"/>
          <p:cNvSpPr/>
          <p:nvPr/>
        </p:nvSpPr>
        <p:spPr>
          <a:xfrm>
            <a:off x="475488" y="5046573"/>
            <a:ext cx="1965960" cy="481888"/>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128869"/>
            <a:ext cx="1828800" cy="372160"/>
          </a:xfrm>
          <a:prstGeom prst="rect">
            <a:avLst/>
          </a:prstGeom>
          <a:noFill/>
        </p:spPr>
        <p:txBody>
          <a:bodyPr wrap="square">
            <a:spAutoFit/>
          </a:bodyPr>
          <a:lstStyle/>
          <a:p>
            <a:pPr algn="l"/>
            <a:r>
              <a:rPr sz="1400" b="0" i="0">
                <a:solidFill>
                  <a:srgbClr val="20425A"/>
                </a:solidFill>
                <a:latin typeface="Arial"/>
              </a:rPr>
              <a:t>13:00 – 14:30</a:t>
            </a:r>
          </a:p>
        </p:txBody>
      </p:sp>
      <p:sp>
        <p:nvSpPr>
          <p:cNvPr id="28" name="TextBox 27"/>
          <p:cNvSpPr txBox="1"/>
          <p:nvPr/>
        </p:nvSpPr>
        <p:spPr>
          <a:xfrm>
            <a:off x="2606040" y="5128869"/>
            <a:ext cx="9034272" cy="372160"/>
          </a:xfrm>
          <a:prstGeom prst="rect">
            <a:avLst/>
          </a:prstGeom>
          <a:noFill/>
        </p:spPr>
        <p:txBody>
          <a:bodyPr wrap="square">
            <a:spAutoFit/>
          </a:bodyPr>
          <a:lstStyle/>
          <a:p>
            <a:pPr algn="l"/>
            <a:r>
              <a:rPr sz="1700" b="0" i="0">
                <a:solidFill>
                  <a:srgbClr val="191919"/>
                </a:solidFill>
                <a:latin typeface="Arial"/>
              </a:rPr>
              <a:t>ATLAS lab: build, generate, read attrition, characterize</a:t>
            </a:r>
          </a:p>
        </p:txBody>
      </p:sp>
      <p:sp>
        <p:nvSpPr>
          <p:cNvPr id="29" name="Rectangle 28"/>
          <p:cNvSpPr/>
          <p:nvPr/>
        </p:nvSpPr>
        <p:spPr>
          <a:xfrm>
            <a:off x="475488" y="5601614"/>
            <a:ext cx="1965960" cy="481888"/>
          </a:xfrm>
          <a:prstGeom prst="rect">
            <a:avLst/>
          </a:prstGeom>
          <a:solidFill>
            <a:srgbClr val="ECD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5683910"/>
            <a:ext cx="1828800" cy="372160"/>
          </a:xfrm>
          <a:prstGeom prst="rect">
            <a:avLst/>
          </a:prstGeom>
          <a:noFill/>
        </p:spPr>
        <p:txBody>
          <a:bodyPr wrap="square">
            <a:spAutoFit/>
          </a:bodyPr>
          <a:lstStyle/>
          <a:p>
            <a:pPr algn="l"/>
            <a:r>
              <a:rPr sz="1400" b="0" i="0">
                <a:solidFill>
                  <a:srgbClr val="20425A"/>
                </a:solidFill>
                <a:latin typeface="Arial"/>
              </a:rPr>
              <a:t>14:30 – 15:00</a:t>
            </a:r>
          </a:p>
        </p:txBody>
      </p:sp>
      <p:sp>
        <p:nvSpPr>
          <p:cNvPr id="31" name="TextBox 30"/>
          <p:cNvSpPr txBox="1"/>
          <p:nvPr/>
        </p:nvSpPr>
        <p:spPr>
          <a:xfrm>
            <a:off x="2606040" y="5683910"/>
            <a:ext cx="9034272" cy="372160"/>
          </a:xfrm>
          <a:prstGeom prst="rect">
            <a:avLst/>
          </a:prstGeom>
          <a:noFill/>
        </p:spPr>
        <p:txBody>
          <a:bodyPr wrap="square">
            <a:spAutoFit/>
          </a:bodyPr>
          <a:lstStyle/>
          <a:p>
            <a:pPr algn="l"/>
            <a:r>
              <a:rPr sz="1700" b="0" i="0">
                <a:solidFill>
                  <a:srgbClr val="191919"/>
                </a:solidFill>
                <a:latin typeface="Arial"/>
              </a:rPr>
              <a:t>Export cohort SQL and validate counts</a:t>
            </a:r>
          </a:p>
        </p:txBody>
      </p:sp>
      <p:sp>
        <p:nvSpPr>
          <p:cNvPr id="32" name="Rectangle 31"/>
          <p:cNvSpPr/>
          <p:nvPr/>
        </p:nvSpPr>
        <p:spPr>
          <a:xfrm>
            <a:off x="475488" y="6156655"/>
            <a:ext cx="1965960" cy="481888"/>
          </a:xfrm>
          <a:prstGeom prst="rect">
            <a:avLst/>
          </a:prstGeom>
          <a:solidFill>
            <a:srgbClr val="F5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6238951"/>
            <a:ext cx="1828800" cy="372160"/>
          </a:xfrm>
          <a:prstGeom prst="rect">
            <a:avLst/>
          </a:prstGeom>
          <a:noFill/>
        </p:spPr>
        <p:txBody>
          <a:bodyPr wrap="square">
            <a:spAutoFit/>
          </a:bodyPr>
          <a:lstStyle/>
          <a:p>
            <a:pPr algn="l"/>
            <a:r>
              <a:rPr sz="1400" b="0" i="0">
                <a:solidFill>
                  <a:srgbClr val="20425A"/>
                </a:solidFill>
                <a:latin typeface="Arial"/>
              </a:rPr>
              <a:t>15:00 – 15:30</a:t>
            </a:r>
          </a:p>
        </p:txBody>
      </p:sp>
      <p:sp>
        <p:nvSpPr>
          <p:cNvPr id="34" name="TextBox 33"/>
          <p:cNvSpPr txBox="1"/>
          <p:nvPr/>
        </p:nvSpPr>
        <p:spPr>
          <a:xfrm>
            <a:off x="2606040" y="6238951"/>
            <a:ext cx="9034272" cy="372160"/>
          </a:xfrm>
          <a:prstGeom prst="rect">
            <a:avLst/>
          </a:prstGeom>
          <a:noFill/>
        </p:spPr>
        <p:txBody>
          <a:bodyPr wrap="square">
            <a:spAutoFit/>
          </a:bodyPr>
          <a:lstStyle/>
          <a:p>
            <a:pPr algn="l"/>
            <a:r>
              <a:rPr sz="1700" b="0" i="0">
                <a:solidFill>
                  <a:srgbClr val="191919"/>
                </a:solidFill>
                <a:latin typeface="Arial"/>
              </a:rPr>
              <a:t>Recap, homework, Day 4 preview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828800"/>
            <a:ext cx="11237976" cy="1463040"/>
          </a:xfrm>
          <a:prstGeom prst="rect">
            <a:avLst/>
          </a:prstGeom>
          <a:noFill/>
        </p:spPr>
        <p:txBody>
          <a:bodyPr wrap="square">
            <a:spAutoFit/>
          </a:bodyPr>
          <a:lstStyle/>
          <a:p>
            <a:pPr algn="l"/>
            <a:r>
              <a:rPr sz="6000" b="1" i="0">
                <a:solidFill>
                  <a:srgbClr val="FFFFFF"/>
                </a:solidFill>
                <a:latin typeface="Century Gothic"/>
              </a:rPr>
              <a:t>Kahoot!</a:t>
            </a:r>
          </a:p>
        </p:txBody>
      </p:sp>
      <p:sp>
        <p:nvSpPr>
          <p:cNvPr id="6" name="TextBox 5"/>
          <p:cNvSpPr txBox="1"/>
          <p:nvPr/>
        </p:nvSpPr>
        <p:spPr>
          <a:xfrm>
            <a:off x="475488" y="3474720"/>
            <a:ext cx="11237976" cy="822960"/>
          </a:xfrm>
          <a:prstGeom prst="rect">
            <a:avLst/>
          </a:prstGeom>
          <a:noFill/>
        </p:spPr>
        <p:txBody>
          <a:bodyPr wrap="square">
            <a:spAutoFit/>
          </a:bodyPr>
          <a:lstStyle/>
          <a:p>
            <a:pPr algn="l"/>
            <a:r>
              <a:rPr sz="2400" b="0" i="0">
                <a:solidFill>
                  <a:srgbClr val="FFFFFF"/>
                </a:solidFill>
                <a:latin typeface="Arial"/>
              </a:rPr>
              <a:t>Quick warm-up — let's see what stuck.</a:t>
            </a:r>
          </a:p>
        </p:txBody>
      </p:sp>
      <p:sp>
        <p:nvSpPr>
          <p:cNvPr id="7" name="TextBox 6"/>
          <p:cNvSpPr txBox="1"/>
          <p:nvPr/>
        </p:nvSpPr>
        <p:spPr>
          <a:xfrm>
            <a:off x="475488" y="4389120"/>
            <a:ext cx="11237976" cy="640080"/>
          </a:xfrm>
          <a:prstGeom prst="rect">
            <a:avLst/>
          </a:prstGeom>
          <a:noFill/>
        </p:spPr>
        <p:txBody>
          <a:bodyPr wrap="square">
            <a:spAutoFit/>
          </a:bodyPr>
          <a:lstStyle/>
          <a:p>
            <a:pPr algn="l"/>
            <a:r>
              <a:rPr sz="1800" b="0" i="0">
                <a:solidFill>
                  <a:srgbClr val="F0E3F5"/>
                </a:solidFill>
                <a:latin typeface="Arial"/>
              </a:rP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920240"/>
            <a:ext cx="10177272" cy="2560320"/>
          </a:xfrm>
          <a:prstGeom prst="rect">
            <a:avLst/>
          </a:prstGeom>
          <a:noFill/>
        </p:spPr>
        <p:txBody>
          <a:bodyPr wrap="square">
            <a:spAutoFit/>
          </a:bodyPr>
          <a:lstStyle/>
          <a:p>
            <a:pPr algn="l"/>
            <a:r>
              <a:rPr sz="3200" b="1" i="1">
                <a:solidFill>
                  <a:srgbClr val="20425A"/>
                </a:solidFill>
                <a:latin typeface="Century Gothic"/>
              </a:rPr>
              <a:t>insert your favorite quote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Learning Objectives</a:t>
            </a:r>
          </a:p>
        </p:txBody>
      </p:sp>
      <p:sp>
        <p:nvSpPr>
          <p:cNvPr id="5" name="TextBox 4"/>
          <p:cNvSpPr txBox="1"/>
          <p:nvPr/>
        </p:nvSpPr>
        <p:spPr>
          <a:xfrm>
            <a:off x="475488" y="1124712"/>
            <a:ext cx="11237976" cy="411480"/>
          </a:xfrm>
          <a:prstGeom prst="rect">
            <a:avLst/>
          </a:prstGeom>
          <a:noFill/>
        </p:spPr>
        <p:txBody>
          <a:bodyPr wrap="square">
            <a:spAutoFit/>
          </a:bodyPr>
          <a:lstStyle/>
          <a:p>
            <a:pPr algn="l"/>
            <a:r>
              <a:rPr sz="1700" b="0" i="1">
                <a:solidFill>
                  <a:srgbClr val="5A5A5A"/>
                </a:solidFill>
                <a:latin typeface="Arial"/>
              </a:rPr>
              <a:t>By the end of this session, you will be able to:</a:t>
            </a:r>
          </a:p>
        </p:txBody>
      </p:sp>
      <p:sp>
        <p:nvSpPr>
          <p:cNvPr id="6" name="Rectangle 5"/>
          <p:cNvSpPr/>
          <p:nvPr/>
        </p:nvSpPr>
        <p:spPr>
          <a:xfrm>
            <a:off x="475488" y="1581912"/>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609344"/>
            <a:ext cx="365760" cy="338328"/>
          </a:xfrm>
          <a:prstGeom prst="rect">
            <a:avLst/>
          </a:prstGeom>
          <a:noFill/>
        </p:spPr>
        <p:txBody>
          <a:bodyPr wrap="square">
            <a:spAutoFit/>
          </a:bodyPr>
          <a:lstStyle/>
          <a:p>
            <a:pPr algn="ctr"/>
            <a:r>
              <a:rPr sz="1500" b="1" i="0">
                <a:solidFill>
                  <a:srgbClr val="FFFFFF"/>
                </a:solidFill>
                <a:latin typeface="Arial"/>
              </a:rPr>
              <a:t>1</a:t>
            </a:r>
          </a:p>
        </p:txBody>
      </p:sp>
      <p:sp>
        <p:nvSpPr>
          <p:cNvPr id="8" name="TextBox 7"/>
          <p:cNvSpPr txBox="1"/>
          <p:nvPr/>
        </p:nvSpPr>
        <p:spPr>
          <a:xfrm>
            <a:off x="987552" y="1581912"/>
            <a:ext cx="10680192" cy="594360"/>
          </a:xfrm>
          <a:prstGeom prst="rect">
            <a:avLst/>
          </a:prstGeom>
          <a:noFill/>
        </p:spPr>
        <p:txBody>
          <a:bodyPr wrap="square">
            <a:spAutoFit/>
          </a:bodyPr>
          <a:lstStyle/>
          <a:p>
            <a:pPr algn="l"/>
            <a:r>
              <a:rPr sz="1800" b="0" i="0">
                <a:solidFill>
                  <a:srgbClr val="191919"/>
                </a:solidFill>
                <a:latin typeface="Arial"/>
              </a:rPr>
              <a:t>Define an OHDSI cohort and explain how it differs from a simple code list</a:t>
            </a:r>
          </a:p>
        </p:txBody>
      </p:sp>
      <p:sp>
        <p:nvSpPr>
          <p:cNvPr id="9" name="Rectangle 8"/>
          <p:cNvSpPr/>
          <p:nvPr/>
        </p:nvSpPr>
        <p:spPr>
          <a:xfrm>
            <a:off x="475488" y="2249424"/>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2276856"/>
            <a:ext cx="365760" cy="338328"/>
          </a:xfrm>
          <a:prstGeom prst="rect">
            <a:avLst/>
          </a:prstGeom>
          <a:noFill/>
        </p:spPr>
        <p:txBody>
          <a:bodyPr wrap="square">
            <a:spAutoFit/>
          </a:bodyPr>
          <a:lstStyle/>
          <a:p>
            <a:pPr algn="ctr"/>
            <a:r>
              <a:rPr sz="1500" b="1" i="0">
                <a:solidFill>
                  <a:srgbClr val="FFFFFF"/>
                </a:solidFill>
                <a:latin typeface="Arial"/>
              </a:rPr>
              <a:t>2</a:t>
            </a:r>
          </a:p>
        </p:txBody>
      </p:sp>
      <p:sp>
        <p:nvSpPr>
          <p:cNvPr id="11" name="TextBox 10"/>
          <p:cNvSpPr txBox="1"/>
          <p:nvPr/>
        </p:nvSpPr>
        <p:spPr>
          <a:xfrm>
            <a:off x="987552" y="2249424"/>
            <a:ext cx="10680192" cy="594360"/>
          </a:xfrm>
          <a:prstGeom prst="rect">
            <a:avLst/>
          </a:prstGeom>
          <a:noFill/>
        </p:spPr>
        <p:txBody>
          <a:bodyPr wrap="square">
            <a:spAutoFit/>
          </a:bodyPr>
          <a:lstStyle/>
          <a:p>
            <a:pPr algn="l"/>
            <a:r>
              <a:rPr sz="1800" b="0" i="0">
                <a:solidFill>
                  <a:srgbClr val="191919"/>
                </a:solidFill>
                <a:latin typeface="Arial"/>
              </a:rPr>
              <a:t>Identify and apply the four parts: entry event, concept sets, inclusion criteria, and exit</a:t>
            </a:r>
          </a:p>
        </p:txBody>
      </p:sp>
      <p:sp>
        <p:nvSpPr>
          <p:cNvPr id="12" name="Rectangle 11"/>
          <p:cNvSpPr/>
          <p:nvPr/>
        </p:nvSpPr>
        <p:spPr>
          <a:xfrm>
            <a:off x="475488" y="2916936"/>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944368"/>
            <a:ext cx="365760" cy="338328"/>
          </a:xfrm>
          <a:prstGeom prst="rect">
            <a:avLst/>
          </a:prstGeom>
          <a:noFill/>
        </p:spPr>
        <p:txBody>
          <a:bodyPr wrap="square">
            <a:spAutoFit/>
          </a:bodyPr>
          <a:lstStyle/>
          <a:p>
            <a:pPr algn="ctr"/>
            <a:r>
              <a:rPr sz="1500" b="1" i="0">
                <a:solidFill>
                  <a:srgbClr val="FFFFFF"/>
                </a:solidFill>
                <a:latin typeface="Arial"/>
              </a:rPr>
              <a:t>3</a:t>
            </a:r>
          </a:p>
        </p:txBody>
      </p:sp>
      <p:sp>
        <p:nvSpPr>
          <p:cNvPr id="14" name="TextBox 13"/>
          <p:cNvSpPr txBox="1"/>
          <p:nvPr/>
        </p:nvSpPr>
        <p:spPr>
          <a:xfrm>
            <a:off x="987552" y="2916936"/>
            <a:ext cx="10680192" cy="594360"/>
          </a:xfrm>
          <a:prstGeom prst="rect">
            <a:avLst/>
          </a:prstGeom>
          <a:noFill/>
        </p:spPr>
        <p:txBody>
          <a:bodyPr wrap="square">
            <a:spAutoFit/>
          </a:bodyPr>
          <a:lstStyle/>
          <a:p>
            <a:pPr algn="l"/>
            <a:r>
              <a:rPr sz="1800" b="0" i="0">
                <a:solidFill>
                  <a:srgbClr val="191919"/>
                </a:solidFill>
                <a:latin typeface="Arial"/>
              </a:rPr>
              <a:t>Apply temporal logic correctly in inclusion and exclusion rules</a:t>
            </a:r>
          </a:p>
        </p:txBody>
      </p:sp>
      <p:sp>
        <p:nvSpPr>
          <p:cNvPr id="15" name="Rectangle 14"/>
          <p:cNvSpPr/>
          <p:nvPr/>
        </p:nvSpPr>
        <p:spPr>
          <a:xfrm>
            <a:off x="475488" y="3584448"/>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3611880"/>
            <a:ext cx="365760" cy="338328"/>
          </a:xfrm>
          <a:prstGeom prst="rect">
            <a:avLst/>
          </a:prstGeom>
          <a:noFill/>
        </p:spPr>
        <p:txBody>
          <a:bodyPr wrap="square">
            <a:spAutoFit/>
          </a:bodyPr>
          <a:lstStyle/>
          <a:p>
            <a:pPr algn="ctr"/>
            <a:r>
              <a:rPr sz="1500" b="1" i="0">
                <a:solidFill>
                  <a:srgbClr val="FFFFFF"/>
                </a:solidFill>
                <a:latin typeface="Arial"/>
              </a:rPr>
              <a:t>4</a:t>
            </a:r>
          </a:p>
        </p:txBody>
      </p:sp>
      <p:sp>
        <p:nvSpPr>
          <p:cNvPr id="17" name="TextBox 16"/>
          <p:cNvSpPr txBox="1"/>
          <p:nvPr/>
        </p:nvSpPr>
        <p:spPr>
          <a:xfrm>
            <a:off x="987552" y="3584448"/>
            <a:ext cx="10680192" cy="594360"/>
          </a:xfrm>
          <a:prstGeom prst="rect">
            <a:avLst/>
          </a:prstGeom>
          <a:noFill/>
        </p:spPr>
        <p:txBody>
          <a:bodyPr wrap="square">
            <a:spAutoFit/>
          </a:bodyPr>
          <a:lstStyle/>
          <a:p>
            <a:pPr algn="l"/>
            <a:r>
              <a:rPr sz="1800" b="0" i="0">
                <a:solidFill>
                  <a:srgbClr val="191919"/>
                </a:solidFill>
                <a:latin typeface="Arial"/>
              </a:rPr>
              <a:t>Build and generate a cohort in ATLAS step by step</a:t>
            </a:r>
          </a:p>
        </p:txBody>
      </p:sp>
      <p:sp>
        <p:nvSpPr>
          <p:cNvPr id="18" name="Rectangle 17"/>
          <p:cNvSpPr/>
          <p:nvPr/>
        </p:nvSpPr>
        <p:spPr>
          <a:xfrm>
            <a:off x="475488" y="4251960"/>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4279392"/>
            <a:ext cx="365760" cy="338328"/>
          </a:xfrm>
          <a:prstGeom prst="rect">
            <a:avLst/>
          </a:prstGeom>
          <a:noFill/>
        </p:spPr>
        <p:txBody>
          <a:bodyPr wrap="square">
            <a:spAutoFit/>
          </a:bodyPr>
          <a:lstStyle/>
          <a:p>
            <a:pPr algn="ctr"/>
            <a:r>
              <a:rPr sz="1500" b="1" i="0">
                <a:solidFill>
                  <a:srgbClr val="FFFFFF"/>
                </a:solidFill>
                <a:latin typeface="Arial"/>
              </a:rPr>
              <a:t>5</a:t>
            </a:r>
          </a:p>
        </p:txBody>
      </p:sp>
      <p:sp>
        <p:nvSpPr>
          <p:cNvPr id="20" name="TextBox 19"/>
          <p:cNvSpPr txBox="1"/>
          <p:nvPr/>
        </p:nvSpPr>
        <p:spPr>
          <a:xfrm>
            <a:off x="987552" y="4251960"/>
            <a:ext cx="10680192" cy="594360"/>
          </a:xfrm>
          <a:prstGeom prst="rect">
            <a:avLst/>
          </a:prstGeom>
          <a:noFill/>
        </p:spPr>
        <p:txBody>
          <a:bodyPr wrap="square">
            <a:spAutoFit/>
          </a:bodyPr>
          <a:lstStyle/>
          <a:p>
            <a:pPr algn="l"/>
            <a:r>
              <a:rPr sz="1800" b="0" i="0">
                <a:solidFill>
                  <a:srgbClr val="191919"/>
                </a:solidFill>
                <a:latin typeface="Arial"/>
              </a:rPr>
              <a:t>Read an attrition report and identify logic errors from the counts</a:t>
            </a:r>
          </a:p>
        </p:txBody>
      </p:sp>
      <p:sp>
        <p:nvSpPr>
          <p:cNvPr id="21" name="Rectangle 20"/>
          <p:cNvSpPr/>
          <p:nvPr/>
        </p:nvSpPr>
        <p:spPr>
          <a:xfrm>
            <a:off x="475488" y="4919472"/>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4946904"/>
            <a:ext cx="365760" cy="338328"/>
          </a:xfrm>
          <a:prstGeom prst="rect">
            <a:avLst/>
          </a:prstGeom>
          <a:noFill/>
        </p:spPr>
        <p:txBody>
          <a:bodyPr wrap="square">
            <a:spAutoFit/>
          </a:bodyPr>
          <a:lstStyle/>
          <a:p>
            <a:pPr algn="ctr"/>
            <a:r>
              <a:rPr sz="1500" b="1" i="0">
                <a:solidFill>
                  <a:srgbClr val="FFFFFF"/>
                </a:solidFill>
                <a:latin typeface="Arial"/>
              </a:rPr>
              <a:t>6</a:t>
            </a:r>
          </a:p>
        </p:txBody>
      </p:sp>
      <p:sp>
        <p:nvSpPr>
          <p:cNvPr id="23" name="TextBox 22"/>
          <p:cNvSpPr txBox="1"/>
          <p:nvPr/>
        </p:nvSpPr>
        <p:spPr>
          <a:xfrm>
            <a:off x="987552" y="4919472"/>
            <a:ext cx="10680192" cy="594360"/>
          </a:xfrm>
          <a:prstGeom prst="rect">
            <a:avLst/>
          </a:prstGeom>
          <a:noFill/>
        </p:spPr>
        <p:txBody>
          <a:bodyPr wrap="square">
            <a:spAutoFit/>
          </a:bodyPr>
          <a:lstStyle/>
          <a:p>
            <a:pPr algn="l"/>
            <a:r>
              <a:rPr sz="1800" b="0" i="0">
                <a:solidFill>
                  <a:srgbClr val="191919"/>
                </a:solidFill>
                <a:latin typeface="Arial"/>
              </a:rPr>
              <a:t>Characterize a generated cohort and interpret the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Let's discuss</a:t>
            </a:r>
          </a:p>
        </p:txBody>
      </p:sp>
      <p:sp>
        <p:nvSpPr>
          <p:cNvPr id="6" name="Rectangle 5"/>
          <p:cNvSpPr/>
          <p:nvPr/>
        </p:nvSpPr>
        <p:spPr>
          <a:xfrm>
            <a:off x="475488" y="2377440"/>
            <a:ext cx="11237976" cy="2194560"/>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743200"/>
            <a:ext cx="10506456" cy="1554480"/>
          </a:xfrm>
          <a:prstGeom prst="rect">
            <a:avLst/>
          </a:prstGeom>
          <a:noFill/>
        </p:spPr>
        <p:txBody>
          <a:bodyPr wrap="square">
            <a:spAutoFit/>
          </a:bodyPr>
          <a:lstStyle/>
          <a:p>
            <a:pPr algn="ctr"/>
            <a:r>
              <a:rPr sz="2800" b="1" i="0">
                <a:solidFill>
                  <a:srgbClr val="20425A"/>
                </a:solidFill>
                <a:latin typeface="Century Gothic"/>
              </a:rPr>
              <a:t>Tell me about a time you were asked to create a cohort.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What Is an OHDSI Cohort?</a:t>
            </a:r>
          </a:p>
        </p:txBody>
      </p:sp>
      <p:sp>
        <p:nvSpPr>
          <p:cNvPr id="5" name="Rectangle 4"/>
          <p:cNvSpPr/>
          <p:nvPr/>
        </p:nvSpPr>
        <p:spPr>
          <a:xfrm>
            <a:off x="475488" y="1124712"/>
            <a:ext cx="5504688" cy="5532120"/>
          </a:xfrm>
          <a:prstGeom prst="rect">
            <a:avLst/>
          </a:prstGeom>
          <a:solidFill>
            <a:srgbClr val="F6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216152"/>
            <a:ext cx="5321808" cy="457200"/>
          </a:xfrm>
          <a:prstGeom prst="rect">
            <a:avLst/>
          </a:prstGeom>
          <a:noFill/>
        </p:spPr>
        <p:txBody>
          <a:bodyPr wrap="square">
            <a:spAutoFit/>
          </a:bodyPr>
          <a:lstStyle/>
          <a:p>
            <a:pPr algn="l"/>
            <a:r>
              <a:rPr sz="1800" b="1" i="0">
                <a:solidFill>
                  <a:srgbClr val="20425A"/>
                </a:solidFill>
                <a:latin typeface="Arial"/>
              </a:rPr>
              <a:t>A Cohort IS</a:t>
            </a:r>
          </a:p>
        </p:txBody>
      </p:sp>
      <p:sp>
        <p:nvSpPr>
          <p:cNvPr id="7" name="TextBox 6"/>
          <p:cNvSpPr txBox="1"/>
          <p:nvPr/>
        </p:nvSpPr>
        <p:spPr>
          <a:xfrm>
            <a:off x="612648" y="1719072"/>
            <a:ext cx="5230368" cy="4846320"/>
          </a:xfrm>
          <a:prstGeom prst="rect">
            <a:avLst/>
          </a:prstGeom>
          <a:noFill/>
        </p:spPr>
        <p:txBody>
          <a:bodyPr wrap="square">
            <a:spAutoFit/>
          </a:bodyPr>
          <a:lstStyle/>
          <a:p>
            <a:pPr>
              <a:spcBef>
                <a:spcPts val="500"/>
              </a:spcBef>
            </a:pPr>
            <a:r>
              <a:rPr sz="1700">
                <a:solidFill>
                  <a:srgbClr val="191919"/>
                </a:solidFill>
                <a:latin typeface="Arial"/>
              </a:rPr>
              <a:t>A set of persons who satisfy one or more criteria for a duration of time</a:t>
            </a:r>
          </a:p>
          <a:p>
            <a:pPr>
              <a:spcBef>
                <a:spcPts val="500"/>
              </a:spcBef>
            </a:pPr>
            <a:r>
              <a:rPr sz="1700">
                <a:solidFill>
                  <a:srgbClr val="191919"/>
                </a:solidFill>
                <a:latin typeface="Arial"/>
              </a:rPr>
              <a:t>A rule set: who qualifies, under what conditions, and for how long</a:t>
            </a:r>
          </a:p>
          <a:p>
            <a:pPr>
              <a:spcBef>
                <a:spcPts val="500"/>
              </a:spcBef>
            </a:pPr>
            <a:r>
              <a:rPr sz="1700">
                <a:solidFill>
                  <a:srgbClr val="191919"/>
                </a:solidFill>
                <a:latin typeface="Arial"/>
              </a:rPr>
              <a:t>Reproducible: the same definition applied to any OMOP CDM produces a comparable result</a:t>
            </a:r>
          </a:p>
          <a:p>
            <a:pPr>
              <a:spcBef>
                <a:spcPts val="500"/>
              </a:spcBef>
            </a:pPr>
            <a:r>
              <a:rPr sz="1700">
                <a:solidFill>
                  <a:srgbClr val="191919"/>
                </a:solidFill>
                <a:latin typeface="Arial"/>
              </a:rPr>
              <a:t>An entry event (initial qualifying event) with optional inclusion rules and an exit strategy</a:t>
            </a:r>
          </a:p>
          <a:p>
            <a:pPr>
              <a:spcBef>
                <a:spcPts val="500"/>
              </a:spcBef>
            </a:pPr>
            <a:r>
              <a:rPr sz="1700">
                <a:solidFill>
                  <a:srgbClr val="191919"/>
                </a:solidFill>
                <a:latin typeface="Arial"/>
              </a:rPr>
              <a:t>The foundational unit of all OHDSI analysis</a:t>
            </a:r>
          </a:p>
        </p:txBody>
      </p:sp>
      <p:sp>
        <p:nvSpPr>
          <p:cNvPr id="8" name="Rectangle 7"/>
          <p:cNvSpPr/>
          <p:nvPr/>
        </p:nvSpPr>
        <p:spPr>
          <a:xfrm>
            <a:off x="6208776" y="1124712"/>
            <a:ext cx="5504688" cy="5532120"/>
          </a:xfrm>
          <a:prstGeom prst="rect">
            <a:avLst/>
          </a:prstGeom>
          <a:solidFill>
            <a:srgbClr val="F0E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0216" y="1216152"/>
            <a:ext cx="5321808" cy="457200"/>
          </a:xfrm>
          <a:prstGeom prst="rect">
            <a:avLst/>
          </a:prstGeom>
          <a:noFill/>
        </p:spPr>
        <p:txBody>
          <a:bodyPr wrap="square">
            <a:spAutoFit/>
          </a:bodyPr>
          <a:lstStyle/>
          <a:p>
            <a:pPr algn="l"/>
            <a:r>
              <a:rPr sz="1800" b="1" i="0">
                <a:solidFill>
                  <a:srgbClr val="20425A"/>
                </a:solidFill>
                <a:latin typeface="Arial"/>
              </a:rPr>
              <a:t>A Cohort IS NOT</a:t>
            </a:r>
          </a:p>
        </p:txBody>
      </p:sp>
      <p:sp>
        <p:nvSpPr>
          <p:cNvPr id="10" name="TextBox 9"/>
          <p:cNvSpPr txBox="1"/>
          <p:nvPr/>
        </p:nvSpPr>
        <p:spPr>
          <a:xfrm>
            <a:off x="6345936" y="1719072"/>
            <a:ext cx="5230368" cy="4846320"/>
          </a:xfrm>
          <a:prstGeom prst="rect">
            <a:avLst/>
          </a:prstGeom>
          <a:noFill/>
        </p:spPr>
        <p:txBody>
          <a:bodyPr wrap="square">
            <a:spAutoFit/>
          </a:bodyPr>
          <a:lstStyle/>
          <a:p>
            <a:pPr>
              <a:spcBef>
                <a:spcPts val="500"/>
              </a:spcBef>
            </a:pPr>
            <a:r>
              <a:rPr sz="1700">
                <a:solidFill>
                  <a:srgbClr val="191919"/>
                </a:solidFill>
                <a:latin typeface="Arial"/>
              </a:rPr>
              <a:t>A simple list of patients with a diagnosis code</a:t>
            </a:r>
          </a:p>
          <a:p>
            <a:pPr>
              <a:spcBef>
                <a:spcPts val="500"/>
              </a:spcBef>
            </a:pPr>
            <a:r>
              <a:rPr sz="1700">
                <a:solidFill>
                  <a:srgbClr val="191919"/>
                </a:solidFill>
                <a:latin typeface="Arial"/>
              </a:rPr>
              <a:t>An ad-hoc SQL query without formal definition</a:t>
            </a:r>
          </a:p>
          <a:p>
            <a:pPr>
              <a:spcBef>
                <a:spcPts val="500"/>
              </a:spcBef>
            </a:pPr>
            <a:r>
              <a:rPr sz="1700">
                <a:solidFill>
                  <a:srgbClr val="191919"/>
                </a:solidFill>
                <a:latin typeface="Arial"/>
              </a:rPr>
              <a:t>A list of concept IDs (that's a concept set — different thing)</a:t>
            </a:r>
          </a:p>
          <a:p>
            <a:pPr>
              <a:spcBef>
                <a:spcPts val="500"/>
              </a:spcBef>
            </a:pPr>
            <a:r>
              <a:rPr sz="1700">
                <a:solidFill>
                  <a:srgbClr val="191919"/>
                </a:solidFill>
                <a:latin typeface="Arial"/>
              </a:rPr>
              <a:t>An un-timestamped set of people who 'have' a condition</a:t>
            </a:r>
          </a:p>
          <a:p>
            <a:pPr>
              <a:spcBef>
                <a:spcPts val="500"/>
              </a:spcBef>
            </a:pPr>
            <a:r>
              <a:rPr sz="1700">
                <a:solidFill>
                  <a:srgbClr val="191919"/>
                </a:solidFill>
                <a:latin typeface="Arial"/>
              </a:rPr>
              <a:t>A static export that ignores observation period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75488" y="1737360"/>
            <a:ext cx="822960" cy="8229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801368"/>
            <a:ext cx="822960" cy="731520"/>
          </a:xfrm>
          <a:prstGeom prst="rect">
            <a:avLst/>
          </a:prstGeom>
          <a:noFill/>
        </p:spPr>
        <p:txBody>
          <a:bodyPr wrap="square">
            <a:spAutoFit/>
          </a:bodyPr>
          <a:lstStyle/>
          <a:p>
            <a:pPr algn="ctr"/>
            <a:r>
              <a:rPr sz="3400" b="1" i="0">
                <a:solidFill>
                  <a:srgbClr val="FFFFFF"/>
                </a:solidFill>
                <a:latin typeface="Century Gothic"/>
              </a:rPr>
              <a:t>The 4 Parts</a:t>
            </a:r>
          </a:p>
        </p:txBody>
      </p:sp>
      <p:sp>
        <p:nvSpPr>
          <p:cNvPr id="6" name="TextBox 5"/>
          <p:cNvSpPr txBox="1"/>
          <p:nvPr/>
        </p:nvSpPr>
        <p:spPr>
          <a:xfrm>
            <a:off x="1737360" y="1828800"/>
            <a:ext cx="9902952" cy="1005840"/>
          </a:xfrm>
          <a:prstGeom prst="rect">
            <a:avLst/>
          </a:prstGeom>
          <a:noFill/>
        </p:spPr>
        <p:txBody>
          <a:bodyPr wrap="square">
            <a:spAutoFit/>
          </a:bodyPr>
          <a:lstStyle/>
          <a:p>
            <a:pPr algn="l"/>
            <a:r>
              <a:rPr sz="3600" b="1" i="0">
                <a:solidFill>
                  <a:srgbClr val="FFFFFF"/>
                </a:solidFill>
                <a:latin typeface="Century Gothic"/>
              </a:rPr>
              <a:t>Every Cohort Definition</a:t>
            </a:r>
          </a:p>
        </p:txBody>
      </p:sp>
      <p:sp>
        <p:nvSpPr>
          <p:cNvPr id="7" name="TextBox 6"/>
          <p:cNvSpPr txBox="1"/>
          <p:nvPr/>
        </p:nvSpPr>
        <p:spPr>
          <a:xfrm>
            <a:off x="475488" y="3200400"/>
            <a:ext cx="11237976" cy="1188720"/>
          </a:xfrm>
          <a:prstGeom prst="rect">
            <a:avLst/>
          </a:prstGeom>
          <a:noFill/>
        </p:spPr>
        <p:txBody>
          <a:bodyPr wrap="square">
            <a:spAutoFit/>
          </a:bodyPr>
          <a:lstStyle/>
          <a:p>
            <a:pPr algn="l"/>
            <a:r>
              <a:rPr sz="2000" b="0" i="0">
                <a:solidFill>
                  <a:srgbClr val="D9C4E6"/>
                </a:solidFill>
                <a:latin typeface="Arial"/>
              </a:rPr>
              <a:t>Entry Event · Concept Sets · Inclusion Criteria · Exit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Part 1: Cohort Entry Event (Initial Event)</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The event that qualifies a person to enter the cohort</a:t>
            </a:r>
          </a:p>
          <a:p>
            <a:pPr>
              <a:spcBef>
                <a:spcPts val="600"/>
              </a:spcBef>
            </a:pPr>
            <a:r>
              <a:rPr sz="1800">
                <a:solidFill>
                  <a:srgbClr val="191919"/>
                </a:solidFill>
                <a:latin typeface="Arial"/>
              </a:rPr>
              <a:t>Examples: first drug exposure to metformin · first ALS diagnosis · first inpatient hospitalization</a:t>
            </a:r>
          </a:p>
          <a:p>
            <a:pPr>
              <a:spcBef>
                <a:spcPts val="600"/>
              </a:spcBef>
            </a:pPr>
            <a:r>
              <a:rPr sz="1800">
                <a:solidFill>
                  <a:srgbClr val="191919"/>
                </a:solidFill>
                <a:latin typeface="Arial"/>
              </a:rPr>
              <a:t>Built on a concept set — the concept set defines WHAT the event is</a:t>
            </a:r>
          </a:p>
          <a:p>
            <a:pPr>
              <a:spcBef>
                <a:spcPts val="600"/>
              </a:spcBef>
            </a:pPr>
            <a:r>
              <a:rPr sz="1800">
                <a:solidFill>
                  <a:srgbClr val="191919"/>
                </a:solidFill>
                <a:latin typeface="Arial"/>
              </a:rPr>
              <a:t>Usually restricted to the FIRST qualifying event per person (new-user design)</a:t>
            </a:r>
          </a:p>
          <a:p>
            <a:pPr>
              <a:spcBef>
                <a:spcPts val="600"/>
              </a:spcBef>
            </a:pPr>
            <a:r>
              <a:rPr sz="1800">
                <a:solidFill>
                  <a:srgbClr val="191919"/>
                </a:solidFill>
                <a:latin typeface="Arial"/>
              </a:rPr>
              <a:t>Time constraint: the entry event defines 'index date' — the temporal anchor for all inclusion rules</a:t>
            </a:r>
          </a:p>
          <a:p>
            <a:pPr>
              <a:spcBef>
                <a:spcPts val="600"/>
              </a:spcBef>
            </a:pPr>
            <a:r>
              <a:rPr sz="1800">
                <a:solidFill>
                  <a:srgbClr val="191919"/>
                </a:solidFill>
                <a:latin typeface="Arial"/>
              </a:rPr>
              <a:t>The entry event is the only event where a person can enter — if there are multiple, Atlas picks the first (if you specify that)</a:t>
            </a:r>
          </a:p>
          <a:p>
            <a:pPr>
              <a:spcBef>
                <a:spcPts val="600"/>
              </a:spcBef>
            </a:pPr>
            <a:r>
              <a:rPr sz="1800">
                <a:solidFill>
                  <a:srgbClr val="191919"/>
                </a:solidFill>
                <a:latin typeface="Arial"/>
              </a:rPr>
              <a:t>Entry event domain: Drug Exposure · Condition Occurrence · Measurement · Visit Occurrence · etc.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Part 2: Concept Sets — The Day 2 Building Block</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Every cohort entry event and inclusion rule is built on a concept set</a:t>
            </a:r>
          </a:p>
          <a:p>
            <a:pPr>
              <a:spcBef>
                <a:spcPts val="600"/>
              </a:spcBef>
            </a:pPr>
            <a:r>
              <a:rPr sz="1800">
                <a:solidFill>
                  <a:srgbClr val="191919"/>
                </a:solidFill>
                <a:latin typeface="Arial"/>
              </a:rPr>
              <a:t>The concept set defines 'what counts' as the clinical event</a:t>
            </a:r>
          </a:p>
          <a:p>
            <a:pPr>
              <a:spcBef>
                <a:spcPts val="600"/>
              </a:spcBef>
            </a:pPr>
            <a:r>
              <a:rPr sz="1800">
                <a:solidFill>
                  <a:srgbClr val="191919"/>
                </a:solidFill>
                <a:latin typeface="Arial"/>
              </a:rPr>
              <a:t>Best practice: build and validate concept sets (Day 2) BEFORE building cohorts (Day 3)</a:t>
            </a:r>
          </a:p>
          <a:p>
            <a:pPr>
              <a:spcBef>
                <a:spcPts val="600"/>
              </a:spcBef>
            </a:pPr>
            <a:r>
              <a:rPr sz="1800">
                <a:solidFill>
                  <a:srgbClr val="191919"/>
                </a:solidFill>
                <a:latin typeface="Arial"/>
              </a:rPr>
              <a:t>You can reuse the same concept set across multiple cohorts — this ensures consistency</a:t>
            </a:r>
          </a:p>
          <a:p>
            <a:pPr>
              <a:spcBef>
                <a:spcPts val="600"/>
              </a:spcBef>
            </a:pPr>
            <a:r>
              <a:rPr sz="1800">
                <a:solidFill>
                  <a:srgbClr val="191919"/>
                </a:solidFill>
                <a:latin typeface="Arial"/>
              </a:rPr>
              <a:t>Common mistake: modifying a concept set that is already used in a generated cohort — regenerate after any change</a:t>
            </a:r>
          </a:p>
          <a:p>
            <a:pPr>
              <a:spcBef>
                <a:spcPts val="600"/>
              </a:spcBef>
            </a:pPr>
            <a:r>
              <a:rPr sz="1800">
                <a:solidFill>
                  <a:srgbClr val="191919"/>
                </a:solidFill>
                <a:latin typeface="Arial"/>
              </a:rPr>
              <a:t>Export concept sets as JSON alongside your cohort definition JSON for version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Part 3: Inclusion Criteria</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Additional conditions applied to the entry events</a:t>
            </a:r>
          </a:p>
          <a:p>
            <a:pPr>
              <a:spcBef>
                <a:spcPts val="600"/>
              </a:spcBef>
            </a:pPr>
            <a:r>
              <a:rPr sz="1800">
                <a:solidFill>
                  <a:srgbClr val="191919"/>
                </a:solidFill>
                <a:latin typeface="Arial"/>
              </a:rPr>
              <a:t>Each criterion is a named, testable rule with a temporal window</a:t>
            </a:r>
          </a:p>
          <a:p>
            <a:pPr>
              <a:spcBef>
                <a:spcPts val="600"/>
              </a:spcBef>
            </a:pPr>
            <a:r>
              <a:rPr sz="1800">
                <a:solidFill>
                  <a:srgbClr val="191919"/>
                </a:solidFill>
                <a:latin typeface="Arial"/>
              </a:rPr>
              <a:t>Examples:</a:t>
            </a:r>
          </a:p>
          <a:p>
            <a:pPr lvl="1">
              <a:spcBef>
                <a:spcPts val="300"/>
              </a:spcBef>
            </a:pPr>
            <a:r>
              <a:rPr sz="1600">
                <a:solidFill>
                  <a:srgbClr val="191919"/>
                </a:solidFill>
                <a:latin typeface="Arial"/>
              </a:rPr>
              <a:t>'At least 365 days of continuous prior observation before index'</a:t>
            </a:r>
          </a:p>
          <a:p>
            <a:pPr lvl="1">
              <a:spcBef>
                <a:spcPts val="300"/>
              </a:spcBef>
            </a:pPr>
            <a:r>
              <a:rPr sz="1600">
                <a:solidFill>
                  <a:srgbClr val="191919"/>
                </a:solidFill>
                <a:latin typeface="Arial"/>
              </a:rPr>
              <a:t>'No prior insulin exposure in the 365 days before index'</a:t>
            </a:r>
          </a:p>
          <a:p>
            <a:pPr lvl="1">
              <a:spcBef>
                <a:spcPts val="300"/>
              </a:spcBef>
            </a:pPr>
            <a:r>
              <a:rPr sz="1600">
                <a:solidFill>
                  <a:srgbClr val="191919"/>
                </a:solidFill>
                <a:latin typeface="Arial"/>
              </a:rPr>
              <a:t>'Age ≥ 18 at index date'</a:t>
            </a:r>
          </a:p>
          <a:p>
            <a:pPr lvl="1">
              <a:spcBef>
                <a:spcPts val="300"/>
              </a:spcBef>
            </a:pPr>
            <a:r>
              <a:rPr sz="1600">
                <a:solidFill>
                  <a:srgbClr val="191919"/>
                </a:solidFill>
                <a:latin typeface="Arial"/>
              </a:rPr>
              <a:t>'At least one type 2 diabetes diagnosis in the 365 days before index'</a:t>
            </a:r>
          </a:p>
          <a:p>
            <a:pPr>
              <a:spcBef>
                <a:spcPts val="600"/>
              </a:spcBef>
            </a:pPr>
            <a:r>
              <a:rPr sz="1800">
                <a:solidFill>
                  <a:srgbClr val="191919"/>
                </a:solidFill>
                <a:latin typeface="Arial"/>
              </a:rPr>
              <a:t>Exclusions are written as inclusions: 'no prior insulin' = 'count of prior insulin exposures = 0'</a:t>
            </a:r>
          </a:p>
          <a:p>
            <a:pPr>
              <a:spcBef>
                <a:spcPts val="600"/>
              </a:spcBef>
            </a:pPr>
            <a:r>
              <a:rPr sz="1800">
                <a:solidFill>
                  <a:srgbClr val="191919"/>
                </a:solidFill>
                <a:latin typeface="Arial"/>
              </a:rPr>
              <a:t>There is no separate exclusion list in ATLAS — exclusions are inclusion rules that must be false</a:t>
            </a:r>
          </a:p>
          <a:p>
            <a:pPr>
              <a:spcBef>
                <a:spcPts val="600"/>
              </a:spcBef>
            </a:pPr>
            <a:r>
              <a:rPr sz="1800">
                <a:solidFill>
                  <a:srgbClr val="191919"/>
                </a:solidFill>
                <a:latin typeface="Arial"/>
              </a:rPr>
              <a:t>Each rule removes a subset of the cohort → the attrition report shows how many each rule removed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Temporal Logic — The Most Common Source of Errors</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Every inclusion rule has a time window relative to the index date (entry event)</a:t>
            </a:r>
          </a:p>
          <a:p>
            <a:pPr>
              <a:spcBef>
                <a:spcPts val="600"/>
              </a:spcBef>
            </a:pPr>
            <a:r>
              <a:rPr sz="1800">
                <a:solidFill>
                  <a:srgbClr val="191919"/>
                </a:solidFill>
                <a:latin typeface="Arial"/>
              </a:rPr>
              <a:t>Window options: BEFORE index · AFTER index · SURROUNDING index · ANY TIME</a:t>
            </a:r>
          </a:p>
          <a:p>
            <a:pPr>
              <a:spcBef>
                <a:spcPts val="600"/>
              </a:spcBef>
            </a:pPr>
            <a:r>
              <a:rPr sz="1800">
                <a:solidFill>
                  <a:srgbClr val="191919"/>
                </a:solidFill>
                <a:latin typeface="Arial"/>
              </a:rPr>
              <a:t>Examples of windows:</a:t>
            </a:r>
          </a:p>
          <a:p>
            <a:pPr lvl="1">
              <a:spcBef>
                <a:spcPts val="300"/>
              </a:spcBef>
            </a:pPr>
            <a:r>
              <a:rPr sz="1600">
                <a:solidFill>
                  <a:srgbClr val="191919"/>
                </a:solidFill>
                <a:latin typeface="Arial"/>
              </a:rPr>
              <a:t>365 days BEFORE index: look back one year from the entry event</a:t>
            </a:r>
          </a:p>
          <a:p>
            <a:pPr lvl="1">
              <a:spcBef>
                <a:spcPts val="300"/>
              </a:spcBef>
            </a:pPr>
            <a:r>
              <a:rPr sz="1600">
                <a:solidFill>
                  <a:srgbClr val="191919"/>
                </a:solidFill>
                <a:latin typeface="Arial"/>
              </a:rPr>
              <a:t>0–90 days AFTER index: look forward 3 months from the entry event</a:t>
            </a:r>
          </a:p>
          <a:p>
            <a:pPr lvl="1">
              <a:spcBef>
                <a:spcPts val="300"/>
              </a:spcBef>
            </a:pPr>
            <a:r>
              <a:rPr sz="1600">
                <a:solidFill>
                  <a:srgbClr val="191919"/>
                </a:solidFill>
                <a:latin typeface="Arial"/>
              </a:rPr>
              <a:t>'Any time prior': no lookback limit — captures entire patient history before entry</a:t>
            </a:r>
          </a:p>
          <a:p>
            <a:pPr>
              <a:spcBef>
                <a:spcPts val="600"/>
              </a:spcBef>
            </a:pPr>
            <a:r>
              <a:rPr sz="1800">
                <a:solidFill>
                  <a:srgbClr val="191919"/>
                </a:solidFill>
                <a:latin typeface="Arial"/>
              </a:rPr>
              <a:t>The window defines what 'counts' as prior vs. subsequent exposure</a:t>
            </a:r>
          </a:p>
          <a:p>
            <a:pPr>
              <a:spcBef>
                <a:spcPts val="600"/>
              </a:spcBef>
            </a:pPr>
            <a:r>
              <a:rPr sz="1800">
                <a:solidFill>
                  <a:srgbClr val="191919"/>
                </a:solidFill>
                <a:latin typeface="Arial"/>
              </a:rPr>
              <a:t>Wrong temporal logic is the most common cause of unexpectedly large or small cohorts</a:t>
            </a:r>
          </a:p>
          <a:p>
            <a:pPr>
              <a:spcBef>
                <a:spcPts val="600"/>
              </a:spcBef>
            </a:pPr>
            <a:r>
              <a:rPr sz="1800">
                <a:solidFill>
                  <a:srgbClr val="191919"/>
                </a:solidFill>
                <a:latin typeface="Arial"/>
              </a:rPr>
              <a:t>Always review the attrition report BEFORE using a cohort for analysis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Part 4: Cohort Exit</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Defines when and how a person leaves the cohort</a:t>
            </a:r>
          </a:p>
          <a:p>
            <a:pPr>
              <a:spcBef>
                <a:spcPts val="600"/>
              </a:spcBef>
            </a:pPr>
            <a:r>
              <a:rPr sz="1800">
                <a:solidFill>
                  <a:srgbClr val="191919"/>
                </a:solidFill>
                <a:latin typeface="Arial"/>
              </a:rPr>
              <a:t>Common exit strategies:</a:t>
            </a:r>
          </a:p>
          <a:p>
            <a:pPr lvl="1">
              <a:spcBef>
                <a:spcPts val="300"/>
              </a:spcBef>
            </a:pPr>
            <a:r>
              <a:rPr sz="1600">
                <a:solidFill>
                  <a:srgbClr val="191919"/>
                </a:solidFill>
                <a:latin typeface="Arial"/>
              </a:rPr>
              <a:t>End of observation period: person stays in cohort until data ends — widest possible follow-up</a:t>
            </a:r>
          </a:p>
          <a:p>
            <a:pPr lvl="1">
              <a:spcBef>
                <a:spcPts val="300"/>
              </a:spcBef>
            </a:pPr>
            <a:r>
              <a:rPr sz="1600">
                <a:solidFill>
                  <a:srgbClr val="191919"/>
                </a:solidFill>
                <a:latin typeface="Arial"/>
              </a:rPr>
              <a:t>End of continuous drug exposure + gap: exits when drug fill lapses by &gt;N days — correct for drug era studies</a:t>
            </a:r>
          </a:p>
          <a:p>
            <a:pPr lvl="1">
              <a:spcBef>
                <a:spcPts val="300"/>
              </a:spcBef>
            </a:pPr>
            <a:r>
              <a:rPr sz="1600">
                <a:solidFill>
                  <a:srgbClr val="191919"/>
                </a:solidFill>
                <a:latin typeface="Arial"/>
              </a:rPr>
              <a:t>Fixed duration: exits N days after index — useful for fixed-horizon studies</a:t>
            </a:r>
          </a:p>
          <a:p>
            <a:pPr lvl="1">
              <a:spcBef>
                <a:spcPts val="300"/>
              </a:spcBef>
            </a:pPr>
            <a:r>
              <a:rPr sz="1600">
                <a:solidFill>
                  <a:srgbClr val="191919"/>
                </a:solidFill>
                <a:latin typeface="Arial"/>
              </a:rPr>
              <a:t>Event-based: exits when a specific event occurs (e.g., death, hospitalization)</a:t>
            </a:r>
          </a:p>
          <a:p>
            <a:pPr>
              <a:spcBef>
                <a:spcPts val="600"/>
              </a:spcBef>
            </a:pPr>
            <a:r>
              <a:rPr sz="1800">
                <a:solidFill>
                  <a:srgbClr val="191919"/>
                </a:solidFill>
                <a:latin typeface="Arial"/>
              </a:rPr>
              <a:t>Exit strategy dramatically affects cohort size and follow-up time</a:t>
            </a:r>
          </a:p>
          <a:p>
            <a:pPr>
              <a:spcBef>
                <a:spcPts val="600"/>
              </a:spcBef>
            </a:pPr>
            <a:r>
              <a:rPr sz="1800">
                <a:solidFill>
                  <a:srgbClr val="191919"/>
                </a:solidFill>
                <a:latin typeface="Arial"/>
              </a:rPr>
              <a:t>New-user cohorts typically use: end of continuous exposure OR end of observation period</a:t>
            </a:r>
          </a:p>
          <a:p>
            <a:pPr>
              <a:spcBef>
                <a:spcPts val="600"/>
              </a:spcBef>
            </a:pPr>
            <a:r>
              <a:rPr sz="1800">
                <a:solidFill>
                  <a:srgbClr val="191919"/>
                </a:solidFill>
                <a:latin typeface="Arial"/>
              </a:rPr>
              <a:t>Document your exit strategy in the study protocol — it determines what analytic window you have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320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237976" cy="777240"/>
          </a:xfrm>
          <a:prstGeom prst="rect">
            <a:avLst/>
          </a:prstGeom>
          <a:noFill/>
        </p:spPr>
        <p:txBody>
          <a:bodyPr wrap="square">
            <a:spAutoFit/>
          </a:bodyPr>
          <a:lstStyle/>
          <a:p>
            <a:pPr algn="l"/>
            <a:r>
              <a:rPr sz="2600" b="1" i="0">
                <a:solidFill>
                  <a:srgbClr val="FFFFFF"/>
                </a:solidFill>
                <a:latin typeface="Century Gothic"/>
              </a:rPr>
              <a:t>Lab:  Live Demo: New-User Metformin Cohort in ATLAS</a:t>
            </a:r>
          </a:p>
        </p:txBody>
      </p:sp>
      <p:sp>
        <p:nvSpPr>
          <p:cNvPr id="5" name="TextBox 4"/>
          <p:cNvSpPr txBox="1"/>
          <p:nvPr/>
        </p:nvSpPr>
        <p:spPr>
          <a:xfrm>
            <a:off x="9262872" y="201168"/>
            <a:ext cx="2468880" cy="548640"/>
          </a:xfrm>
          <a:prstGeom prst="rect">
            <a:avLst/>
          </a:prstGeom>
          <a:noFill/>
        </p:spPr>
        <p:txBody>
          <a:bodyPr wrap="square">
            <a:spAutoFit/>
          </a:bodyPr>
          <a:lstStyle/>
          <a:p>
            <a:pPr algn="r"/>
            <a:r>
              <a:rPr sz="1400" b="0" i="0">
                <a:solidFill>
                  <a:srgbClr val="FFFFFF"/>
                </a:solidFill>
                <a:latin typeface="Arial"/>
              </a:rPr>
              <a:t>⏱  ~25 minutes (demo)</a:t>
            </a:r>
          </a:p>
        </p:txBody>
      </p:sp>
      <p:sp>
        <p:nvSpPr>
          <p:cNvPr id="6" name="Rectangle 5"/>
          <p:cNvSpPr/>
          <p:nvPr/>
        </p:nvSpPr>
        <p:spPr>
          <a:xfrm>
            <a:off x="475488" y="1124712"/>
            <a:ext cx="11237976" cy="402336"/>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197864"/>
            <a:ext cx="11055096" cy="274320"/>
          </a:xfrm>
          <a:prstGeom prst="rect">
            <a:avLst/>
          </a:prstGeom>
          <a:noFill/>
        </p:spPr>
        <p:txBody>
          <a:bodyPr wrap="square">
            <a:spAutoFit/>
          </a:bodyPr>
          <a:lstStyle/>
          <a:p>
            <a:pPr algn="l"/>
            <a:r>
              <a:rPr sz="1400" b="0" i="0">
                <a:solidFill>
                  <a:srgbClr val="320337"/>
                </a:solidFill>
                <a:latin typeface="Arial"/>
              </a:rPr>
              <a:t>Tool: ATLAS (your site's instance)</a:t>
            </a:r>
          </a:p>
        </p:txBody>
      </p:sp>
      <p:sp>
        <p:nvSpPr>
          <p:cNvPr id="8" name="Rectangle 7"/>
          <p:cNvSpPr/>
          <p:nvPr/>
        </p:nvSpPr>
        <p:spPr>
          <a:xfrm>
            <a:off x="475488" y="1655064"/>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673352"/>
            <a:ext cx="365760" cy="329184"/>
          </a:xfrm>
          <a:prstGeom prst="rect">
            <a:avLst/>
          </a:prstGeom>
          <a:noFill/>
        </p:spPr>
        <p:txBody>
          <a:bodyPr wrap="square">
            <a:spAutoFit/>
          </a:bodyPr>
          <a:lstStyle/>
          <a:p>
            <a:pPr algn="ctr"/>
            <a:r>
              <a:rPr sz="1500" b="1" i="0">
                <a:solidFill>
                  <a:srgbClr val="FFFFFF"/>
                </a:solidFill>
                <a:latin typeface="Arial"/>
              </a:rPr>
              <a:t>1</a:t>
            </a:r>
          </a:p>
        </p:txBody>
      </p:sp>
      <p:sp>
        <p:nvSpPr>
          <p:cNvPr id="10" name="TextBox 9"/>
          <p:cNvSpPr txBox="1"/>
          <p:nvPr/>
        </p:nvSpPr>
        <p:spPr>
          <a:xfrm>
            <a:off x="969264" y="1655064"/>
            <a:ext cx="10680192" cy="594360"/>
          </a:xfrm>
          <a:prstGeom prst="rect">
            <a:avLst/>
          </a:prstGeom>
          <a:noFill/>
        </p:spPr>
        <p:txBody>
          <a:bodyPr wrap="square">
            <a:spAutoFit/>
          </a:bodyPr>
          <a:lstStyle/>
          <a:p>
            <a:pPr algn="l"/>
            <a:r>
              <a:rPr sz="1800" b="0" i="0">
                <a:solidFill>
                  <a:srgbClr val="191919"/>
                </a:solidFill>
                <a:latin typeface="Arial"/>
              </a:rPr>
              <a:t>In ATLAS → Cohort Definitions → New Cohort Definition</a:t>
            </a:r>
          </a:p>
        </p:txBody>
      </p:sp>
      <p:sp>
        <p:nvSpPr>
          <p:cNvPr id="11" name="Rectangle 10"/>
          <p:cNvSpPr/>
          <p:nvPr/>
        </p:nvSpPr>
        <p:spPr>
          <a:xfrm>
            <a:off x="475488" y="2368296"/>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2386584"/>
            <a:ext cx="365760" cy="329184"/>
          </a:xfrm>
          <a:prstGeom prst="rect">
            <a:avLst/>
          </a:prstGeom>
          <a:noFill/>
        </p:spPr>
        <p:txBody>
          <a:bodyPr wrap="square">
            <a:spAutoFit/>
          </a:bodyPr>
          <a:lstStyle/>
          <a:p>
            <a:pPr algn="ctr"/>
            <a:r>
              <a:rPr sz="1500" b="1" i="0">
                <a:solidFill>
                  <a:srgbClr val="FFFFFF"/>
                </a:solidFill>
                <a:latin typeface="Arial"/>
              </a:rPr>
              <a:t>2</a:t>
            </a:r>
          </a:p>
        </p:txBody>
      </p:sp>
      <p:sp>
        <p:nvSpPr>
          <p:cNvPr id="13" name="TextBox 12"/>
          <p:cNvSpPr txBox="1"/>
          <p:nvPr/>
        </p:nvSpPr>
        <p:spPr>
          <a:xfrm>
            <a:off x="969264" y="2368296"/>
            <a:ext cx="10680192" cy="594360"/>
          </a:xfrm>
          <a:prstGeom prst="rect">
            <a:avLst/>
          </a:prstGeom>
          <a:noFill/>
        </p:spPr>
        <p:txBody>
          <a:bodyPr wrap="square">
            <a:spAutoFit/>
          </a:bodyPr>
          <a:lstStyle/>
          <a:p>
            <a:pPr algn="l"/>
            <a:r>
              <a:rPr sz="1800" b="0" i="0">
                <a:solidFill>
                  <a:srgbClr val="191919"/>
                </a:solidFill>
                <a:latin typeface="Arial"/>
              </a:rPr>
              <a:t>Entry event: Drug Exposure · concept set = Metformin (from Day 2) · restrict to FIRST event</a:t>
            </a:r>
          </a:p>
        </p:txBody>
      </p:sp>
      <p:sp>
        <p:nvSpPr>
          <p:cNvPr id="14" name="Rectangle 13"/>
          <p:cNvSpPr/>
          <p:nvPr/>
        </p:nvSpPr>
        <p:spPr>
          <a:xfrm>
            <a:off x="475488" y="3081528"/>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3099816"/>
            <a:ext cx="365760" cy="329184"/>
          </a:xfrm>
          <a:prstGeom prst="rect">
            <a:avLst/>
          </a:prstGeom>
          <a:noFill/>
        </p:spPr>
        <p:txBody>
          <a:bodyPr wrap="square">
            <a:spAutoFit/>
          </a:bodyPr>
          <a:lstStyle/>
          <a:p>
            <a:pPr algn="ctr"/>
            <a:r>
              <a:rPr sz="1500" b="1" i="0">
                <a:solidFill>
                  <a:srgbClr val="FFFFFF"/>
                </a:solidFill>
                <a:latin typeface="Arial"/>
              </a:rPr>
              <a:t>3</a:t>
            </a:r>
          </a:p>
        </p:txBody>
      </p:sp>
      <p:sp>
        <p:nvSpPr>
          <p:cNvPr id="16" name="TextBox 15"/>
          <p:cNvSpPr txBox="1"/>
          <p:nvPr/>
        </p:nvSpPr>
        <p:spPr>
          <a:xfrm>
            <a:off x="969264" y="3081528"/>
            <a:ext cx="10680192" cy="594360"/>
          </a:xfrm>
          <a:prstGeom prst="rect">
            <a:avLst/>
          </a:prstGeom>
          <a:noFill/>
        </p:spPr>
        <p:txBody>
          <a:bodyPr wrap="square">
            <a:spAutoFit/>
          </a:bodyPr>
          <a:lstStyle/>
          <a:p>
            <a:pPr algn="l"/>
            <a:r>
              <a:rPr sz="1800" b="0" i="0">
                <a:solidFill>
                  <a:srgbClr val="191919"/>
                </a:solidFill>
                <a:latin typeface="Arial"/>
              </a:rPr>
              <a:t>Inclusion Rule 1: 'At least 365 days of prior continuous observation' (observation period ≥ 365 days before index)</a:t>
            </a:r>
          </a:p>
        </p:txBody>
      </p:sp>
      <p:sp>
        <p:nvSpPr>
          <p:cNvPr id="17" name="Rectangle 16"/>
          <p:cNvSpPr/>
          <p:nvPr/>
        </p:nvSpPr>
        <p:spPr>
          <a:xfrm>
            <a:off x="475488" y="3794760"/>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3813048"/>
            <a:ext cx="365760" cy="329184"/>
          </a:xfrm>
          <a:prstGeom prst="rect">
            <a:avLst/>
          </a:prstGeom>
          <a:noFill/>
        </p:spPr>
        <p:txBody>
          <a:bodyPr wrap="square">
            <a:spAutoFit/>
          </a:bodyPr>
          <a:lstStyle/>
          <a:p>
            <a:pPr algn="ctr"/>
            <a:r>
              <a:rPr sz="1500" b="1" i="0">
                <a:solidFill>
                  <a:srgbClr val="FFFFFF"/>
                </a:solidFill>
                <a:latin typeface="Arial"/>
              </a:rPr>
              <a:t>4</a:t>
            </a:r>
          </a:p>
        </p:txBody>
      </p:sp>
      <p:sp>
        <p:nvSpPr>
          <p:cNvPr id="19" name="TextBox 18"/>
          <p:cNvSpPr txBox="1"/>
          <p:nvPr/>
        </p:nvSpPr>
        <p:spPr>
          <a:xfrm>
            <a:off x="969264" y="3794760"/>
            <a:ext cx="10680192" cy="594360"/>
          </a:xfrm>
          <a:prstGeom prst="rect">
            <a:avLst/>
          </a:prstGeom>
          <a:noFill/>
        </p:spPr>
        <p:txBody>
          <a:bodyPr wrap="square">
            <a:spAutoFit/>
          </a:bodyPr>
          <a:lstStyle/>
          <a:p>
            <a:pPr algn="l"/>
            <a:r>
              <a:rPr sz="1800" b="0" i="0">
                <a:solidFill>
                  <a:srgbClr val="191919"/>
                </a:solidFill>
                <a:latin typeface="Arial"/>
              </a:rPr>
              <a:t>Inclusion Rule 2: 'No prior sulfonylurea' (drug exposure count = 0 in 365 days prior) — ATLAS UI exclusion</a:t>
            </a:r>
          </a:p>
        </p:txBody>
      </p:sp>
      <p:sp>
        <p:nvSpPr>
          <p:cNvPr id="20" name="Rectangle 19"/>
          <p:cNvSpPr/>
          <p:nvPr/>
        </p:nvSpPr>
        <p:spPr>
          <a:xfrm>
            <a:off x="475488" y="4507992"/>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526280"/>
            <a:ext cx="365760" cy="329184"/>
          </a:xfrm>
          <a:prstGeom prst="rect">
            <a:avLst/>
          </a:prstGeom>
          <a:noFill/>
        </p:spPr>
        <p:txBody>
          <a:bodyPr wrap="square">
            <a:spAutoFit/>
          </a:bodyPr>
          <a:lstStyle/>
          <a:p>
            <a:pPr algn="ctr"/>
            <a:r>
              <a:rPr sz="1500" b="1" i="0">
                <a:solidFill>
                  <a:srgbClr val="FFFFFF"/>
                </a:solidFill>
                <a:latin typeface="Arial"/>
              </a:rPr>
              <a:t>5</a:t>
            </a:r>
          </a:p>
        </p:txBody>
      </p:sp>
      <p:sp>
        <p:nvSpPr>
          <p:cNvPr id="22" name="TextBox 21"/>
          <p:cNvSpPr txBox="1"/>
          <p:nvPr/>
        </p:nvSpPr>
        <p:spPr>
          <a:xfrm>
            <a:off x="969264" y="4507992"/>
            <a:ext cx="10680192" cy="594360"/>
          </a:xfrm>
          <a:prstGeom prst="rect">
            <a:avLst/>
          </a:prstGeom>
          <a:noFill/>
        </p:spPr>
        <p:txBody>
          <a:bodyPr wrap="square">
            <a:spAutoFit/>
          </a:bodyPr>
          <a:lstStyle/>
          <a:p>
            <a:pPr algn="l"/>
            <a:r>
              <a:rPr sz="1800" b="0" i="0">
                <a:solidFill>
                  <a:srgbClr val="191919"/>
                </a:solidFill>
                <a:latin typeface="Arial"/>
              </a:rPr>
              <a:t>Cohort exit: End of continuous drug exposure + 30-day gap</a:t>
            </a:r>
          </a:p>
        </p:txBody>
      </p:sp>
      <p:sp>
        <p:nvSpPr>
          <p:cNvPr id="23" name="Rectangle 22"/>
          <p:cNvSpPr/>
          <p:nvPr/>
        </p:nvSpPr>
        <p:spPr>
          <a:xfrm>
            <a:off x="475488" y="5221224"/>
            <a:ext cx="365760" cy="365760"/>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5239512"/>
            <a:ext cx="365760" cy="329184"/>
          </a:xfrm>
          <a:prstGeom prst="rect">
            <a:avLst/>
          </a:prstGeom>
          <a:noFill/>
        </p:spPr>
        <p:txBody>
          <a:bodyPr wrap="square">
            <a:spAutoFit/>
          </a:bodyPr>
          <a:lstStyle/>
          <a:p>
            <a:pPr algn="ctr"/>
            <a:r>
              <a:rPr sz="1500" b="1" i="0">
                <a:solidFill>
                  <a:srgbClr val="FFFFFF"/>
                </a:solidFill>
                <a:latin typeface="Arial"/>
              </a:rPr>
              <a:t>6</a:t>
            </a:r>
          </a:p>
        </p:txBody>
      </p:sp>
      <p:sp>
        <p:nvSpPr>
          <p:cNvPr id="25" name="TextBox 24"/>
          <p:cNvSpPr txBox="1"/>
          <p:nvPr/>
        </p:nvSpPr>
        <p:spPr>
          <a:xfrm>
            <a:off x="969264" y="5221224"/>
            <a:ext cx="10680192" cy="594360"/>
          </a:xfrm>
          <a:prstGeom prst="rect">
            <a:avLst/>
          </a:prstGeom>
          <a:noFill/>
        </p:spPr>
        <p:txBody>
          <a:bodyPr wrap="square">
            <a:spAutoFit/>
          </a:bodyPr>
          <a:lstStyle/>
          <a:p>
            <a:pPr algn="l"/>
            <a:r>
              <a:rPr sz="1800" b="0" i="0">
                <a:solidFill>
                  <a:srgbClr val="191919"/>
                </a:solidFill>
                <a:latin typeface="Arial"/>
              </a:rPr>
              <a:t>Save → Generate → wait for completion → open the Attrition report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Reading the Attrition Report</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The attrition report shows the count at each step of the cohort building process</a:t>
            </a:r>
          </a:p>
          <a:p>
            <a:pPr>
              <a:spcBef>
                <a:spcPts val="600"/>
              </a:spcBef>
            </a:pPr>
            <a:r>
              <a:rPr sz="1800">
                <a:solidFill>
                  <a:srgbClr val="191919"/>
                </a:solidFill>
                <a:latin typeface="Arial"/>
              </a:rPr>
              <a:t>Row 0: total persons meeting the entry event (ALL qualifying events, before inclusion criteria)</a:t>
            </a:r>
          </a:p>
          <a:p>
            <a:pPr>
              <a:spcBef>
                <a:spcPts val="600"/>
              </a:spcBef>
            </a:pPr>
            <a:r>
              <a:rPr sz="1800">
                <a:solidFill>
                  <a:srgbClr val="191919"/>
                </a:solidFill>
                <a:latin typeface="Arial"/>
              </a:rPr>
              <a:t>Row 1: after applying Inclusion Rule 1 — how many remain?</a:t>
            </a:r>
          </a:p>
          <a:p>
            <a:pPr>
              <a:spcBef>
                <a:spcPts val="600"/>
              </a:spcBef>
            </a:pPr>
            <a:r>
              <a:rPr sz="1800">
                <a:solidFill>
                  <a:srgbClr val="191919"/>
                </a:solidFill>
                <a:latin typeface="Arial"/>
              </a:rPr>
              <a:t>Row 2: after applying Inclusion Rule 2 — how many remain?</a:t>
            </a:r>
          </a:p>
          <a:p>
            <a:pPr>
              <a:spcBef>
                <a:spcPts val="600"/>
              </a:spcBef>
            </a:pPr>
            <a:r>
              <a:rPr sz="1800">
                <a:solidFill>
                  <a:srgbClr val="191919"/>
                </a:solidFill>
                <a:latin typeface="Arial"/>
              </a:rPr>
              <a:t>Final row: the cohort size</a:t>
            </a:r>
          </a:p>
          <a:p>
            <a:pPr>
              <a:spcBef>
                <a:spcPts val="600"/>
              </a:spcBef>
            </a:pPr>
            <a:r>
              <a:rPr sz="1800">
                <a:solidFill>
                  <a:srgbClr val="191919"/>
                </a:solidFill>
                <a:latin typeface="Arial"/>
              </a:rPr>
              <a:t>What the attrition report teaches you:</a:t>
            </a:r>
          </a:p>
          <a:p>
            <a:pPr lvl="1">
              <a:spcBef>
                <a:spcPts val="300"/>
              </a:spcBef>
            </a:pPr>
            <a:r>
              <a:rPr sz="1600">
                <a:solidFill>
                  <a:srgbClr val="191919"/>
                </a:solidFill>
                <a:latin typeface="Arial"/>
              </a:rPr>
              <a:t>A rule that removes almost everyone → probably too strict (temporal window too long?)</a:t>
            </a:r>
          </a:p>
          <a:p>
            <a:pPr lvl="1">
              <a:spcBef>
                <a:spcPts val="300"/>
              </a:spcBef>
            </a:pPr>
            <a:r>
              <a:rPr sz="1600">
                <a:solidFill>
                  <a:srgbClr val="191919"/>
                </a:solidFill>
                <a:latin typeface="Arial"/>
              </a:rPr>
              <a:t>A rule that removes almost no one → probably not functioning as intended</a:t>
            </a:r>
          </a:p>
          <a:p>
            <a:pPr lvl="1">
              <a:spcBef>
                <a:spcPts val="300"/>
              </a:spcBef>
            </a:pPr>
            <a:r>
              <a:rPr sz="1600">
                <a:solidFill>
                  <a:srgbClr val="191919"/>
                </a:solidFill>
                <a:latin typeface="Arial"/>
              </a:rPr>
              <a:t>A rule that removes exactly 0 → may have a logic error — investigate</a:t>
            </a:r>
          </a:p>
          <a:p>
            <a:pPr>
              <a:spcBef>
                <a:spcPts val="600"/>
              </a:spcBef>
            </a:pPr>
            <a:r>
              <a:rPr sz="1800">
                <a:solidFill>
                  <a:srgbClr val="191919"/>
                </a:solidFill>
                <a:latin typeface="Arial"/>
              </a:rPr>
              <a:t>The attrition report is the single most useful diagnostic for cohort validation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Cohort Characterization — Sanity-Check Who You Captured</a:t>
            </a:r>
          </a:p>
        </p:txBody>
      </p:sp>
      <p:sp>
        <p:nvSpPr>
          <p:cNvPr id="5" name="TextBox 4"/>
          <p:cNvSpPr txBox="1"/>
          <p:nvPr/>
        </p:nvSpPr>
        <p:spPr>
          <a:xfrm>
            <a:off x="475488" y="1161288"/>
            <a:ext cx="11237976" cy="5495544"/>
          </a:xfrm>
          <a:prstGeom prst="rect">
            <a:avLst/>
          </a:prstGeom>
          <a:noFill/>
        </p:spPr>
        <p:txBody>
          <a:bodyPr wrap="square">
            <a:spAutoFit/>
          </a:bodyPr>
          <a:lstStyle/>
          <a:p>
            <a:pPr>
              <a:spcBef>
                <a:spcPts val="600"/>
              </a:spcBef>
            </a:pPr>
            <a:r>
              <a:rPr sz="1800">
                <a:solidFill>
                  <a:srgbClr val="191919"/>
                </a:solidFill>
                <a:latin typeface="Arial"/>
              </a:rPr>
              <a:t>After generating a cohort, characterization summarizes WHO is in it</a:t>
            </a:r>
          </a:p>
          <a:p>
            <a:pPr>
              <a:spcBef>
                <a:spcPts val="600"/>
              </a:spcBef>
            </a:pPr>
            <a:r>
              <a:rPr sz="1800">
                <a:solidFill>
                  <a:srgbClr val="191919"/>
                </a:solidFill>
                <a:latin typeface="Arial"/>
              </a:rPr>
              <a:t>Characterization outputs: demographics · prior conditions · prior drugs · procedures</a:t>
            </a:r>
          </a:p>
          <a:p>
            <a:pPr>
              <a:spcBef>
                <a:spcPts val="600"/>
              </a:spcBef>
            </a:pPr>
            <a:r>
              <a:rPr sz="1800">
                <a:solidFill>
                  <a:srgbClr val="191919"/>
                </a:solidFill>
                <a:latin typeface="Arial"/>
              </a:rPr>
              <a:t>Run in ATLAS: Characterization tab on your cohort definition, or via a separate Analysis</a:t>
            </a:r>
          </a:p>
          <a:p>
            <a:pPr>
              <a:spcBef>
                <a:spcPts val="600"/>
              </a:spcBef>
            </a:pPr>
            <a:r>
              <a:rPr sz="1800">
                <a:solidFill>
                  <a:srgbClr val="191919"/>
                </a:solidFill>
                <a:latin typeface="Arial"/>
              </a:rPr>
              <a:t>What to look for:</a:t>
            </a:r>
          </a:p>
          <a:p>
            <a:pPr lvl="1">
              <a:spcBef>
                <a:spcPts val="300"/>
              </a:spcBef>
            </a:pPr>
            <a:r>
              <a:rPr sz="1600">
                <a:solidFill>
                  <a:srgbClr val="191919"/>
                </a:solidFill>
                <a:latin typeface="Arial"/>
              </a:rPr>
              <a:t>Demographics: does the age/sex distribution match what you'd expect for new metformin users?</a:t>
            </a:r>
          </a:p>
          <a:p>
            <a:pPr lvl="1">
              <a:spcBef>
                <a:spcPts val="300"/>
              </a:spcBef>
            </a:pPr>
            <a:r>
              <a:rPr sz="1600">
                <a:solidFill>
                  <a:srgbClr val="191919"/>
                </a:solidFill>
                <a:latin typeface="Arial"/>
              </a:rPr>
              <a:t>Prior conditions: is type 2 diabetes the most common prior condition? (it should be)</a:t>
            </a:r>
          </a:p>
          <a:p>
            <a:pPr lvl="1">
              <a:spcBef>
                <a:spcPts val="300"/>
              </a:spcBef>
            </a:pPr>
            <a:r>
              <a:rPr sz="1600">
                <a:solidFill>
                  <a:srgbClr val="191919"/>
                </a:solidFill>
                <a:latin typeface="Arial"/>
              </a:rPr>
              <a:t>Prior drugs: are other antidiabetic drugs common at baseline? (depends on your design)</a:t>
            </a:r>
          </a:p>
          <a:p>
            <a:pPr>
              <a:spcBef>
                <a:spcPts val="600"/>
              </a:spcBef>
            </a:pPr>
            <a:r>
              <a:rPr sz="1800">
                <a:solidFill>
                  <a:srgbClr val="191919"/>
                </a:solidFill>
                <a:latin typeface="Arial"/>
              </a:rPr>
              <a:t>Characterization is the first face-validity check — if the output looks wrong, revisit the definition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Exporting and Validating Cohort SQL</a:t>
            </a:r>
          </a:p>
        </p:txBody>
      </p:sp>
      <p:sp>
        <p:nvSpPr>
          <p:cNvPr id="5" name="TextBox 4"/>
          <p:cNvSpPr txBox="1"/>
          <p:nvPr/>
        </p:nvSpPr>
        <p:spPr>
          <a:xfrm>
            <a:off x="475488" y="1097280"/>
            <a:ext cx="11237976" cy="411480"/>
          </a:xfrm>
          <a:prstGeom prst="rect">
            <a:avLst/>
          </a:prstGeom>
          <a:noFill/>
        </p:spPr>
        <p:txBody>
          <a:bodyPr wrap="square">
            <a:spAutoFit/>
          </a:bodyPr>
          <a:lstStyle/>
          <a:p>
            <a:pPr algn="l"/>
            <a:r>
              <a:rPr sz="1600" b="0" i="1">
                <a:solidFill>
                  <a:srgbClr val="5A5A5A"/>
                </a:solidFill>
                <a:latin typeface="Arial"/>
              </a:rPr>
              <a:t>Export from ATLAS, then run a validation count in your SQL client:</a:t>
            </a:r>
          </a:p>
        </p:txBody>
      </p:sp>
      <p:sp>
        <p:nvSpPr>
          <p:cNvPr id="6" name="Rectangle 5"/>
          <p:cNvSpPr/>
          <p:nvPr/>
        </p:nvSpPr>
        <p:spPr>
          <a:xfrm>
            <a:off x="475488" y="1527048"/>
            <a:ext cx="11237976" cy="5074920"/>
          </a:xfrm>
          <a:prstGeom prst="rect">
            <a:avLst/>
          </a:prstGeom>
          <a:solidFill>
            <a:srgbClr val="1C1C2C"/>
          </a:solidFill>
          <a:ln w="9525">
            <a:solidFill>
              <a:srgbClr val="5050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36776"/>
            <a:ext cx="10908792" cy="4855464"/>
          </a:xfrm>
          <a:prstGeom prst="rect">
            <a:avLst/>
          </a:prstGeom>
          <a:noFill/>
        </p:spPr>
        <p:txBody>
          <a:bodyPr wrap="none">
            <a:spAutoFit/>
          </a:bodyPr>
          <a:lstStyle/>
          <a:p>
            <a:pPr>
              <a:spcBef>
                <a:spcPts val="100"/>
              </a:spcBef>
            </a:pPr>
            <a:r>
              <a:rPr sz="1300">
                <a:solidFill>
                  <a:srgbClr val="D7D7D7"/>
                </a:solidFill>
                <a:latin typeface="Courier New"/>
              </a:rPr>
              <a:t>-- Step 1: In ATLAS, click Export → SQL (choose your dialect)</a:t>
            </a:r>
          </a:p>
          <a:p>
            <a:pPr>
              <a:spcBef>
                <a:spcPts val="100"/>
              </a:spcBef>
            </a:pPr>
            <a:r>
              <a:rPr sz="1300">
                <a:solidFill>
                  <a:srgbClr val="D7D7D7"/>
                </a:solidFill>
                <a:latin typeface="Courier New"/>
              </a:rPr>
              <a:t>-- Save the SQL and run it in your client to generate the cohort table</a:t>
            </a:r>
          </a:p>
          <a:p>
            <a:pPr>
              <a:spcBef>
                <a:spcPts val="100"/>
              </a:spcBef>
            </a:pPr>
            <a:r>
              <a:rPr sz="1300">
                <a:solidFill>
                  <a:srgbClr val="D7D7D7"/>
                </a:solidFill>
                <a:latin typeface="Courier New"/>
              </a:rPr>
              <a:t/>
            </a:r>
          </a:p>
          <a:p>
            <a:pPr>
              <a:spcBef>
                <a:spcPts val="100"/>
              </a:spcBef>
            </a:pPr>
            <a:r>
              <a:rPr sz="1300">
                <a:solidFill>
                  <a:srgbClr val="D7D7D7"/>
                </a:solidFill>
                <a:latin typeface="Courier New"/>
              </a:rPr>
              <a:t>-- Step 2: Validate the cohort count independently</a:t>
            </a:r>
          </a:p>
          <a:p>
            <a:pPr>
              <a:spcBef>
                <a:spcPts val="100"/>
              </a:spcBef>
            </a:pPr>
            <a:r>
              <a:rPr sz="1300">
                <a:solidFill>
                  <a:srgbClr val="D7D7D7"/>
                </a:solidFill>
                <a:latin typeface="Courier New"/>
              </a:rPr>
              <a:t>SELECT COUNT(DISTINCT subject_id) AS cohort_size</a:t>
            </a:r>
          </a:p>
          <a:p>
            <a:pPr>
              <a:spcBef>
                <a:spcPts val="100"/>
              </a:spcBef>
            </a:pPr>
            <a:r>
              <a:rPr sz="1300">
                <a:solidFill>
                  <a:srgbClr val="D7D7D7"/>
                </a:solidFill>
                <a:latin typeface="Courier New"/>
              </a:rPr>
              <a:t>FROM results.cohort</a:t>
            </a:r>
          </a:p>
          <a:p>
            <a:pPr>
              <a:spcBef>
                <a:spcPts val="100"/>
              </a:spcBef>
            </a:pPr>
            <a:r>
              <a:rPr sz="1300">
                <a:solidFill>
                  <a:srgbClr val="D7D7D7"/>
                </a:solidFill>
                <a:latin typeface="Courier New"/>
              </a:rPr>
              <a:t>WHERE cohort_definition_id = [your_cohort_id];</a:t>
            </a:r>
          </a:p>
          <a:p>
            <a:pPr>
              <a:spcBef>
                <a:spcPts val="100"/>
              </a:spcBef>
            </a:pPr>
            <a:r>
              <a:rPr sz="1300">
                <a:solidFill>
                  <a:srgbClr val="D7D7D7"/>
                </a:solidFill>
                <a:latin typeface="Courier New"/>
              </a:rPr>
              <a:t/>
            </a:r>
          </a:p>
          <a:p>
            <a:pPr>
              <a:spcBef>
                <a:spcPts val="100"/>
              </a:spcBef>
            </a:pPr>
            <a:r>
              <a:rPr sz="1300">
                <a:solidFill>
                  <a:srgbClr val="D7D7D7"/>
                </a:solidFill>
                <a:latin typeface="Courier New"/>
              </a:rPr>
              <a:t>-- Step 3: Compare to Atlas UI count</a:t>
            </a:r>
          </a:p>
          <a:p>
            <a:pPr>
              <a:spcBef>
                <a:spcPts val="100"/>
              </a:spcBef>
            </a:pPr>
            <a:r>
              <a:rPr sz="1300">
                <a:solidFill>
                  <a:srgbClr val="D7D7D7"/>
                </a:solidFill>
                <a:latin typeface="Courier New"/>
              </a:rPr>
              <a:t>-- If they match: your extraction path is trustworthy</a:t>
            </a:r>
          </a:p>
          <a:p>
            <a:pPr>
              <a:spcBef>
                <a:spcPts val="100"/>
              </a:spcBef>
            </a:pPr>
            <a:r>
              <a:rPr sz="1300">
                <a:solidFill>
                  <a:srgbClr val="D7D7D7"/>
                </a:solidFill>
                <a:latin typeface="Courier New"/>
              </a:rPr>
              <a:t>-- If they differ: check CDM version, results schema, vocabulary version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5256"/>
            <a:ext cx="12188952" cy="54864"/>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137160"/>
            <a:ext cx="11713464" cy="777240"/>
          </a:xfrm>
          <a:prstGeom prst="rect">
            <a:avLst/>
          </a:prstGeom>
          <a:noFill/>
        </p:spPr>
        <p:txBody>
          <a:bodyPr wrap="square">
            <a:spAutoFit/>
          </a:bodyPr>
          <a:lstStyle/>
          <a:p>
            <a:pPr algn="l"/>
            <a:r>
              <a:rPr sz="2800" b="1" i="0">
                <a:solidFill>
                  <a:srgbClr val="FFFFFF"/>
                </a:solidFill>
                <a:latin typeface="Century Gothic"/>
              </a:rPr>
              <a:t>Key Takeaways</a:t>
            </a:r>
          </a:p>
        </p:txBody>
      </p:sp>
      <p:sp>
        <p:nvSpPr>
          <p:cNvPr id="5" name="Rectangle 4"/>
          <p:cNvSpPr/>
          <p:nvPr/>
        </p:nvSpPr>
        <p:spPr>
          <a:xfrm>
            <a:off x="475488" y="1170432"/>
            <a:ext cx="11237976" cy="780288"/>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234440"/>
            <a:ext cx="11018520" cy="670560"/>
          </a:xfrm>
          <a:prstGeom prst="rect">
            <a:avLst/>
          </a:prstGeom>
          <a:noFill/>
        </p:spPr>
        <p:txBody>
          <a:bodyPr wrap="square">
            <a:spAutoFit/>
          </a:bodyPr>
          <a:lstStyle/>
          <a:p>
            <a:pPr algn="l"/>
            <a:r>
              <a:rPr sz="1800" b="0" i="0">
                <a:solidFill>
                  <a:srgbClr val="191919"/>
                </a:solidFill>
                <a:latin typeface="Arial"/>
              </a:rPr>
              <a:t>✓  A cohort is a rule set — not a list. Same definition, any OMOP CDM, comparable result</a:t>
            </a:r>
          </a:p>
        </p:txBody>
      </p:sp>
      <p:sp>
        <p:nvSpPr>
          <p:cNvPr id="7" name="Rectangle 6"/>
          <p:cNvSpPr/>
          <p:nvPr/>
        </p:nvSpPr>
        <p:spPr>
          <a:xfrm>
            <a:off x="475488" y="2042160"/>
            <a:ext cx="11237976" cy="780288"/>
          </a:xfrm>
          <a:prstGeom prst="rect">
            <a:avLst/>
          </a:prstGeom>
          <a:solidFill>
            <a:srgbClr val="F8F2FF"/>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2106168"/>
            <a:ext cx="11018520" cy="670560"/>
          </a:xfrm>
          <a:prstGeom prst="rect">
            <a:avLst/>
          </a:prstGeom>
          <a:noFill/>
        </p:spPr>
        <p:txBody>
          <a:bodyPr wrap="square">
            <a:spAutoFit/>
          </a:bodyPr>
          <a:lstStyle/>
          <a:p>
            <a:pPr algn="l"/>
            <a:r>
              <a:rPr sz="1800" b="0" i="0">
                <a:solidFill>
                  <a:srgbClr val="191919"/>
                </a:solidFill>
                <a:latin typeface="Arial"/>
              </a:rPr>
              <a:t>✓  Every cohort has four parts: entry event, concept sets, inclusion criteria, exit</a:t>
            </a:r>
          </a:p>
        </p:txBody>
      </p:sp>
      <p:sp>
        <p:nvSpPr>
          <p:cNvPr id="9" name="Rectangle 8"/>
          <p:cNvSpPr/>
          <p:nvPr/>
        </p:nvSpPr>
        <p:spPr>
          <a:xfrm>
            <a:off x="475488" y="2913888"/>
            <a:ext cx="11237976" cy="780288"/>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2977896"/>
            <a:ext cx="11018520" cy="670560"/>
          </a:xfrm>
          <a:prstGeom prst="rect">
            <a:avLst/>
          </a:prstGeom>
          <a:noFill/>
        </p:spPr>
        <p:txBody>
          <a:bodyPr wrap="square">
            <a:spAutoFit/>
          </a:bodyPr>
          <a:lstStyle/>
          <a:p>
            <a:pPr algn="l"/>
            <a:r>
              <a:rPr sz="1800" b="0" i="0">
                <a:solidFill>
                  <a:srgbClr val="191919"/>
                </a:solidFill>
                <a:latin typeface="Arial"/>
              </a:rPr>
              <a:t>✓  Temporal logic is the most common source of errors — review the attrition report carefully</a:t>
            </a:r>
          </a:p>
        </p:txBody>
      </p:sp>
      <p:sp>
        <p:nvSpPr>
          <p:cNvPr id="11" name="Rectangle 10"/>
          <p:cNvSpPr/>
          <p:nvPr/>
        </p:nvSpPr>
        <p:spPr>
          <a:xfrm>
            <a:off x="475488" y="3785616"/>
            <a:ext cx="11237976" cy="780288"/>
          </a:xfrm>
          <a:prstGeom prst="rect">
            <a:avLst/>
          </a:prstGeom>
          <a:solidFill>
            <a:srgbClr val="F8F2FF"/>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3849624"/>
            <a:ext cx="11018520" cy="670560"/>
          </a:xfrm>
          <a:prstGeom prst="rect">
            <a:avLst/>
          </a:prstGeom>
          <a:noFill/>
        </p:spPr>
        <p:txBody>
          <a:bodyPr wrap="square">
            <a:spAutoFit/>
          </a:bodyPr>
          <a:lstStyle/>
          <a:p>
            <a:pPr algn="l"/>
            <a:r>
              <a:rPr sz="1800" b="0" i="0">
                <a:solidFill>
                  <a:srgbClr val="191919"/>
                </a:solidFill>
                <a:latin typeface="Arial"/>
              </a:rPr>
              <a:t>✓  ATLAS is the primary tool for cohort building: graphical, version-controlled, exportable</a:t>
            </a:r>
          </a:p>
        </p:txBody>
      </p:sp>
      <p:sp>
        <p:nvSpPr>
          <p:cNvPr id="13" name="Rectangle 12"/>
          <p:cNvSpPr/>
          <p:nvPr/>
        </p:nvSpPr>
        <p:spPr>
          <a:xfrm>
            <a:off x="475488" y="4657344"/>
            <a:ext cx="11237976" cy="780288"/>
          </a:xfrm>
          <a:prstGeom prst="rect">
            <a:avLst/>
          </a:prstGeom>
          <a:solidFill>
            <a:srgbClr val="ECDFF3"/>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4721352"/>
            <a:ext cx="11018520" cy="670560"/>
          </a:xfrm>
          <a:prstGeom prst="rect">
            <a:avLst/>
          </a:prstGeom>
          <a:noFill/>
        </p:spPr>
        <p:txBody>
          <a:bodyPr wrap="square">
            <a:spAutoFit/>
          </a:bodyPr>
          <a:lstStyle/>
          <a:p>
            <a:pPr algn="l"/>
            <a:r>
              <a:rPr sz="1800" b="0" i="0">
                <a:solidFill>
                  <a:srgbClr val="191919"/>
                </a:solidFill>
                <a:latin typeface="Arial"/>
              </a:rPr>
              <a:t>✓  Characterization is the first sanity check: does the population look like what you intended?</a:t>
            </a:r>
          </a:p>
        </p:txBody>
      </p:sp>
      <p:sp>
        <p:nvSpPr>
          <p:cNvPr id="15" name="Rectangle 14"/>
          <p:cNvSpPr/>
          <p:nvPr/>
        </p:nvSpPr>
        <p:spPr>
          <a:xfrm>
            <a:off x="475488" y="5529072"/>
            <a:ext cx="11237976" cy="780288"/>
          </a:xfrm>
          <a:prstGeom prst="rect">
            <a:avLst/>
          </a:prstGeom>
          <a:solidFill>
            <a:srgbClr val="F8F2FF"/>
          </a:solidFill>
          <a:ln w="9525">
            <a:solidFill>
              <a:srgbClr val="90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6" y="5593080"/>
            <a:ext cx="11018520" cy="670560"/>
          </a:xfrm>
          <a:prstGeom prst="rect">
            <a:avLst/>
          </a:prstGeom>
          <a:noFill/>
        </p:spPr>
        <p:txBody>
          <a:bodyPr wrap="square">
            <a:spAutoFit/>
          </a:bodyPr>
          <a:lstStyle/>
          <a:p>
            <a:pPr algn="l"/>
            <a:r>
              <a:rPr sz="1800" b="0" i="0">
                <a:solidFill>
                  <a:srgbClr val="191919"/>
                </a:solidFill>
                <a:latin typeface="Arial"/>
              </a:rPr>
              <a:t>✓  Always validate cohort counts against your SQL client — if they disagree, investigate before analysis</a:t>
            </a:r>
          </a:p>
        </p:txBody>
      </p:sp>
      <p:sp>
        <p:nvSpPr>
          <p:cNvPr id="17" name="TextBox 16"/>
          <p:cNvSpPr txBox="1"/>
          <p:nvPr/>
        </p:nvSpPr>
        <p:spPr>
          <a:xfrm>
            <a:off x="475488" y="6428232"/>
            <a:ext cx="11237976" cy="347472"/>
          </a:xfrm>
          <a:prstGeom prst="rect">
            <a:avLst/>
          </a:prstGeom>
          <a:noFill/>
        </p:spPr>
        <p:txBody>
          <a:bodyPr wrap="square">
            <a:spAutoFit/>
          </a:bodyPr>
          <a:lstStyle/>
          <a:p>
            <a:pPr algn="l"/>
            <a:r>
              <a:rPr sz="1400" b="0" i="1">
                <a:solidFill>
                  <a:srgbClr val="5A5A5A"/>
                </a:solidFill>
                <a:latin typeface="Arial"/>
              </a:rPr>
              <a:t>Next session: Day 4 · Data Extraction — turning your cohort into an analytic dataset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04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90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828800"/>
            <a:ext cx="11237976" cy="1188720"/>
          </a:xfrm>
          <a:prstGeom prst="rect">
            <a:avLst/>
          </a:prstGeom>
          <a:noFill/>
        </p:spPr>
        <p:txBody>
          <a:bodyPr wrap="square">
            <a:spAutoFit/>
          </a:bodyPr>
          <a:lstStyle/>
          <a:p>
            <a:pPr algn="l"/>
            <a:r>
              <a:rPr sz="4400" b="1" i="0">
                <a:solidFill>
                  <a:srgbClr val="FFFFFF"/>
                </a:solidFill>
                <a:latin typeface="Century Gothic"/>
              </a:rPr>
              <a:t>Thank You.  Questions?</a:t>
            </a:r>
          </a:p>
        </p:txBody>
      </p:sp>
      <p:sp>
        <p:nvSpPr>
          <p:cNvPr id="6" name="TextBox 5"/>
          <p:cNvSpPr txBox="1"/>
          <p:nvPr/>
        </p:nvSpPr>
        <p:spPr>
          <a:xfrm>
            <a:off x="475488" y="3383280"/>
            <a:ext cx="11237976" cy="640080"/>
          </a:xfrm>
          <a:prstGeom prst="rect">
            <a:avLst/>
          </a:prstGeom>
          <a:noFill/>
        </p:spPr>
        <p:txBody>
          <a:bodyPr wrap="square">
            <a:spAutoFit/>
          </a:bodyPr>
          <a:lstStyle/>
          <a:p>
            <a:pPr algn="l"/>
            <a:r>
              <a:rPr sz="2400" b="0" i="0">
                <a:solidFill>
                  <a:srgbClr val="FFFFFF"/>
                </a:solidFill>
                <a:latin typeface="Arial"/>
              </a:rPr>
              <a:t>Danielle Boyce</a:t>
            </a:r>
          </a:p>
        </p:txBody>
      </p:sp>
      <p:sp>
        <p:nvSpPr>
          <p:cNvPr id="7" name="TextBox 6"/>
          <p:cNvSpPr txBox="1"/>
          <p:nvPr/>
        </p:nvSpPr>
        <p:spPr>
          <a:xfrm>
            <a:off x="475488" y="3977639"/>
            <a:ext cx="11237976" cy="640080"/>
          </a:xfrm>
          <a:prstGeom prst="rect">
            <a:avLst/>
          </a:prstGeom>
          <a:noFill/>
        </p:spPr>
        <p:txBody>
          <a:bodyPr wrap="square">
            <a:spAutoFit/>
          </a:bodyPr>
          <a:lstStyle/>
          <a:p>
            <a:pPr algn="l"/>
            <a:r>
              <a:rPr sz="2200" b="0" i="0">
                <a:solidFill>
                  <a:srgbClr val="D9C4E6"/>
                </a:solidFill>
                <a:latin typeface="Arial"/>
              </a:rPr>
              <a:t>dboyce@als.net</a:t>
            </a:r>
          </a:p>
        </p:txBody>
      </p:sp>
      <p:sp>
        <p:nvSpPr>
          <p:cNvPr id="8" name="TextBox 7"/>
          <p:cNvSpPr txBox="1"/>
          <p:nvPr/>
        </p:nvSpPr>
        <p:spPr>
          <a:xfrm>
            <a:off x="475488" y="6309360"/>
            <a:ext cx="8229600" cy="365760"/>
          </a:xfrm>
          <a:prstGeom prst="rect">
            <a:avLst/>
          </a:prstGeom>
          <a:noFill/>
        </p:spPr>
        <p:txBody>
          <a:bodyPr wrap="square">
            <a:spAutoFit/>
          </a:bodyPr>
          <a:lstStyle/>
          <a:p>
            <a:pPr algn="l"/>
            <a:r>
              <a:rPr sz="1300" b="0" i="0">
                <a:solidFill>
                  <a:srgbClr val="AEC4D2"/>
                </a:solidFill>
                <a:latin typeface="Arial"/>
              </a:rP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