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useful framing: data quality is always relative to the study question. A 10% rate of unmapped drug codes is irrelevant in a cardiovascular procedure study but critical in a pharmacoepidemiology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category with a real example from the training CDM if possible. Key message: 'failed' doesn't mean 'unusable' — a high unmapped rate in a domain irrelevant to your study doesn't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access to a real DQD report for the training CDM, walk through it live here. Show how to filter by threshold, by category, and by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most important practical lessons in the program. Have participants share examples of times they thought data was 'missing' and it turned out to be a concept set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practical skill in Day 2. Walk through a live Atlas concept set build and show both the Included Concepts and Mapped tabs. Ask: what happens to patients whose drug was coded with a source code that doesn't appear in Mapped?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one participant share their screen for the build. Focus discussion on the Mapped tab — ask: which source codes appear? Would you have expected all of them? What happens if a site's drug codes are in a different vocabulary that doesn't appear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reconciliation logic: (1) confirm concept_id from Atlas matches what you used in SQL, (2) check for non-standard concepts in the set, (3) check that both queries point to the same CDM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188720"/>
            <a:ext cx="3291840" cy="4572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52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entury Gothic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112379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Vocabulary &amp;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4297680"/>
            <a:ext cx="112379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Concept sets in ATLAS · Data Quality Dashboard · SQL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55448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entury Gothic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017520"/>
            <a:ext cx="1123797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>
                <a:solidFill>
                  <a:srgbClr val="D9C4E6"/>
                </a:solidFill>
                <a:latin typeface="Arial"/>
              </a:rPr>
              <a:t>Thank you for being here and for investing your time in this work.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D9C4E6"/>
                </a:solidFill>
                <a:latin typeface="Arial"/>
              </a:rPr>
              <a:t>This program stands on the shoulders of the global OHDSI community and everyone who contributes to open, reproducible health data science.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Recording: today's session is recorded and shared within 24 hours.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Questions: ask anytime in the chat — we'll pause at each section break.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Materials: the slides, participant workbook, and Kahoot live in the program repo.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Breaks: we'll take a short break partway through the session.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Be kind to yourself — this is a lot of material; mastery comes with practice, not in one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61288"/>
            <a:ext cx="1965960" cy="481888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9:00 – 9:15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243584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Recap and Q&amp;A from Day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716328"/>
            <a:ext cx="1965960" cy="481888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98624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9:15 – 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798624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Part 1: Data quality — Kahn framework and DQD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271369"/>
            <a:ext cx="1965960" cy="481888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53665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10:00 – 10:30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353665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Live demo: reading a DQD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826410"/>
            <a:ext cx="1965960" cy="481888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08706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10:30 – 10:45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08706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Break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381451"/>
            <a:ext cx="1965960" cy="481888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463747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10:45 – 11:30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463747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Part 2: Concept sets — what they are and how they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936492"/>
            <a:ext cx="1965960" cy="481888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018788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11:30 – 12:00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018788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Live demo: building a concept set in ATLAS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4491532"/>
            <a:ext cx="1965960" cy="481888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73828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12:00 – 13:00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573828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Lunch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046573"/>
            <a:ext cx="1965960" cy="481888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128869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13:00 – 14:30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128869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SQL lab: build concept set → validate in SQL client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5601614"/>
            <a:ext cx="1965960" cy="481888"/>
          </a:xfrm>
          <a:prstGeom prst="rect">
            <a:avLst/>
          </a:prstGeom>
          <a:solidFill>
            <a:srgbClr val="ECD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683910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14:30 – 15:00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5683910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Discussion: DQ vs concept set problems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6156655"/>
            <a:ext cx="1965960" cy="481888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238951"/>
            <a:ext cx="1828800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0425A"/>
                </a:solidFill>
                <a:latin typeface="Arial"/>
              </a:rPr>
              <a:t>15:00 – 15:30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6238951"/>
            <a:ext cx="9034272" cy="37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919"/>
                </a:solidFill>
                <a:latin typeface="Arial"/>
              </a:rPr>
              <a:t>Recap, homework, Day 3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12379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entury Gothic"/>
              </a:rPr>
              <a:t>Kahoot!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474720"/>
            <a:ext cx="112379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Quick warm-up — let's see what stuck.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4389120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0E3F5"/>
                </a:solidFill>
                <a:latin typeface="Arial"/>
              </a:rPr>
              <a:t>Join at kahoot.it  ·  enter the game PIN on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177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1">
                <a:solidFill>
                  <a:srgbClr val="20425A"/>
                </a:solidFill>
                <a:latin typeface="Century Gothic"/>
              </a:rPr>
              <a:t>insert your favorite quote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Arial"/>
              </a:rPr>
              <a:t>By the end of this session, you will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81912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Explain the Kahn framework categories for data quality (conformance, completeness, plausibility)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24942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76856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94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Describe what the Data Quality Dashboard checks and how thresholds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916936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4436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1693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Distinguish a true data quality problem from a concept set or cohort definition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3584448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611880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8444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Build a concept set in ATLAS using standard concepts with descendants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4251960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79392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51960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Validate a concept set against the CDM using SQL and confirm count matches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Let's discuss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2377440"/>
            <a:ext cx="11237976" cy="2194560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105064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0425A"/>
                </a:solidFill>
                <a:latin typeface="Century Gothic"/>
              </a:rPr>
              <a:t>Tell us about a time you trusted a number that turned out to be wrong.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737360"/>
            <a:ext cx="822960" cy="8229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01368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0"/>
            <a:ext cx="9902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2004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9C4E6"/>
                </a:solidFill>
                <a:latin typeface="Arial"/>
              </a:rPr>
              <a:t>Are the data fit for the question you want to ask?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Why Data Quality Comes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Source data is collected for care and billing — NOT for research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Before any analysis: ask 'Are these data fit for my question?'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OMOP CDM standardizes the format and vocabulary — but cannot fix underlying data problems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Common data quality issues in real-world data: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Under-coding: conditions present clinically but not recorded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Over-coding: diagnoses on claims that reflect billing rules, not clinical reality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Unmapped codes: concept_id = 0 means the code wasn't translated to standard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Temporal artifacts: observation period gaps, implausible dates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The skill is not avoiding bad data — it is recognizing it and deciding whether it threatens your study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The Kahn Framework — Three Categories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143000"/>
          <a:ext cx="112471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297680"/>
              </a:tblGrid>
              <a:tr h="566928"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Category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Definition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  <a:tc>
                  <a:txBody>
                    <a:bodyPr lIns="63500" tIns="38100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entury Gothic"/>
                        </a:rPr>
                        <a:t>OMOP Example</a:t>
                      </a:r>
                    </a:p>
                  </a:txBody>
                  <a:tcPr>
                    <a:solidFill>
                      <a:srgbClr val="20425A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Conformance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Do values follow expected format, type, and relational rules?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Every drug_concept_id must exist in the concept table with domain_id = 'Drug'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Are values present where they are expected to be?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What fraction of condition_occurrence rows have concept_id = 0 (unmapped)?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Plausibility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Are values believable, given what we know clinically?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  <a:tc>
                  <a:txBody>
                    <a:bodyPr lIns="63500" tIns="25400"/>
                    <a:lstStyle/>
                    <a:p>
                      <a:r>
                        <a:rPr sz="1300">
                          <a:solidFill>
                            <a:srgbClr val="191919"/>
                          </a:solidFill>
                          <a:latin typeface="Arial"/>
                        </a:rPr>
                        <a:t>No birth year in the future; no drug era starting before birth</a:t>
                      </a:r>
                    </a:p>
                  </a:txBody>
                  <a:tcPr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The Data Quality Dashboard (DQD)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DQD is an open-source OHDSI R package that operationalizes the Kahn framework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It runs a library of automated checks against an OMOP CDM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Each check has a threshold — the acceptable failure rate (e.g., ≤5% unmapped concept_ids)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DQD produces a report: each check passes or fails against its threshold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Output is viewable in an interactive Shiny dashboard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A useful habit after any ETL or CDM update: run DQD, review failures, decide which ones matter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CRITICAL: a passing DQD does not guarantee your data answer your specific question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CRITICAL: a failed DQD check is not always fatal — context matters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Reading a DQD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24712"/>
            <a:ext cx="5504688" cy="55321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What to Look For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Overall pass rate (% of checks passing)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Failures in the domains relevant to your study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High-failure-count tables (e.g., condition_occurrence, drug_exposure)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Plausibility failures: dates, impossible values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Completeness: concept_id = 0 rates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Conformance: foreign key violations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124712"/>
            <a:ext cx="5504688" cy="5532120"/>
          </a:xfrm>
          <a:prstGeom prst="rect">
            <a:avLst/>
          </a:prstGeom>
          <a:solidFill>
            <a:srgbClr val="F0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How to 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Ask: does this failure affect my study question?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Severity varies by domain and study type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10% concept_id = 0 in drug_exposure: critical for drug studies, negligible for surgical cohorts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Document every DQD failure you reviewed in your study protocol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If unsure: treat it as a sensitivity analysis (run with and without flagged records)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Data Quality or Concept Set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A recurring mistake: blaming the data when the concept set is the real issue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Scenario: your cohort size is unexpectedly small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BEFORE concluding the data has a DQ problem, ask: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Is your concept set built on standard concepts? (non-standard → 0 results)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Did you turn on Include Descendants for drug ingredients or condition classes?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Did you export and run the Atlas SQL in your SQL client — do you get the same count?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191919"/>
                </a:solidFill>
                <a:latin typeface="Arial"/>
              </a:rPr>
              <a:t>Is the CDM schema the same one Atlas generated against?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Only after ruling out concept set and cohort logic issues should you investigate the CDM data itself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This distinction will come up in nearly every project you work 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737360"/>
            <a:ext cx="822960" cy="8229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01368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0"/>
            <a:ext cx="9902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entury Gothic"/>
              </a:rPr>
              <a:t>Concept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2004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9C4E6"/>
                </a:solidFill>
                <a:latin typeface="Arial"/>
              </a:rPr>
              <a:t>Building reusable clinical definitions in ATLAS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What Is a Concept 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A concept set is a named, reusable collection of standard concepts that defines a clinical idea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Examples: 'All sulfonylureas' · 'Type 2 diabetes mellitus' · 'Amyotrophic lateral sclerosis'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You build it once in ATLAS — then reuse it across cohorts, characterizations, and analyses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A concept set is the reusable building block of every OHDSI analysis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Concept sets are exported as JSON from Atlas — version-controlled alongside your study code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The same concept set produces comparable results at any OMOP site — that's the power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Standard and Mapped — Two Critical Toggles in ATLAS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24712"/>
            <a:ext cx="5504688" cy="55321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Standard  (the analysis layer)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Included Concepts tab: shows the standard concepts in your set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EVERY concept in your set must be standard (standard_concept = 'S')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Non-standard concepts in the set → silently returns 0 records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Check: open Included Concepts tab and look at the Standard column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If any concept shows blank → remove it and find its standard equivalent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124712"/>
            <a:ext cx="5504688" cy="5532120"/>
          </a:xfrm>
          <a:prstGeom prst="rect">
            <a:avLst/>
          </a:prstGeom>
          <a:solidFill>
            <a:srgbClr val="F0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121615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0425A"/>
                </a:solidFill>
                <a:latin typeface="Arial"/>
              </a:rPr>
              <a:t>Mapped  (the source audit layer)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719072"/>
            <a:ext cx="523036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Mapped tab: shows source codes (ICD, NDC) that map INTO your standard concepts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This confirms your concept set will capture your site's coding practice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Example: sulfonylurea ingredient captures 40+ ICD-coded drug products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If your site uses a source code that doesn't appear in Mapped → you have a gap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91919"/>
                </a:solidFill>
                <a:latin typeface="Arial"/>
              </a:rPr>
              <a:t>Use Mapped view to find missing coverage — then trace back to the vocabulary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Include Descendants —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61288"/>
            <a:ext cx="11237976" cy="549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Clinical concepts are organized in hierarchies: ingredient → product → branded product → dose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Example: 'Metformin' (ingredient) has 100+ descendants (products, formulations, combinations)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WITHOUT Include Descendants: your concept set only captures the exact concept you added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You would miss: Metformin HCl 500mg tablet, Metformin XR 1000mg, Glucophage, etc.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WITH Include Descendants: every product, dose, and form below the ingredient is captured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Rule of thumb: for drug ingredients → always Include Descendants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For condition concepts: Include Descendants usually correct, but review what you're capturing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91919"/>
                </a:solidFill>
                <a:latin typeface="Arial"/>
              </a:rPr>
              <a:t>The concept_ancestor table is what powers 'Include Descendants' in Atlas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320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2379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entury Gothic"/>
              </a:rPr>
              <a:t>Lab:  Building a Concept Set in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2872" y="2011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⏱  ~35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24712"/>
            <a:ext cx="11237976" cy="402336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97864"/>
            <a:ext cx="11055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0337"/>
                </a:solidFill>
                <a:latin typeface="Arial"/>
              </a:rPr>
              <a:t>Tool: ATLAS (your site's instance) · SQL client for validation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65506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7335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65506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Open ATLAS (your site's URL) → navigate to Concept Sets → New Concept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368296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38658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36829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Name it: 'TtT Day2 Sulfonylureas [your initials]'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081528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09981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081528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Search for 'sulfonylureas' → find the standard ingredient class concept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794760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81304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3794760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Add to concept set → toggle Include Descendants 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507992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52628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507992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Open Included Concepts tab — are all concepts standard? Count how many descendants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5221224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23951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221224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Open Mapped tab — what source codes map in? Note any surprising inclusions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934456"/>
            <a:ext cx="365760" cy="365760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95274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5934456"/>
            <a:ext cx="10680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Export the concept set (JSON) — save to your labs folder in the program repo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Validating Your Concept Set with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097280"/>
            <a:ext cx="11237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A5A5A"/>
                </a:solidFill>
                <a:latin typeface="Arial"/>
              </a:rPr>
              <a:t>After building in Atlas, confirm the count matches by running the equivalent SQL in your client: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27048"/>
            <a:ext cx="11237976" cy="5074920"/>
          </a:xfrm>
          <a:prstGeom prst="rect">
            <a:avLst/>
          </a:prstGeom>
          <a:solidFill>
            <a:srgbClr val="1C1C2C"/>
          </a:solidFill>
          <a:ln w="9525">
            <a:solidFill>
              <a:srgbClr val="5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36776"/>
            <a:ext cx="10908792" cy="4855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Count drug exposures for sulfonylureas using ancestor join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Replace [sulfonylurea_class_id] with the concept_id from Atlas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SELECT COUNT(*)                     AS total_exposures,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     COUNT(DISTINCT de.person_id) AS unique_patients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FROM cdm.drug_exposure de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JOIN cdm.concept_ancestor ca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  ON ca.descendant_concept_id = de.drug_concept_id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WHERE ca.ancestor_concept_id = [sulfonylurea_class_id];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Compare to Atlas concept set count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D7D7D7"/>
                </a:solidFill>
                <a:latin typeface="Courier New"/>
              </a:rPr>
              <a:t>-- If they differ, check: non-standard concepts, schema mismatch, or vocabulary version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5256"/>
            <a:ext cx="12188952" cy="54864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7160"/>
            <a:ext cx="11713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170432"/>
            <a:ext cx="11237976" cy="780288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34440"/>
            <a:ext cx="1101852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Data quality is always relative to the study question — context determines whether a failure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2042160"/>
            <a:ext cx="11237976" cy="780288"/>
          </a:xfrm>
          <a:prstGeom prst="rect">
            <a:avLst/>
          </a:prstGeom>
          <a:solidFill>
            <a:srgbClr val="F8F2FF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2106168"/>
            <a:ext cx="1101852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The Kahn framework gives three categories: conformance, completeness, plausibility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913888"/>
            <a:ext cx="11237976" cy="780288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977896"/>
            <a:ext cx="1101852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DQD operationalizes these checks with thresholds — a failed check is not automatically disqualifying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3785616"/>
            <a:ext cx="11237976" cy="780288"/>
          </a:xfrm>
          <a:prstGeom prst="rect">
            <a:avLst/>
          </a:prstGeom>
          <a:solidFill>
            <a:srgbClr val="F8F2FF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3849624"/>
            <a:ext cx="1101852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Concept sets must be built on STANDARD concepts — non-standard concepts silently return nothing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4657344"/>
            <a:ext cx="11237976" cy="780288"/>
          </a:xfrm>
          <a:prstGeom prst="rect">
            <a:avLst/>
          </a:prstGeom>
          <a:solidFill>
            <a:srgbClr val="ECDFF3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721352"/>
            <a:ext cx="1101852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Include Descendants is almost always needed for drugs — without it you miss most formulations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5529072"/>
            <a:ext cx="11237976" cy="780288"/>
          </a:xfrm>
          <a:prstGeom prst="rect">
            <a:avLst/>
          </a:prstGeom>
          <a:solidFill>
            <a:srgbClr val="F8F2FF"/>
          </a:solidFill>
          <a:ln w="9525">
            <a:solidFill>
              <a:srgbClr val="904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5593080"/>
            <a:ext cx="1101852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91919"/>
                </a:solidFill>
                <a:latin typeface="Arial"/>
              </a:rPr>
              <a:t>✓  Validate concept sets with SQL: if Atlas and your SQL client disagree, investigate before proceeding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428232"/>
            <a:ext cx="11237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Arial"/>
              </a:rPr>
              <a:t>Next session: Day 3 · Cohort Definition — building your first new-user cohort in ATLAS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904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1237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entury Gothic"/>
              </a:rPr>
              <a:t>Thank You.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383280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Danielle Boyce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3977639"/>
            <a:ext cx="11237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9C4E6"/>
                </a:solidFill>
                <a:latin typeface="Arial"/>
              </a:rPr>
              <a:t>dboyce@als.net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4D2"/>
                </a:solidFill>
                <a:latin typeface="Arial"/>
              </a:rP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