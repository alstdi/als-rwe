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OHDSI is not a product or a vendor. It is a community. The tools (Atlas, HADES, Athena) are outputs of community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an analogy: OMOP is like a universal electrical adapter standard. Without it, every country (institution) has its own plug shape; with it, one device works everywhere.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describes how the tables are organized. The formal design principles are listed in the Book of OHDSI, section 4.1: suitability for purpose, data protection, design of domains, rationale for domains, standardized vocabularies, reuse of existing vocabularies, maintaining source codes, technology neutrality, scalability, and backwards compatibility. Point learners to that section, since it is the assigned reading.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the top 5 (person, visit, condition, drug, measurement) for Day 1. The others will come up in later exercises. Emphasize: all these tables share person_id as the linking key. For the ALS use case in this program: diagnoses of motor neuron disease are in condition_occurrence, riluzole and other ALS medications are in drug_exposure, and ALSFRS-R scores, where a site records them as structured data, are in observation or measurement depending on how the site mapped them. The ALS TDI data set stores them in observation. At many sites the scores are written in clinic notes and are not in either 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concept 8507 in Athena to show that even demographic values are standardized concepts.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duality (source value and standard concept) is the core of OMOP. Emphasize: you always analyze with standard concepts; the source codes are there for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status is assigned concept by concept, so this table shows the vocabularies that supply most of the standard concepts in each domain, not an exclusive rule. SNOMED also supplies standard measurement concepts, and ICD-O-3 supplies some standard cancer concepts. ATC drug classes are classification concepts (standard_concept = 'C'): they are not recorded in the clinical tables, and they reach the data through their standard RxNorm descendants. The reason drug data from one institution (recorded as NDC codes) can be compared with another (recorded as GPI codes) is that both map to the same RxNorm concepts. Check any row against Athena before teaching it, because vocabulary content changes with each release.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lesson: building a concept set on non-standard (ICD) codes is the #1 mistake new OMOP analysts make. The result is a concept set that returns 0 records because the clinical tables use standard concept_ids, not ICD codes.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participants run this in their SQL client. Ask: which row would you use to build a concept set? Why?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'Maps to' relationship is how OMOP connects source codes to the standard concepts used in analysis. An ICD code usually maps to one standard concept, and some map to more than one. Several ICD codes can map to the same standard concept, sometimes a broader one, so detail in the source code can be lost. That is why the source value and source concept are kept in the clinical tables.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foundation of 'Include Descendants' in Atlas. Rather than listing every riluzole product by hand, you add the ingredient concept and let concept_ancestor pull in all products and forms below it. Demonstrate: run this and count how many descendants riluzole has.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and ask participants to share: which ICD codes mapped to their chosen concept? Were there any concepts in the hierarchy they would have missed if they'd only searched by the top-level term?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20240"/>
            <a:ext cx="10363200" cy="1280160"/>
          </a:xfrm>
        </p:spPr>
        <p:txBody>
          <a:bodyPr anchor="b"/>
          <a:lstStyle>
            <a:lvl1pPr algn="l">
              <a:defRPr sz="4000" b="1"/>
            </a:lvl1pPr>
          </a:lstStyle>
          <a:p>
            <a:r>
              <a:rPr lang="en-US" smtClean="0"/>
              <a:t>Click to edit Master title style</a:t>
            </a:r>
            <a:endParaRPr lang="en-US"/>
          </a:p>
        </p:txBody>
      </p:sp>
      <p:sp>
        <p:nvSpPr>
          <p:cNvPr id="3" name="Text Placeholder 2"/>
          <p:cNvSpPr>
            <a:spLocks noGrp="1"/>
          </p:cNvSpPr>
          <p:nvPr>
            <p:ph type="body" idx="1"/>
          </p:nvPr>
        </p:nvSpPr>
        <p:spPr>
          <a:xfrm>
            <a:off x="963084" y="3291840"/>
            <a:ext cx="10363200" cy="1828800"/>
          </a:xfrm>
        </p:spPr>
        <p:txBody>
          <a:bodyPr anchor="t"/>
          <a:lstStyle>
            <a:lvl1pPr marL="0" indent="0" algn="l">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OMOP Common Data Model</a:t>
            </a:r>
          </a:p>
          <a:p>
            <a:r>
              <a:t>and Standardized Vocabularies</a:t>
            </a:r>
          </a:p>
        </p:txBody>
      </p:sp>
      <p:sp>
        <p:nvSpPr>
          <p:cNvPr id="3" name="Subtitle 2"/>
          <p:cNvSpPr>
            <a:spLocks noGrp="1"/>
          </p:cNvSpPr>
          <p:nvPr>
            <p:ph type="subTitle" idx="1"/>
          </p:nvPr>
        </p:nvSpPr>
        <p:spPr/>
        <p:txBody>
          <a:bodyPr/>
          <a:lstStyle/>
          <a:p>
            <a:pPr marL="0" indent="0">
              <a:buNone/>
            </a:pPr>
            <a:r>
              <a:t>DAY 1</a:t>
            </a:r>
          </a:p>
          <a:p>
            <a:pPr marL="0" indent="0">
              <a:buNone/>
            </a:pPr>
            <a:r>
              <a:t>The foundation of OHDSI observational health data science</a:t>
            </a:r>
          </a:p>
          <a:p>
            <a:pPr marL="0" indent="0">
              <a:buNone/>
            </a:pPr>
            <a:r>
              <a:t>ALS TDI · OHDSI/OMOP Train-the-Trainer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pPr/>
            <a:r>
              <a:rPr sz="2400"/>
              <a:t>Thank you for being here and for investing your time in this work.</a:t>
            </a:r>
          </a:p>
          <a:p>
            <a:pPr/>
            <a:r>
              <a:rPr sz="2400"/>
              <a:t>This program stands on the shoulders of the global OHDSI community and everyone who contributes to open, reproducible health data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Housekeeping</a:t>
            </a:r>
          </a:p>
        </p:txBody>
      </p:sp>
      <p:sp>
        <p:nvSpPr>
          <p:cNvPr id="3" name="Content Placeholder 2"/>
          <p:cNvSpPr>
            <a:spLocks noGrp="1"/>
          </p:cNvSpPr>
          <p:nvPr>
            <p:ph idx="1"/>
          </p:nvPr>
        </p:nvSpPr>
        <p:spPr/>
        <p:txBody>
          <a:bodyPr/>
          <a:lstStyle/>
          <a:p>
            <a:pPr/>
            <a:r>
              <a:rPr sz="2400"/>
              <a:t>Recording: today's session is recorded and shared within 24 hours.</a:t>
            </a:r>
          </a:p>
          <a:p>
            <a:pPr/>
            <a:r>
              <a:rPr sz="2400"/>
              <a:t>Questions: ask anytime in the chat — we'll pause at each section break.</a:t>
            </a:r>
          </a:p>
          <a:p>
            <a:pPr/>
            <a:r>
              <a:rPr sz="2400"/>
              <a:t>Materials: the slides, participant workbook, and Kahoot live in the program repo.</a:t>
            </a:r>
          </a:p>
          <a:p>
            <a:pPr/>
            <a:r>
              <a:rPr sz="2400"/>
              <a:t>Breaks: we'll take a short break partway through the session.</a:t>
            </a:r>
          </a:p>
          <a:p>
            <a:pPr/>
            <a:r>
              <a:rPr sz="2400"/>
              <a:t>Be kind to yourself — this is a lot of material; mastery comes with practice, not in one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graphicFrame>
        <p:nvGraphicFramePr>
          <p:cNvPr id="3" name="Table 2"/>
          <p:cNvGraphicFramePr>
            <a:graphicFrameLocks noGrp="1"/>
          </p:cNvGraphicFramePr>
          <p:nvPr/>
        </p:nvGraphicFramePr>
        <p:xfrm>
          <a:off x="612648" y="1417320"/>
          <a:ext cx="10966703" cy="3600450"/>
        </p:xfrm>
        <a:graphic>
          <a:graphicData uri="http://schemas.openxmlformats.org/drawingml/2006/table">
            <a:tbl>
              <a:tblPr firstRow="1">
                <a:tableStyleId>{5940675A-B579-460E-94D1-54222C63F5DA}</a:tableStyleId>
              </a:tblPr>
              <a:tblGrid>
                <a:gridCol w="2824757"/>
                <a:gridCol w="8141946"/>
              </a:tblGrid>
              <a:tr h="400050">
                <a:tc>
                  <a:txBody>
                    <a:bodyPr wrap="square"/>
                    <a:lstStyle/>
                    <a:p>
                      <a:r>
                        <a:rPr sz="1800" b="1">
                          <a:solidFill>
                            <a:srgbClr val="000000"/>
                          </a:solidFill>
                        </a:rPr>
                        <a:t>Time</a:t>
                      </a:r>
                    </a:p>
                  </a:txBody>
                  <a:tcPr marL="73152" marR="73152" marT="27432" marB="27432"/>
                </a:tc>
                <a:tc>
                  <a:txBody>
                    <a:bodyPr wrap="square"/>
                    <a:lstStyle/>
                    <a:p>
                      <a:r>
                        <a:rPr sz="1800" b="1">
                          <a:solidFill>
                            <a:srgbClr val="000000"/>
                          </a:solidFill>
                        </a:rPr>
                        <a:t>Topic</a:t>
                      </a:r>
                    </a:p>
                  </a:txBody>
                  <a:tcPr marL="73152" marR="73152" marT="27432" marB="27432"/>
                </a:tc>
              </a:tr>
              <a:tr h="400050">
                <a:tc>
                  <a:txBody>
                    <a:bodyPr wrap="square"/>
                    <a:lstStyle/>
                    <a:p>
                      <a:r>
                        <a:rPr sz="1800">
                          <a:solidFill>
                            <a:srgbClr val="000000"/>
                          </a:solidFill>
                        </a:rPr>
                        <a:t>9:30 – 9:45</a:t>
                      </a:r>
                    </a:p>
                  </a:txBody>
                  <a:tcPr marL="73152" marR="73152" marT="27432" marB="27432"/>
                </a:tc>
                <a:tc>
                  <a:txBody>
                    <a:bodyPr wrap="square"/>
                    <a:lstStyle/>
                    <a:p>
                      <a:r>
                        <a:rPr sz="1800">
                          <a:solidFill>
                            <a:srgbClr val="000000"/>
                          </a:solidFill>
                        </a:rPr>
                        <a:t>Welcome and OHDSI / OMOP overview</a:t>
                      </a:r>
                    </a:p>
                  </a:txBody>
                  <a:tcPr marL="73152" marR="73152" marT="27432" marB="27432"/>
                </a:tc>
              </a:tr>
              <a:tr h="400050">
                <a:tc>
                  <a:txBody>
                    <a:bodyPr wrap="square"/>
                    <a:lstStyle/>
                    <a:p>
                      <a:r>
                        <a:rPr sz="1800">
                          <a:solidFill>
                            <a:srgbClr val="000000"/>
                          </a:solidFill>
                        </a:rPr>
                        <a:t>9:45 – 10:25</a:t>
                      </a:r>
                    </a:p>
                  </a:txBody>
                  <a:tcPr marL="73152" marR="73152" marT="27432" marB="27432"/>
                </a:tc>
                <a:tc>
                  <a:txBody>
                    <a:bodyPr wrap="square"/>
                    <a:lstStyle/>
                    <a:p>
                      <a:r>
                        <a:rPr sz="1800">
                          <a:solidFill>
                            <a:srgbClr val="000000"/>
                          </a:solidFill>
                        </a:rPr>
                        <a:t>CDM architecture: clinical tables</a:t>
                      </a:r>
                    </a:p>
                  </a:txBody>
                  <a:tcPr marL="73152" marR="73152" marT="27432" marB="27432"/>
                </a:tc>
              </a:tr>
              <a:tr h="400050">
                <a:tc>
                  <a:txBody>
                    <a:bodyPr wrap="square"/>
                    <a:lstStyle/>
                    <a:p>
                      <a:r>
                        <a:rPr sz="1800">
                          <a:solidFill>
                            <a:srgbClr val="000000"/>
                          </a:solidFill>
                        </a:rPr>
                        <a:t>10:25 – 10:40</a:t>
                      </a:r>
                    </a:p>
                  </a:txBody>
                  <a:tcPr marL="73152" marR="73152" marT="27432" marB="27432"/>
                </a:tc>
                <a:tc>
                  <a:txBody>
                    <a:bodyPr wrap="square"/>
                    <a:lstStyle/>
                    <a:p>
                      <a:r>
                        <a:rPr sz="1800">
                          <a:solidFill>
                            <a:srgbClr val="000000"/>
                          </a:solidFill>
                        </a:rPr>
                        <a:t>Break</a:t>
                      </a:r>
                    </a:p>
                  </a:txBody>
                  <a:tcPr marL="73152" marR="73152" marT="27432" marB="27432"/>
                </a:tc>
              </a:tr>
              <a:tr h="400050">
                <a:tc>
                  <a:txBody>
                    <a:bodyPr wrap="square"/>
                    <a:lstStyle/>
                    <a:p>
                      <a:r>
                        <a:rPr sz="1800">
                          <a:solidFill>
                            <a:srgbClr val="000000"/>
                          </a:solidFill>
                        </a:rPr>
                        <a:t>10:40 – 11:10</a:t>
                      </a:r>
                    </a:p>
                  </a:txBody>
                  <a:tcPr marL="73152" marR="73152" marT="27432" marB="27432"/>
                </a:tc>
                <a:tc>
                  <a:txBody>
                    <a:bodyPr wrap="square"/>
                    <a:lstStyle/>
                    <a:p>
                      <a:r>
                        <a:rPr sz="1800">
                          <a:solidFill>
                            <a:srgbClr val="000000"/>
                          </a:solidFill>
                        </a:rPr>
                        <a:t>Vocabulary tables and standardization</a:t>
                      </a:r>
                    </a:p>
                  </a:txBody>
                  <a:tcPr marL="73152" marR="73152" marT="27432" marB="27432"/>
                </a:tc>
              </a:tr>
              <a:tr h="400050">
                <a:tc>
                  <a:txBody>
                    <a:bodyPr wrap="square"/>
                    <a:lstStyle/>
                    <a:p>
                      <a:r>
                        <a:rPr sz="1800">
                          <a:solidFill>
                            <a:srgbClr val="000000"/>
                          </a:solidFill>
                        </a:rPr>
                        <a:t>11:10 – 11:35</a:t>
                      </a:r>
                    </a:p>
                  </a:txBody>
                  <a:tcPr marL="73152" marR="73152" marT="27432" marB="27432"/>
                </a:tc>
                <a:tc>
                  <a:txBody>
                    <a:bodyPr wrap="square"/>
                    <a:lstStyle/>
                    <a:p>
                      <a:r>
                        <a:rPr sz="1800">
                          <a:solidFill>
                            <a:srgbClr val="000000"/>
                          </a:solidFill>
                        </a:rPr>
                        <a:t>Live demo: Athena vocabulary browser</a:t>
                      </a:r>
                    </a:p>
                  </a:txBody>
                  <a:tcPr marL="73152" marR="73152" marT="27432" marB="27432"/>
                </a:tc>
              </a:tr>
              <a:tr h="400050">
                <a:tc>
                  <a:txBody>
                    <a:bodyPr wrap="square"/>
                    <a:lstStyle/>
                    <a:p>
                      <a:r>
                        <a:rPr sz="1800">
                          <a:solidFill>
                            <a:srgbClr val="000000"/>
                          </a:solidFill>
                        </a:rPr>
                        <a:t>11:35 – 12:25</a:t>
                      </a:r>
                    </a:p>
                  </a:txBody>
                  <a:tcPr marL="73152" marR="73152" marT="27432" marB="27432"/>
                </a:tc>
                <a:tc>
                  <a:txBody>
                    <a:bodyPr wrap="square"/>
                    <a:lstStyle/>
                    <a:p>
                      <a:r>
                        <a:rPr sz="1800">
                          <a:solidFill>
                            <a:srgbClr val="000000"/>
                          </a:solidFill>
                        </a:rPr>
                        <a:t>SQL lab: explore CDM and vocabulary tables</a:t>
                      </a:r>
                    </a:p>
                  </a:txBody>
                  <a:tcPr marL="73152" marR="73152" marT="27432" marB="27432"/>
                </a:tc>
              </a:tr>
              <a:tr h="400050">
                <a:tc>
                  <a:txBody>
                    <a:bodyPr wrap="square"/>
                    <a:lstStyle/>
                    <a:p>
                      <a:r>
                        <a:rPr sz="1800">
                          <a:solidFill>
                            <a:srgbClr val="000000"/>
                          </a:solidFill>
                        </a:rPr>
                        <a:t>12:25 – 12:45</a:t>
                      </a:r>
                    </a:p>
                  </a:txBody>
                  <a:tcPr marL="73152" marR="73152" marT="27432" marB="27432"/>
                </a:tc>
                <a:tc>
                  <a:txBody>
                    <a:bodyPr wrap="square"/>
                    <a:lstStyle/>
                    <a:p>
                      <a:r>
                        <a:rPr sz="1800">
                          <a:solidFill>
                            <a:srgbClr val="000000"/>
                          </a:solidFill>
                        </a:rPr>
                        <a:t>Discussion: standard vs non-standard concepts</a:t>
                      </a:r>
                    </a:p>
                  </a:txBody>
                  <a:tcPr marL="73152" marR="73152" marT="27432" marB="27432"/>
                </a:tc>
              </a:tr>
              <a:tr h="400050">
                <a:tc>
                  <a:txBody>
                    <a:bodyPr wrap="square"/>
                    <a:lstStyle/>
                    <a:p>
                      <a:r>
                        <a:rPr sz="1800">
                          <a:solidFill>
                            <a:srgbClr val="000000"/>
                          </a:solidFill>
                        </a:rPr>
                        <a:t>12:45 – 1:00</a:t>
                      </a:r>
                    </a:p>
                  </a:txBody>
                  <a:tcPr marL="73152" marR="73152" marT="27432" marB="27432"/>
                </a:tc>
                <a:tc>
                  <a:txBody>
                    <a:bodyPr wrap="square"/>
                    <a:lstStyle/>
                    <a:p>
                      <a:r>
                        <a:rPr sz="1800">
                          <a:solidFill>
                            <a:srgbClr val="000000"/>
                          </a:solidFill>
                        </a:rPr>
                        <a:t>Recap, homework, Day 2 preview</a:t>
                      </a:r>
                    </a:p>
                  </a:txBody>
                  <a:tcPr marL="73152" marR="73152" marT="27432" marB="27432"/>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Kahoot!</a:t>
            </a:r>
          </a:p>
        </p:txBody>
      </p:sp>
      <p:sp>
        <p:nvSpPr>
          <p:cNvPr id="3" name="Text Placeholder 2"/>
          <p:cNvSpPr>
            <a:spLocks noGrp="1"/>
          </p:cNvSpPr>
          <p:nvPr>
            <p:ph type="body" idx="1"/>
          </p:nvPr>
        </p:nvSpPr>
        <p:spPr/>
        <p:txBody>
          <a:bodyPr/>
          <a:lstStyle/>
          <a:p>
            <a:pPr marL="0" indent="0">
              <a:buNone/>
            </a:pPr>
            <a:r>
              <a:t>Quick warm-up — let's see what stuck.</a:t>
            </a:r>
          </a:p>
          <a:p>
            <a:pPr marL="0" indent="0">
              <a:buNone/>
            </a:pPr>
            <a:r>
              <a:t>Join at kahoot.it  ·  enter the game PIN on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marL="0" indent="0">
              <a:buNone/>
            </a:pPr>
            <a:r>
              <a:rPr i="1" sz="2400"/>
              <a:t>By the end of this session, you will be able to:</a:t>
            </a:r>
          </a:p>
          <a:p>
            <a:pPr marL="0" indent="0">
              <a:buNone/>
            </a:pPr>
            <a:r>
              <a:rPr sz="2400"/>
              <a:t>1. Explain the purpose of the OMOP CDM and its key design principles</a:t>
            </a:r>
          </a:p>
          <a:p>
            <a:pPr marL="0" indent="0">
              <a:buNone/>
            </a:pPr>
            <a:r>
              <a:rPr sz="2400"/>
              <a:t>2. Identify and describe the core clinical and vocabulary tables</a:t>
            </a:r>
          </a:p>
          <a:p>
            <a:pPr marL="0" indent="0">
              <a:buNone/>
            </a:pPr>
            <a:r>
              <a:rPr sz="2400"/>
              <a:t>3. Distinguish between standard and non-standard concepts</a:t>
            </a:r>
          </a:p>
          <a:p>
            <a:pPr marL="0" indent="0">
              <a:buNone/>
            </a:pPr>
            <a:r>
              <a:rPr sz="2400"/>
              <a:t>4. Navigate Athena to find concepts, relationships, and hierarchies</a:t>
            </a:r>
          </a:p>
          <a:p>
            <a:pPr marL="0" indent="0">
              <a:buNone/>
            </a:pPr>
            <a:r>
              <a:rPr sz="2400"/>
              <a:t>5. Write basic SQL queries to explore OMOP CDM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discuss</a:t>
            </a:r>
          </a:p>
        </p:txBody>
      </p:sp>
      <p:sp>
        <p:nvSpPr>
          <p:cNvPr id="3" name="Content Placeholder 2"/>
          <p:cNvSpPr>
            <a:spLocks noGrp="1"/>
          </p:cNvSpPr>
          <p:nvPr>
            <p:ph idx="1"/>
          </p:nvPr>
        </p:nvSpPr>
        <p:spPr/>
        <p:txBody>
          <a:bodyPr/>
          <a:lstStyle/>
          <a:p>
            <a:pPr marL="0" indent="0">
              <a:buNone/>
            </a:pPr>
            <a:r>
              <a:rPr b="1" sz="2400"/>
              <a:t>In one word: what does 'standardized health data' mean to you right now?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OHDSI?</a:t>
            </a:r>
          </a:p>
        </p:txBody>
      </p:sp>
      <p:sp>
        <p:nvSpPr>
          <p:cNvPr id="3" name="Content Placeholder 2"/>
          <p:cNvSpPr>
            <a:spLocks noGrp="1"/>
          </p:cNvSpPr>
          <p:nvPr>
            <p:ph idx="1" sz="half"/>
          </p:nvPr>
        </p:nvSpPr>
        <p:spPr/>
        <p:txBody>
          <a:bodyPr/>
          <a:lstStyle/>
          <a:p>
            <a:pPr marL="0" indent="0">
              <a:buNone/>
            </a:pPr>
            <a:r>
              <a:rPr b="1" sz="1800"/>
              <a:t>The Organization</a:t>
            </a:r>
          </a:p>
          <a:p>
            <a:pPr/>
            <a:r>
              <a:rPr sz="1800"/>
              <a:t>Observational Health Data Sciences and Informatics</a:t>
            </a:r>
          </a:p>
          <a:p>
            <a:pPr/>
            <a:r>
              <a:rPr sz="1800"/>
              <a:t>Global open-science community: 4,833 collaborators in 88 countries (OHDSI 2025 Year in Review, December 2025)</a:t>
            </a:r>
          </a:p>
          <a:p>
            <a:pPr/>
            <a:r>
              <a:rPr sz="1800"/>
              <a:t>Mission: generate evidence from health data to improve patient health</a:t>
            </a:r>
          </a:p>
          <a:p>
            <a:pPr/>
            <a:r>
              <a:rPr sz="1800"/>
              <a:t>Key outputs: OMOP CDM, Atlas, HADES, Athena, Book of OHDSI</a:t>
            </a:r>
          </a:p>
          <a:p>
            <a:pPr/>
            <a:r>
              <a:rPr sz="1800"/>
              <a:t>Annual global symposium; active forums and workgroups</a:t>
            </a:r>
          </a:p>
        </p:txBody>
      </p:sp>
      <p:sp>
        <p:nvSpPr>
          <p:cNvPr id="4" name="Content Placeholder 3"/>
          <p:cNvSpPr>
            <a:spLocks noGrp="1"/>
          </p:cNvSpPr>
          <p:nvPr>
            <p:ph idx="2" sz="half"/>
          </p:nvPr>
        </p:nvSpPr>
        <p:spPr/>
        <p:txBody>
          <a:bodyPr/>
          <a:lstStyle/>
          <a:p>
            <a:pPr marL="0" indent="0">
              <a:buNone/>
            </a:pPr>
            <a:r>
              <a:rPr b="1" sz="1800"/>
              <a:t>What the Network Offers</a:t>
            </a:r>
          </a:p>
          <a:p>
            <a:pPr/>
            <a:r>
              <a:rPr sz="1800"/>
              <a:t>Data network: about 974 million unique patient records in 54 countries (same source)</a:t>
            </a:r>
          </a:p>
          <a:p>
            <a:pPr/>
            <a:r>
              <a:rPr sz="1800"/>
              <a:t>Studies run at each site without data leaving the institution</a:t>
            </a:r>
          </a:p>
          <a:p>
            <a:pPr/>
            <a:r>
              <a:rPr sz="1800"/>
              <a:t>Open source: all tools are free and community-maintained</a:t>
            </a:r>
          </a:p>
          <a:p>
            <a:pPr/>
            <a:r>
              <a:rPr sz="1800"/>
              <a:t>Portability: the same definition runs unchanged at any OMOP site, and each site gets its own cohort</a:t>
            </a:r>
          </a:p>
          <a:p>
            <a:pPr/>
            <a:r>
              <a:rPr sz="1800"/>
              <a:t>ALS TDI participates in and contributes to the OHDSI network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OMOP CDM? The Problem It Solves</a:t>
            </a:r>
          </a:p>
        </p:txBody>
      </p:sp>
      <p:sp>
        <p:nvSpPr>
          <p:cNvPr id="3" name="Content Placeholder 2"/>
          <p:cNvSpPr>
            <a:spLocks noGrp="1"/>
          </p:cNvSpPr>
          <p:nvPr>
            <p:ph idx="1"/>
          </p:nvPr>
        </p:nvSpPr>
        <p:spPr/>
        <p:txBody>
          <a:bodyPr/>
          <a:lstStyle/>
          <a:p>
            <a:pPr/>
            <a:r>
              <a:rPr sz="1800"/>
              <a:t>EHR systems collect data for care and billing — not for research</a:t>
            </a:r>
          </a:p>
          <a:p>
            <a:pPr/>
            <a:r>
              <a:rPr sz="1800"/>
              <a:t>Every institution's data are in a different format: different code systems, different schemas, different terminology</a:t>
            </a:r>
          </a:p>
          <a:p>
            <a:pPr/>
            <a:r>
              <a:rPr sz="1800"/>
              <a:t>Without standardization: every collaboration needs a bespoke ETL for each data partner</a:t>
            </a:r>
          </a:p>
          <a:p>
            <a:pPr/>
            <a:r>
              <a:rPr sz="1800"/>
              <a:t>With OMOP CDM: one schema, one vocabulary — a study definition written once runs everywhere</a:t>
            </a:r>
          </a:p>
          <a:p>
            <a:pPr marL="0" indent="0">
              <a:buNone/>
            </a:pPr>
            <a:r>
              <a:rPr sz="1800"/>
              <a:t>OMOP standardizes:</a:t>
            </a:r>
          </a:p>
          <a:p>
            <a:pPr lvl="1"/>
            <a:r>
              <a:rPr sz="1600"/>
              <a:t>Schema: same table names and column names at every site</a:t>
            </a:r>
          </a:p>
          <a:p>
            <a:pPr lvl="1"/>
            <a:r>
              <a:rPr sz="1600"/>
              <a:t>Vocabulary: ICD codes, NDC drug codes, LOINC labs → all mapped to standard concepts</a:t>
            </a:r>
          </a:p>
          <a:p>
            <a:pPr lvl="1"/>
            <a:r>
              <a:rPr sz="1600"/>
              <a:t>Time: all events anchored to person-level observation periods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the OMOP CDM Is Organized</a:t>
            </a:r>
          </a:p>
        </p:txBody>
      </p:sp>
      <p:sp>
        <p:nvSpPr>
          <p:cNvPr id="3" name="Content Placeholder 2"/>
          <p:cNvSpPr>
            <a:spLocks noGrp="1"/>
          </p:cNvSpPr>
          <p:nvPr>
            <p:ph idx="1"/>
          </p:nvPr>
        </p:nvSpPr>
        <p:spPr/>
        <p:txBody>
          <a:bodyPr/>
          <a:lstStyle/>
          <a:p>
            <a:pPr/>
            <a:r>
              <a:t>Person-centric: every record links back to a person via person_id</a:t>
            </a:r>
          </a:p>
          <a:p>
            <a:pPr/>
            <a:r>
              <a:t>Event-based: clinical events (conditions, drugs, measurements) are timestamped facts</a:t>
            </a:r>
          </a:p>
          <a:p>
            <a:pPr/>
            <a:r>
              <a:t>Vocabulary-driven: events are recorded with standard concept_ids, and the original source codes are kept alongside them</a:t>
            </a:r>
          </a:p>
          <a:p>
            <a:pPr/>
            <a:r>
              <a:t>Domain-separated: each type of clinical data lives in its own table (condition_occurrence, drug_exposure, measurement, etc.)</a:t>
            </a:r>
          </a:p>
          <a:p>
            <a:pPr/>
            <a:r>
              <a:t>Observation-period bounded: OHDSI tools analyze the events that fall inside a person's observation period</a:t>
            </a:r>
          </a:p>
          <a:p>
            <a:pPr/>
            <a:r>
              <a:t>Reproducible: the same cohort definition applied to any OMOP CDM should produce a comparable result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Clinical Tables — Overview</a:t>
            </a:r>
          </a:p>
        </p:txBody>
      </p:sp>
      <p:graphicFrame>
        <p:nvGraphicFramePr>
          <p:cNvPr id="3" name="Table 2"/>
          <p:cNvGraphicFramePr>
            <a:graphicFrameLocks noGrp="1"/>
          </p:cNvGraphicFramePr>
          <p:nvPr/>
        </p:nvGraphicFramePr>
        <p:xfrm>
          <a:off x="612648" y="1417320"/>
          <a:ext cx="10966703" cy="4559300"/>
        </p:xfrm>
        <a:graphic>
          <a:graphicData uri="http://schemas.openxmlformats.org/drawingml/2006/table">
            <a:tbl>
              <a:tblPr firstRow="1">
                <a:tableStyleId>{5940675A-B579-460E-94D1-54222C63F5DA}</a:tableStyleId>
              </a:tblPr>
              <a:tblGrid>
                <a:gridCol w="3699610"/>
                <a:gridCol w="7267093"/>
              </a:tblGrid>
              <a:tr h="368300">
                <a:tc>
                  <a:txBody>
                    <a:bodyPr wrap="square"/>
                    <a:lstStyle/>
                    <a:p>
                      <a:r>
                        <a:rPr sz="1600" b="1">
                          <a:solidFill>
                            <a:srgbClr val="000000"/>
                          </a:solidFill>
                        </a:rPr>
                        <a:t>Table</a:t>
                      </a:r>
                    </a:p>
                  </a:txBody>
                  <a:tcPr marL="73152" marR="73152" marT="27432" marB="27432"/>
                </a:tc>
                <a:tc>
                  <a:txBody>
                    <a:bodyPr wrap="square"/>
                    <a:lstStyle/>
                    <a:p>
                      <a:r>
                        <a:rPr sz="1600" b="1">
                          <a:solidFill>
                            <a:srgbClr val="000000"/>
                          </a:solidFill>
                        </a:rPr>
                        <a:t>What It Contains</a:t>
                      </a:r>
                    </a:p>
                  </a:txBody>
                  <a:tcPr marL="73152" marR="73152" marT="27432" marB="27432"/>
                </a:tc>
              </a:tr>
              <a:tr h="622300">
                <a:tc>
                  <a:txBody>
                    <a:bodyPr wrap="square"/>
                    <a:lstStyle/>
                    <a:p>
                      <a:r>
                        <a:rPr sz="1600">
                          <a:solidFill>
                            <a:srgbClr val="000000"/>
                          </a:solidFill>
                        </a:rPr>
                        <a:t>person</a:t>
                      </a:r>
                    </a:p>
                  </a:txBody>
                  <a:tcPr marL="73152" marR="73152" marT="27432" marB="27432"/>
                </a:tc>
                <a:tc>
                  <a:txBody>
                    <a:bodyPr wrap="square"/>
                    <a:lstStyle/>
                    <a:p>
                      <a:r>
                        <a:rPr sz="1600">
                          <a:solidFill>
                            <a:srgbClr val="000000"/>
                          </a:solidFill>
                        </a:rPr>
                        <a:t>Demographics: year of birth (and date where available), sex, race, ethnicity</a:t>
                      </a:r>
                    </a:p>
                  </a:txBody>
                  <a:tcPr marL="73152" marR="73152" marT="27432" marB="27432"/>
                </a:tc>
              </a:tr>
              <a:tr h="368300">
                <a:tc>
                  <a:txBody>
                    <a:bodyPr wrap="square"/>
                    <a:lstStyle/>
                    <a:p>
                      <a:r>
                        <a:rPr sz="1600">
                          <a:solidFill>
                            <a:srgbClr val="000000"/>
                          </a:solidFill>
                        </a:rPr>
                        <a:t>visit_occurrence</a:t>
                      </a:r>
                    </a:p>
                  </a:txBody>
                  <a:tcPr marL="73152" marR="73152" marT="27432" marB="27432"/>
                </a:tc>
                <a:tc>
                  <a:txBody>
                    <a:bodyPr wrap="square"/>
                    <a:lstStyle/>
                    <a:p>
                      <a:r>
                        <a:rPr sz="1600">
                          <a:solidFill>
                            <a:srgbClr val="000000"/>
                          </a:solidFill>
                        </a:rPr>
                        <a:t>Encounters: inpatient, outpatient, ED visits with dates and type</a:t>
                      </a:r>
                    </a:p>
                  </a:txBody>
                  <a:tcPr marL="73152" marR="73152" marT="27432" marB="27432"/>
                </a:tc>
              </a:tr>
              <a:tr h="368300">
                <a:tc>
                  <a:txBody>
                    <a:bodyPr wrap="square"/>
                    <a:lstStyle/>
                    <a:p>
                      <a:r>
                        <a:rPr sz="1600">
                          <a:solidFill>
                            <a:srgbClr val="000000"/>
                          </a:solidFill>
                        </a:rPr>
                        <a:t>condition_occurrence</a:t>
                      </a:r>
                    </a:p>
                  </a:txBody>
                  <a:tcPr marL="73152" marR="73152" marT="27432" marB="27432"/>
                </a:tc>
                <a:tc>
                  <a:txBody>
                    <a:bodyPr wrap="square"/>
                    <a:lstStyle/>
                    <a:p>
                      <a:r>
                        <a:rPr sz="1600">
                          <a:solidFill>
                            <a:srgbClr val="000000"/>
                          </a:solidFill>
                        </a:rPr>
                        <a:t>Diagnoses and problem list entries, linked to visit and person</a:t>
                      </a:r>
                    </a:p>
                  </a:txBody>
                  <a:tcPr marL="73152" marR="73152" marT="27432" marB="27432"/>
                </a:tc>
              </a:tr>
              <a:tr h="368300">
                <a:tc>
                  <a:txBody>
                    <a:bodyPr wrap="square"/>
                    <a:lstStyle/>
                    <a:p>
                      <a:r>
                        <a:rPr sz="1600">
                          <a:solidFill>
                            <a:srgbClr val="000000"/>
                          </a:solidFill>
                        </a:rPr>
                        <a:t>drug_exposure</a:t>
                      </a:r>
                    </a:p>
                  </a:txBody>
                  <a:tcPr marL="73152" marR="73152" marT="27432" marB="27432"/>
                </a:tc>
                <a:tc>
                  <a:txBody>
                    <a:bodyPr wrap="square"/>
                    <a:lstStyle/>
                    <a:p>
                      <a:r>
                        <a:rPr sz="1600">
                          <a:solidFill>
                            <a:srgbClr val="000000"/>
                          </a:solidFill>
                        </a:rPr>
                        <a:t>Prescriptions, dispenses, and administrations — all drug events</a:t>
                      </a:r>
                    </a:p>
                  </a:txBody>
                  <a:tcPr marL="73152" marR="73152" marT="27432" marB="27432"/>
                </a:tc>
              </a:tr>
              <a:tr h="368300">
                <a:tc>
                  <a:txBody>
                    <a:bodyPr wrap="square"/>
                    <a:lstStyle/>
                    <a:p>
                      <a:r>
                        <a:rPr sz="1600">
                          <a:solidFill>
                            <a:srgbClr val="000000"/>
                          </a:solidFill>
                        </a:rPr>
                        <a:t>measurement</a:t>
                      </a:r>
                    </a:p>
                  </a:txBody>
                  <a:tcPr marL="73152" marR="73152" marT="27432" marB="27432"/>
                </a:tc>
                <a:tc>
                  <a:txBody>
                    <a:bodyPr wrap="square"/>
                    <a:lstStyle/>
                    <a:p>
                      <a:r>
                        <a:rPr sz="1600">
                          <a:solidFill>
                            <a:srgbClr val="000000"/>
                          </a:solidFill>
                        </a:rPr>
                        <a:t>Lab results, vital signs, quantitative clinical findings</a:t>
                      </a:r>
                    </a:p>
                  </a:txBody>
                  <a:tcPr marL="73152" marR="73152" marT="27432" marB="27432"/>
                </a:tc>
              </a:tr>
              <a:tr h="368300">
                <a:tc>
                  <a:txBody>
                    <a:bodyPr wrap="square"/>
                    <a:lstStyle/>
                    <a:p>
                      <a:r>
                        <a:rPr sz="1600">
                          <a:solidFill>
                            <a:srgbClr val="000000"/>
                          </a:solidFill>
                        </a:rPr>
                        <a:t>procedure_occurrence</a:t>
                      </a:r>
                    </a:p>
                  </a:txBody>
                  <a:tcPr marL="73152" marR="73152" marT="27432" marB="27432"/>
                </a:tc>
                <a:tc>
                  <a:txBody>
                    <a:bodyPr wrap="square"/>
                    <a:lstStyle/>
                    <a:p>
                      <a:r>
                        <a:rPr sz="1600">
                          <a:solidFill>
                            <a:srgbClr val="000000"/>
                          </a:solidFill>
                        </a:rPr>
                        <a:t>Clinical procedures ordered or performed</a:t>
                      </a:r>
                    </a:p>
                  </a:txBody>
                  <a:tcPr marL="73152" marR="73152" marT="27432" marB="27432"/>
                </a:tc>
              </a:tr>
              <a:tr h="622300">
                <a:tc>
                  <a:txBody>
                    <a:bodyPr wrap="square"/>
                    <a:lstStyle/>
                    <a:p>
                      <a:r>
                        <a:rPr sz="1600">
                          <a:solidFill>
                            <a:srgbClr val="000000"/>
                          </a:solidFill>
                        </a:rPr>
                        <a:t>observation</a:t>
                      </a:r>
                    </a:p>
                  </a:txBody>
                  <a:tcPr marL="73152" marR="73152" marT="27432" marB="27432"/>
                </a:tc>
                <a:tc>
                  <a:txBody>
                    <a:bodyPr wrap="square"/>
                    <a:lstStyle/>
                    <a:p>
                      <a:r>
                        <a:rPr sz="1600">
                          <a:solidFill>
                            <a:srgbClr val="000000"/>
                          </a:solidFill>
                        </a:rPr>
                        <a:t>Any clinical fact that doesn't fit another domain (social, family history)</a:t>
                      </a:r>
                    </a:p>
                  </a:txBody>
                  <a:tcPr marL="73152" marR="73152" marT="27432" marB="27432"/>
                </a:tc>
              </a:tr>
              <a:tr h="368300">
                <a:tc>
                  <a:txBody>
                    <a:bodyPr wrap="square"/>
                    <a:lstStyle/>
                    <a:p>
                      <a:r>
                        <a:rPr sz="1600">
                          <a:solidFill>
                            <a:srgbClr val="000000"/>
                          </a:solidFill>
                        </a:rPr>
                        <a:t>device_exposure</a:t>
                      </a:r>
                    </a:p>
                  </a:txBody>
                  <a:tcPr marL="73152" marR="73152" marT="27432" marB="27432"/>
                </a:tc>
                <a:tc>
                  <a:txBody>
                    <a:bodyPr wrap="square"/>
                    <a:lstStyle/>
                    <a:p>
                      <a:r>
                        <a:rPr sz="1600">
                          <a:solidFill>
                            <a:srgbClr val="000000"/>
                          </a:solidFill>
                        </a:rPr>
                        <a:t>Implantable devices, medical equipment, and supplies</a:t>
                      </a:r>
                    </a:p>
                  </a:txBody>
                  <a:tcPr marL="73152" marR="73152" marT="27432" marB="27432"/>
                </a:tc>
              </a:tr>
              <a:tr h="368300">
                <a:tc>
                  <a:txBody>
                    <a:bodyPr wrap="square"/>
                    <a:lstStyle/>
                    <a:p>
                      <a:r>
                        <a:rPr sz="1600">
                          <a:solidFill>
                            <a:srgbClr val="000000"/>
                          </a:solidFill>
                        </a:rPr>
                        <a:t>death</a:t>
                      </a:r>
                    </a:p>
                  </a:txBody>
                  <a:tcPr marL="73152" marR="73152" marT="27432" marB="27432"/>
                </a:tc>
                <a:tc>
                  <a:txBody>
                    <a:bodyPr wrap="square"/>
                    <a:lstStyle/>
                    <a:p>
                      <a:r>
                        <a:rPr sz="1600">
                          <a:solidFill>
                            <a:srgbClr val="000000"/>
                          </a:solidFill>
                        </a:rPr>
                        <a:t>Date and cause of death</a:t>
                      </a:r>
                    </a:p>
                  </a:txBody>
                  <a:tcPr marL="73152" marR="73152" marT="27432" marB="27432"/>
                </a:tc>
              </a:tr>
              <a:tr h="368300">
                <a:tc>
                  <a:txBody>
                    <a:bodyPr wrap="square"/>
                    <a:lstStyle/>
                    <a:p>
                      <a:r>
                        <a:rPr sz="1600">
                          <a:solidFill>
                            <a:srgbClr val="000000"/>
                          </a:solidFill>
                        </a:rPr>
                        <a:t>drug_era / condition_era</a:t>
                      </a:r>
                    </a:p>
                  </a:txBody>
                  <a:tcPr marL="73152" marR="73152" marT="27432" marB="27432"/>
                </a:tc>
                <a:tc>
                  <a:txBody>
                    <a:bodyPr wrap="square"/>
                    <a:lstStyle/>
                    <a:p>
                      <a:r>
                        <a:rPr sz="1600">
                          <a:solidFill>
                            <a:srgbClr val="000000"/>
                          </a:solidFill>
                        </a:rPr>
                        <a:t>Pre-computed continuous exposure or condition periods</a:t>
                      </a:r>
                    </a:p>
                  </a:txBody>
                  <a:tcPr marL="73152" marR="73152" marT="27432" marB="27432"/>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Person Table</a:t>
            </a:r>
          </a:p>
        </p:txBody>
      </p:sp>
      <p:sp>
        <p:nvSpPr>
          <p:cNvPr id="3" name="Content Placeholder 2"/>
          <p:cNvSpPr>
            <a:spLocks noGrp="1"/>
          </p:cNvSpPr>
          <p:nvPr>
            <p:ph idx="1" sz="half"/>
          </p:nvPr>
        </p:nvSpPr>
        <p:spPr/>
        <p:txBody>
          <a:bodyPr/>
          <a:lstStyle/>
          <a:p>
            <a:pPr marL="0" indent="0">
              <a:buNone/>
            </a:pPr>
            <a:r>
              <a:rPr b="1"/>
              <a:t>Key Columns</a:t>
            </a:r>
          </a:p>
          <a:p>
            <a:pPr/>
            <a:r>
              <a:t>person_id — unique, links all other tables</a:t>
            </a:r>
          </a:p>
          <a:p>
            <a:pPr/>
            <a:r>
              <a:t>year_of_birth</a:t>
            </a:r>
          </a:p>
          <a:p>
            <a:pPr/>
            <a:r>
              <a:t>gender_concept_id</a:t>
            </a:r>
          </a:p>
          <a:p>
            <a:pPr/>
            <a:r>
              <a:t>race_concept_id, ethnicity_concept_id</a:t>
            </a:r>
          </a:p>
          <a:p>
            <a:pPr/>
            <a:r>
              <a:t>birth_datetime (if available)</a:t>
            </a:r>
          </a:p>
          <a:p>
            <a:pPr/>
            <a:r>
              <a:t>Death is recorded in the separate death table (CDM v5.3 and v5.4)</a:t>
            </a:r>
          </a:p>
        </p:txBody>
      </p:sp>
      <p:sp>
        <p:nvSpPr>
          <p:cNvPr id="4" name="Content Placeholder 3"/>
          <p:cNvSpPr>
            <a:spLocks noGrp="1"/>
          </p:cNvSpPr>
          <p:nvPr>
            <p:ph idx="2" sz="half"/>
          </p:nvPr>
        </p:nvSpPr>
        <p:spPr/>
        <p:txBody>
          <a:bodyPr/>
          <a:lstStyle/>
          <a:p>
            <a:pPr marL="0" indent="0">
              <a:buNone/>
            </a:pPr>
            <a:r>
              <a:rPr b="1"/>
              <a:t>Important Notes</a:t>
            </a:r>
          </a:p>
          <a:p>
            <a:pPr/>
            <a:r>
              <a:t>No names, SSNs, or direct identifiers</a:t>
            </a:r>
          </a:p>
          <a:p>
            <a:pPr/>
            <a:r>
              <a:t>Gender and race are stored as concept_ids, not strings</a:t>
            </a:r>
          </a:p>
          <a:p>
            <a:pPr/>
            <a:r>
              <a:t>Concept 8507 = Male, 8532 = Female</a:t>
            </a:r>
          </a:p>
          <a:p>
            <a:pPr/>
            <a:r>
              <a:t>One row per patient</a:t>
            </a:r>
          </a:p>
          <a:p>
            <a:pPr/>
            <a:r>
              <a:t>All other tables reference person_id as a foreign key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Condition Occurrence Table</a:t>
            </a:r>
          </a:p>
        </p:txBody>
      </p:sp>
      <p:sp>
        <p:nvSpPr>
          <p:cNvPr id="3" name="Content Placeholder 2"/>
          <p:cNvSpPr>
            <a:spLocks noGrp="1"/>
          </p:cNvSpPr>
          <p:nvPr>
            <p:ph idx="1" sz="half"/>
          </p:nvPr>
        </p:nvSpPr>
        <p:spPr/>
        <p:txBody>
          <a:bodyPr/>
          <a:lstStyle/>
          <a:p>
            <a:pPr marL="0" indent="0">
              <a:buNone/>
            </a:pPr>
            <a:r>
              <a:rPr b="1" sz="1800"/>
              <a:t>Key Columns</a:t>
            </a:r>
          </a:p>
          <a:p>
            <a:pPr/>
            <a:r>
              <a:rPr sz="1800"/>
              <a:t>condition_occurrence_id</a:t>
            </a:r>
          </a:p>
          <a:p>
            <a:pPr/>
            <a:r>
              <a:rPr sz="1800"/>
              <a:t>person_id</a:t>
            </a:r>
          </a:p>
          <a:p>
            <a:pPr/>
            <a:r>
              <a:rPr sz="1800"/>
              <a:t>condition_concept_id (standard)</a:t>
            </a:r>
          </a:p>
          <a:p>
            <a:pPr/>
            <a:r>
              <a:rPr sz="1800"/>
              <a:t>condition_start_date / end_date</a:t>
            </a:r>
          </a:p>
          <a:p>
            <a:pPr/>
            <a:r>
              <a:rPr sz="1800"/>
              <a:t>condition_type_concept_id</a:t>
            </a:r>
          </a:p>
          <a:p>
            <a:pPr/>
            <a:r>
              <a:rPr sz="1800"/>
              <a:t>visit_occurrence_id</a:t>
            </a:r>
          </a:p>
          <a:p>
            <a:pPr/>
            <a:r>
              <a:rPr sz="1800"/>
              <a:t>condition_source_value (original ICD code)</a:t>
            </a:r>
          </a:p>
          <a:p>
            <a:pPr/>
            <a:r>
              <a:rPr sz="1800"/>
              <a:t>condition_source_concept_id</a:t>
            </a:r>
          </a:p>
        </p:txBody>
      </p:sp>
      <p:sp>
        <p:nvSpPr>
          <p:cNvPr id="4" name="Content Placeholder 3"/>
          <p:cNvSpPr>
            <a:spLocks noGrp="1"/>
          </p:cNvSpPr>
          <p:nvPr>
            <p:ph idx="2" sz="half"/>
          </p:nvPr>
        </p:nvSpPr>
        <p:spPr/>
        <p:txBody>
          <a:bodyPr/>
          <a:lstStyle/>
          <a:p>
            <a:pPr marL="0" indent="0">
              <a:buNone/>
            </a:pPr>
            <a:r>
              <a:rPr b="1" sz="1800"/>
              <a:t>Source vs Standard</a:t>
            </a:r>
          </a:p>
          <a:p>
            <a:pPr/>
            <a:r>
              <a:rPr sz="1800"/>
              <a:t>condition_source_value stores the original ICD-9/ICD-10 code</a:t>
            </a:r>
          </a:p>
          <a:p>
            <a:pPr/>
            <a:r>
              <a:rPr sz="1800"/>
              <a:t>condition_concept_id stores the standard concept (SNOMED for most conditions)</a:t>
            </a:r>
          </a:p>
          <a:p>
            <a:pPr/>
            <a:r>
              <a:rPr sz="1800"/>
              <a:t>Mapping from ICD → SNOMED happens during ETL</a:t>
            </a:r>
          </a:p>
          <a:p>
            <a:pPr/>
            <a:r>
              <a:rPr sz="1800"/>
              <a:t>If condition_concept_id = 0, the record was not mapped</a:t>
            </a:r>
          </a:p>
          <a:p>
            <a:pPr/>
            <a:r>
              <a:rPr sz="1800"/>
              <a:t>Analyses should always use condition_concept_id, not source_value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Standardized Vocabularies</a:t>
            </a:r>
          </a:p>
        </p:txBody>
      </p:sp>
      <p:sp>
        <p:nvSpPr>
          <p:cNvPr id="3" name="Text Placeholder 2"/>
          <p:cNvSpPr>
            <a:spLocks noGrp="1"/>
          </p:cNvSpPr>
          <p:nvPr>
            <p:ph type="body" idx="1"/>
          </p:nvPr>
        </p:nvSpPr>
        <p:spPr/>
        <p:txBody>
          <a:bodyPr/>
          <a:lstStyle/>
          <a:p>
            <a:pPr marL="0" indent="0">
              <a:buNone/>
            </a:pPr>
            <a:r>
              <a:t>Standard concepts, relationships, and hierarchy — the key to cross-site comparability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Vocabulary Architecture</a:t>
            </a:r>
          </a:p>
        </p:txBody>
      </p:sp>
      <p:sp>
        <p:nvSpPr>
          <p:cNvPr id="3" name="Content Placeholder 2"/>
          <p:cNvSpPr>
            <a:spLocks noGrp="1"/>
          </p:cNvSpPr>
          <p:nvPr>
            <p:ph idx="1"/>
          </p:nvPr>
        </p:nvSpPr>
        <p:spPr/>
        <p:txBody>
          <a:bodyPr/>
          <a:lstStyle/>
          <a:p>
            <a:pPr/>
            <a:r>
              <a:t>The OMOP CDM includes a full vocabulary schema alongside the clinical data</a:t>
            </a:r>
          </a:p>
          <a:p>
            <a:pPr marL="0" indent="0">
              <a:buNone/>
            </a:pPr>
            <a:r>
              <a:t>Core vocabulary tables:</a:t>
            </a:r>
          </a:p>
          <a:p>
            <a:pPr lvl="1"/>
            <a:r>
              <a:rPr sz="1800"/>
              <a:t>concept — all clinical concepts: standard and non-standard, with metadata</a:t>
            </a:r>
          </a:p>
          <a:p>
            <a:pPr lvl="1"/>
            <a:r>
              <a:rPr sz="1800"/>
              <a:t>concept_relationship — directed links: 'Maps to', 'Is a', 'Subsumes'</a:t>
            </a:r>
          </a:p>
          <a:p>
            <a:pPr lvl="1"/>
            <a:r>
              <a:rPr sz="1800"/>
              <a:t>concept_ancestor — pre-computed hierarchy (all ancestor-descendant pairs)</a:t>
            </a:r>
          </a:p>
          <a:p>
            <a:pPr lvl="1"/>
            <a:r>
              <a:rPr sz="1800"/>
              <a:t>vocabulary — vocabulary metadata and version information</a:t>
            </a:r>
          </a:p>
          <a:p>
            <a:pPr lvl="1"/>
            <a:r>
              <a:rPr sz="1800"/>
              <a:t>domain — domain definitions (Condition, Drug, Measurement, etc.)</a:t>
            </a:r>
          </a:p>
          <a:p>
            <a:pPr/>
            <a:r>
              <a:t>All clinical tables reference concept_id from the concept table — they are tightly linked</a:t>
            </a:r>
          </a:p>
          <a:p>
            <a:pPr/>
            <a:r>
              <a:t>Major vocabulary releases come twice a year (February and August); the loaded version is recorded in the vocabulary table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Main Standard Vocabularies by Domain</a:t>
            </a:r>
          </a:p>
        </p:txBody>
      </p:sp>
      <p:graphicFrame>
        <p:nvGraphicFramePr>
          <p:cNvPr id="3" name="Table 2"/>
          <p:cNvGraphicFramePr>
            <a:graphicFrameLocks noGrp="1"/>
          </p:cNvGraphicFramePr>
          <p:nvPr/>
        </p:nvGraphicFramePr>
        <p:xfrm>
          <a:off x="612648" y="1417320"/>
          <a:ext cx="10966702" cy="4343400"/>
        </p:xfrm>
        <a:graphic>
          <a:graphicData uri="http://schemas.openxmlformats.org/drawingml/2006/table">
            <a:tbl>
              <a:tblPr firstRow="1">
                <a:tableStyleId>{5940675A-B579-460E-94D1-54222C63F5DA}</a:tableStyleId>
              </a:tblPr>
              <a:tblGrid>
                <a:gridCol w="1857264"/>
                <a:gridCol w="4245175"/>
                <a:gridCol w="4864263"/>
              </a:tblGrid>
              <a:tr h="400050">
                <a:tc>
                  <a:txBody>
                    <a:bodyPr wrap="square"/>
                    <a:lstStyle/>
                    <a:p>
                      <a:r>
                        <a:rPr sz="1800" b="1">
                          <a:solidFill>
                            <a:srgbClr val="000000"/>
                          </a:solidFill>
                        </a:rPr>
                        <a:t>OMOP Domain</a:t>
                      </a:r>
                    </a:p>
                  </a:txBody>
                  <a:tcPr marL="73152" marR="73152" marT="27432" marB="27432"/>
                </a:tc>
                <a:tc>
                  <a:txBody>
                    <a:bodyPr wrap="square"/>
                    <a:lstStyle/>
                    <a:p>
                      <a:r>
                        <a:rPr sz="1800" b="1">
                          <a:solidFill>
                            <a:srgbClr val="000000"/>
                          </a:solidFill>
                        </a:rPr>
                        <a:t>Standard Vocabulary</a:t>
                      </a:r>
                    </a:p>
                  </a:txBody>
                  <a:tcPr marL="73152" marR="73152" marT="27432" marB="27432"/>
                </a:tc>
                <a:tc>
                  <a:txBody>
                    <a:bodyPr wrap="square"/>
                    <a:lstStyle/>
                    <a:p>
                      <a:r>
                        <a:rPr sz="1800" b="1">
                          <a:solidFill>
                            <a:srgbClr val="000000"/>
                          </a:solidFill>
                        </a:rPr>
                        <a:t>Source Vocabularies</a:t>
                      </a:r>
                    </a:p>
                  </a:txBody>
                  <a:tcPr marL="73152" marR="73152" marT="27432" marB="27432"/>
                </a:tc>
              </a:tr>
              <a:tr h="685800">
                <a:tc>
                  <a:txBody>
                    <a:bodyPr wrap="square"/>
                    <a:lstStyle/>
                    <a:p>
                      <a:r>
                        <a:rPr sz="1800">
                          <a:solidFill>
                            <a:srgbClr val="000000"/>
                          </a:solidFill>
                        </a:rPr>
                        <a:t>Condition</a:t>
                      </a:r>
                    </a:p>
                  </a:txBody>
                  <a:tcPr marL="73152" marR="73152" marT="27432" marB="27432"/>
                </a:tc>
                <a:tc>
                  <a:txBody>
                    <a:bodyPr wrap="square"/>
                    <a:lstStyle/>
                    <a:p>
                      <a:r>
                        <a:rPr sz="1800">
                          <a:solidFill>
                            <a:srgbClr val="000000"/>
                          </a:solidFill>
                        </a:rPr>
                        <a:t>SNOMED CT (ICD-O-3 for some cancer concepts)</a:t>
                      </a:r>
                    </a:p>
                  </a:txBody>
                  <a:tcPr marL="73152" marR="73152" marT="27432" marB="27432"/>
                </a:tc>
                <a:tc>
                  <a:txBody>
                    <a:bodyPr wrap="square"/>
                    <a:lstStyle/>
                    <a:p>
                      <a:r>
                        <a:rPr sz="1800">
                          <a:solidFill>
                            <a:srgbClr val="000000"/>
                          </a:solidFill>
                        </a:rPr>
                        <a:t>ICD-9-CM, ICD-10-CM</a:t>
                      </a:r>
                    </a:p>
                  </a:txBody>
                  <a:tcPr marL="73152" marR="73152" marT="27432" marB="27432"/>
                </a:tc>
              </a:tr>
              <a:tr h="685800">
                <a:tc>
                  <a:txBody>
                    <a:bodyPr wrap="square"/>
                    <a:lstStyle/>
                    <a:p>
                      <a:r>
                        <a:rPr sz="1800">
                          <a:solidFill>
                            <a:srgbClr val="000000"/>
                          </a:solidFill>
                        </a:rPr>
                        <a:t>Drug</a:t>
                      </a:r>
                    </a:p>
                  </a:txBody>
                  <a:tcPr marL="73152" marR="73152" marT="27432" marB="27432"/>
                </a:tc>
                <a:tc>
                  <a:txBody>
                    <a:bodyPr wrap="square"/>
                    <a:lstStyle/>
                    <a:p>
                      <a:r>
                        <a:rPr sz="1800">
                          <a:solidFill>
                            <a:srgbClr val="000000"/>
                          </a:solidFill>
                        </a:rPr>
                        <a:t>RxNorm, RxNorm Extension</a:t>
                      </a:r>
                    </a:p>
                  </a:txBody>
                  <a:tcPr marL="73152" marR="73152" marT="27432" marB="27432"/>
                </a:tc>
                <a:tc>
                  <a:txBody>
                    <a:bodyPr wrap="square"/>
                    <a:lstStyle/>
                    <a:p>
                      <a:r>
                        <a:rPr sz="1800">
                          <a:solidFill>
                            <a:srgbClr val="000000"/>
                          </a:solidFill>
                        </a:rPr>
                        <a:t>NDC, GPI (ATC supplies classification concepts, not source codes)</a:t>
                      </a:r>
                    </a:p>
                  </a:txBody>
                  <a:tcPr marL="73152" marR="73152" marT="27432" marB="27432"/>
                </a:tc>
              </a:tr>
              <a:tr h="685800">
                <a:tc>
                  <a:txBody>
                    <a:bodyPr wrap="square"/>
                    <a:lstStyle/>
                    <a:p>
                      <a:r>
                        <a:rPr sz="1800">
                          <a:solidFill>
                            <a:srgbClr val="000000"/>
                          </a:solidFill>
                        </a:rPr>
                        <a:t>Measurement / Lab</a:t>
                      </a:r>
                    </a:p>
                  </a:txBody>
                  <a:tcPr marL="73152" marR="73152" marT="27432" marB="27432"/>
                </a:tc>
                <a:tc>
                  <a:txBody>
                    <a:bodyPr wrap="square"/>
                    <a:lstStyle/>
                    <a:p>
                      <a:r>
                        <a:rPr sz="1800">
                          <a:solidFill>
                            <a:srgbClr val="000000"/>
                          </a:solidFill>
                        </a:rPr>
                        <a:t>LOINC, SNOMED</a:t>
                      </a:r>
                    </a:p>
                  </a:txBody>
                  <a:tcPr marL="73152" marR="73152" marT="27432" marB="27432"/>
                </a:tc>
                <a:tc>
                  <a:txBody>
                    <a:bodyPr wrap="square"/>
                    <a:lstStyle/>
                    <a:p>
                      <a:r>
                        <a:rPr sz="1800">
                          <a:solidFill>
                            <a:srgbClr val="000000"/>
                          </a:solidFill>
                        </a:rPr>
                        <a:t>Local lab codes</a:t>
                      </a:r>
                    </a:p>
                  </a:txBody>
                  <a:tcPr marL="73152" marR="73152" marT="27432" marB="27432"/>
                </a:tc>
              </a:tr>
              <a:tr h="400050">
                <a:tc>
                  <a:txBody>
                    <a:bodyPr wrap="square"/>
                    <a:lstStyle/>
                    <a:p>
                      <a:r>
                        <a:rPr sz="1800">
                          <a:solidFill>
                            <a:srgbClr val="000000"/>
                          </a:solidFill>
                        </a:rPr>
                        <a:t>Procedure</a:t>
                      </a:r>
                    </a:p>
                  </a:txBody>
                  <a:tcPr marL="73152" marR="73152" marT="27432" marB="27432"/>
                </a:tc>
                <a:tc>
                  <a:txBody>
                    <a:bodyPr wrap="square"/>
                    <a:lstStyle/>
                    <a:p>
                      <a:r>
                        <a:rPr sz="1800">
                          <a:solidFill>
                            <a:srgbClr val="000000"/>
                          </a:solidFill>
                        </a:rPr>
                        <a:t>SNOMED CT, CPT4, HCPCS, ICD-10-PCS</a:t>
                      </a:r>
                    </a:p>
                  </a:txBody>
                  <a:tcPr marL="73152" marR="73152" marT="27432" marB="27432"/>
                </a:tc>
                <a:tc>
                  <a:txBody>
                    <a:bodyPr wrap="square"/>
                    <a:lstStyle/>
                    <a:p>
                      <a:r>
                        <a:rPr sz="1800">
                          <a:solidFill>
                            <a:srgbClr val="000000"/>
                          </a:solidFill>
                        </a:rPr>
                        <a:t>Local procedure codes</a:t>
                      </a:r>
                    </a:p>
                  </a:txBody>
                  <a:tcPr marL="73152" marR="73152" marT="27432" marB="27432"/>
                </a:tc>
              </a:tr>
              <a:tr h="400050">
                <a:tc>
                  <a:txBody>
                    <a:bodyPr wrap="square"/>
                    <a:lstStyle/>
                    <a:p>
                      <a:r>
                        <a:rPr sz="1800">
                          <a:solidFill>
                            <a:srgbClr val="000000"/>
                          </a:solidFill>
                        </a:rPr>
                        <a:t>Observation</a:t>
                      </a:r>
                    </a:p>
                  </a:txBody>
                  <a:tcPr marL="73152" marR="73152" marT="27432" marB="27432"/>
                </a:tc>
                <a:tc>
                  <a:txBody>
                    <a:bodyPr wrap="square"/>
                    <a:lstStyle/>
                    <a:p>
                      <a:r>
                        <a:rPr sz="1800">
                          <a:solidFill>
                            <a:srgbClr val="000000"/>
                          </a:solidFill>
                        </a:rPr>
                        <a:t>SNOMED CT, LOINC</a:t>
                      </a:r>
                    </a:p>
                  </a:txBody>
                  <a:tcPr marL="73152" marR="73152" marT="27432" marB="27432"/>
                </a:tc>
                <a:tc>
                  <a:txBody>
                    <a:bodyPr wrap="square"/>
                    <a:lstStyle/>
                    <a:p>
                      <a:r>
                        <a:rPr sz="1800">
                          <a:solidFill>
                            <a:srgbClr val="000000"/>
                          </a:solidFill>
                        </a:rPr>
                        <a:t>Many source-specific codes</a:t>
                      </a:r>
                    </a:p>
                  </a:txBody>
                  <a:tcPr marL="73152" marR="73152" marT="27432" marB="27432"/>
                </a:tc>
              </a:tr>
              <a:tr h="685800">
                <a:tc>
                  <a:txBody>
                    <a:bodyPr wrap="square"/>
                    <a:lstStyle/>
                    <a:p>
                      <a:r>
                        <a:rPr sz="1800">
                          <a:solidFill>
                            <a:srgbClr val="000000"/>
                          </a:solidFill>
                        </a:rPr>
                        <a:t>Race / Ethnicity</a:t>
                      </a:r>
                    </a:p>
                  </a:txBody>
                  <a:tcPr marL="73152" marR="73152" marT="27432" marB="27432"/>
                </a:tc>
                <a:tc>
                  <a:txBody>
                    <a:bodyPr wrap="square"/>
                    <a:lstStyle/>
                    <a:p>
                      <a:r>
                        <a:rPr sz="1800">
                          <a:solidFill>
                            <a:srgbClr val="000000"/>
                          </a:solidFill>
                        </a:rPr>
                        <a:t>Race, Ethnicity</a:t>
                      </a:r>
                    </a:p>
                  </a:txBody>
                  <a:tcPr marL="73152" marR="73152" marT="27432" marB="27432"/>
                </a:tc>
                <a:tc>
                  <a:txBody>
                    <a:bodyPr wrap="square"/>
                    <a:lstStyle/>
                    <a:p>
                      <a:r>
                        <a:rPr sz="1800">
                          <a:solidFill>
                            <a:srgbClr val="000000"/>
                          </a:solidFill>
                        </a:rPr>
                        <a:t>Local codes</a:t>
                      </a:r>
                    </a:p>
                  </a:txBody>
                  <a:tcPr marL="73152" marR="73152" marT="27432" marB="27432"/>
                </a:tc>
              </a:tr>
              <a:tr h="400050">
                <a:tc>
                  <a:txBody>
                    <a:bodyPr wrap="square"/>
                    <a:lstStyle/>
                    <a:p>
                      <a:r>
                        <a:rPr sz="1800">
                          <a:solidFill>
                            <a:srgbClr val="000000"/>
                          </a:solidFill>
                        </a:rPr>
                        <a:t>Visit Type</a:t>
                      </a:r>
                    </a:p>
                  </a:txBody>
                  <a:tcPr marL="73152" marR="73152" marT="27432" marB="27432"/>
                </a:tc>
                <a:tc>
                  <a:txBody>
                    <a:bodyPr wrap="square"/>
                    <a:lstStyle/>
                    <a:p>
                      <a:r>
                        <a:rPr sz="1800">
                          <a:solidFill>
                            <a:srgbClr val="000000"/>
                          </a:solidFill>
                        </a:rPr>
                        <a:t>Visit (OMOP)</a:t>
                      </a:r>
                    </a:p>
                  </a:txBody>
                  <a:tcPr marL="73152" marR="73152" marT="27432" marB="27432"/>
                </a:tc>
                <a:tc>
                  <a:txBody>
                    <a:bodyPr wrap="square"/>
                    <a:lstStyle/>
                    <a:p>
                      <a:r>
                        <a:rPr sz="1800">
                          <a:solidFill>
                            <a:srgbClr val="000000"/>
                          </a:solidFill>
                        </a:rPr>
                        <a:t>CMS place of service codes</a:t>
                      </a:r>
                    </a:p>
                  </a:txBody>
                  <a:tcPr marL="73152" marR="73152" marT="27432" marB="27432"/>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Standard vs Non-Standard Concepts</a:t>
            </a:r>
          </a:p>
        </p:txBody>
      </p:sp>
      <p:sp>
        <p:nvSpPr>
          <p:cNvPr id="3" name="Content Placeholder 2"/>
          <p:cNvSpPr>
            <a:spLocks noGrp="1"/>
          </p:cNvSpPr>
          <p:nvPr>
            <p:ph idx="1" sz="half"/>
          </p:nvPr>
        </p:nvSpPr>
        <p:spPr/>
        <p:txBody>
          <a:bodyPr/>
          <a:lstStyle/>
          <a:p>
            <a:pPr marL="0" indent="0">
              <a:buNone/>
            </a:pPr>
            <a:r>
              <a:rPr b="1" sz="1600"/>
              <a:t>Standard Concepts  (standard_concept = 'S')</a:t>
            </a:r>
          </a:p>
          <a:p>
            <a:pPr/>
            <a:r>
              <a:rPr sz="1600"/>
              <a:t>Used for analysis in all OMOP tools (Atlas, HADES)</a:t>
            </a:r>
          </a:p>
          <a:p>
            <a:pPr/>
            <a:r>
              <a:rPr sz="1600"/>
              <a:t>Assigned to clinical tables during ETL (e.g., condition_concept_id)</a:t>
            </a:r>
          </a:p>
          <a:p>
            <a:pPr/>
            <a:r>
              <a:rPr sz="1600"/>
              <a:t>Comparable across institutions and datasets</a:t>
            </a:r>
          </a:p>
          <a:p>
            <a:pPr/>
            <a:r>
              <a:rPr sz="1600"/>
              <a:t>Example: concept_id 373182, Amyotrophic lateral sclerosis (SNOMED code 86044005)</a:t>
            </a:r>
          </a:p>
          <a:p>
            <a:pPr/>
            <a:r>
              <a:rPr sz="1600"/>
              <a:t>Build concept sets and cohort rules from standard concepts; classification concepts ('C', such as ATC drug classes) are added together with their descendants</a:t>
            </a:r>
          </a:p>
        </p:txBody>
      </p:sp>
      <p:sp>
        <p:nvSpPr>
          <p:cNvPr id="4" name="Content Placeholder 3"/>
          <p:cNvSpPr>
            <a:spLocks noGrp="1"/>
          </p:cNvSpPr>
          <p:nvPr>
            <p:ph idx="2" sz="half"/>
          </p:nvPr>
        </p:nvSpPr>
        <p:spPr/>
        <p:txBody>
          <a:bodyPr/>
          <a:lstStyle/>
          <a:p>
            <a:pPr marL="0" indent="0">
              <a:buNone/>
            </a:pPr>
            <a:r>
              <a:rPr b="1" sz="1600"/>
              <a:t>Non-Standard (Source) Concepts  (standard_concept = NULL)</a:t>
            </a:r>
          </a:p>
          <a:p>
            <a:pPr/>
            <a:r>
              <a:rPr sz="1600"/>
              <a:t>Source codes before standardization (ICD-9, ICD-10, NDC, etc.)</a:t>
            </a:r>
          </a:p>
          <a:p>
            <a:pPr/>
            <a:r>
              <a:rPr sz="1600"/>
              <a:t>Stored in source columns (e.g., condition_source_concept_id)</a:t>
            </a:r>
          </a:p>
          <a:p>
            <a:pPr/>
            <a:r>
              <a:rPr sz="1600"/>
              <a:t>Standard criteria match on standard concept_ids, so a set made only of source concepts returns no records</a:t>
            </a:r>
          </a:p>
          <a:p>
            <a:pPr/>
            <a:r>
              <a:rPr sz="1600"/>
              <a:t>Linked to standard concepts via 'Maps to' relationship</a:t>
            </a:r>
          </a:p>
          <a:p>
            <a:pPr/>
            <a:r>
              <a:rPr sz="1600"/>
              <a:t>Example: ICD-10-CM G12.21 maps to concept_id 373182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Exploring Standard Concepts — SQL Example</a:t>
            </a:r>
          </a:p>
        </p:txBody>
      </p:sp>
      <p:sp>
        <p:nvSpPr>
          <p:cNvPr id="3" name="Content Placeholder 2"/>
          <p:cNvSpPr>
            <a:spLocks noGrp="1"/>
          </p:cNvSpPr>
          <p:nvPr>
            <p:ph idx="1"/>
          </p:nvPr>
        </p:nvSpPr>
        <p:spPr/>
        <p:txBody>
          <a:bodyPr/>
          <a:lstStyle/>
          <a:p>
            <a:pPr marL="0" indent="0">
              <a:buNone/>
            </a:pPr>
            <a:r>
              <a:rPr i="1" sz="1600"/>
              <a:t>Find standard and non-standard concepts for amyotrophic lateral sclerosis in the concept table:</a:t>
            </a:r>
          </a:p>
          <a:p>
            <a:pPr marL="0" indent="0">
              <a:buNone/>
            </a:pPr>
            <a:r>
              <a:rPr sz="1500">
                <a:latin typeface="Courier New"/>
              </a:rPr>
              <a:t>-- In your SQL client (Databricks, DBeaver, etc.)</a:t>
            </a:r>
          </a:p>
          <a:p>
            <a:pPr marL="0" indent="0">
              <a:buNone/>
            </a:pPr>
            <a:r>
              <a:rPr sz="1500">
                <a:latin typeface="Courier New"/>
              </a:rPr>
              <a:t>-- Find standard concept for amyotrophic lateral sclerosis</a:t>
            </a:r>
          </a:p>
          <a:p>
            <a:pPr marL="0" indent="0">
              <a:buNone/>
            </a:pPr>
            <a:r>
              <a:rPr sz="1500">
                <a:latin typeface="Courier New"/>
              </a:rPr>
              <a:t>SELECT concept_id,</a:t>
            </a:r>
          </a:p>
          <a:p>
            <a:pPr marL="0" indent="0">
              <a:buNone/>
            </a:pPr>
            <a:r>
              <a:rPr sz="1500">
                <a:latin typeface="Courier New"/>
              </a:rPr>
              <a:t>       concept_name,</a:t>
            </a:r>
          </a:p>
          <a:p>
            <a:pPr marL="0" indent="0">
              <a:buNone/>
            </a:pPr>
            <a:r>
              <a:rPr sz="1500">
                <a:latin typeface="Courier New"/>
              </a:rPr>
              <a:t>       vocabulary_id,</a:t>
            </a:r>
          </a:p>
          <a:p>
            <a:pPr marL="0" indent="0">
              <a:buNone/>
            </a:pPr>
            <a:r>
              <a:rPr sz="1500">
                <a:latin typeface="Courier New"/>
              </a:rPr>
              <a:t>       standard_concept,   -- 'S' standard; 'C' classification; NULL non-standard</a:t>
            </a:r>
          </a:p>
          <a:p>
            <a:pPr marL="0" indent="0">
              <a:buNone/>
            </a:pPr>
            <a:r>
              <a:rPr sz="1500">
                <a:latin typeface="Courier New"/>
              </a:rPr>
              <a:t>       concept_code</a:t>
            </a:r>
          </a:p>
          <a:p>
            <a:pPr marL="0" indent="0">
              <a:buNone/>
            </a:pPr>
            <a:r>
              <a:rPr sz="1500">
                <a:latin typeface="Courier New"/>
              </a:rPr>
              <a:t>FROM cdm.concept</a:t>
            </a:r>
          </a:p>
          <a:p>
            <a:pPr marL="0" indent="0">
              <a:buNone/>
            </a:pPr>
            <a:r>
              <a:rPr sz="1500">
                <a:latin typeface="Courier New"/>
              </a:rPr>
              <a:t>WHERE LOWER(concept_name) LIKE '%amyotrophic lateral sclerosis%'</a:t>
            </a:r>
          </a:p>
          <a:p>
            <a:pPr marL="0" indent="0">
              <a:buNone/>
            </a:pPr>
            <a:r>
              <a:rPr sz="1500">
                <a:latin typeface="Courier New"/>
              </a:rPr>
              <a:t>ORDER BY standard_concept DESC NULLS LAST, vocabulary_id;</a:t>
            </a:r>
          </a:p>
          <a:p>
            <a:pPr marL="0" indent="0">
              <a:buNone/>
            </a:pPr>
            <a:r>
              <a:rPr sz="1500">
                <a:latin typeface="Courier New"/>
              </a:rPr>
              <a:t/>
            </a:r>
          </a:p>
          <a:p>
            <a:pPr marL="0" indent="0">
              <a:buNone/>
            </a:pPr>
            <a:r>
              <a:rPr sz="1500">
                <a:latin typeface="Courier New"/>
              </a:rPr>
              <a:t>-- Result: concept_id 373182 (SNOMED) is standard (S); ICD codes are non-standard (NULL)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Following the 'Maps to' Relationship</a:t>
            </a:r>
          </a:p>
        </p:txBody>
      </p:sp>
      <p:sp>
        <p:nvSpPr>
          <p:cNvPr id="3" name="Content Placeholder 2"/>
          <p:cNvSpPr>
            <a:spLocks noGrp="1"/>
          </p:cNvSpPr>
          <p:nvPr>
            <p:ph idx="1"/>
          </p:nvPr>
        </p:nvSpPr>
        <p:spPr/>
        <p:txBody>
          <a:bodyPr/>
          <a:lstStyle/>
          <a:p>
            <a:pPr/>
            <a:r>
              <a:rPr i="1" sz="1600"/>
              <a:t>How does an ICD-10-CM code (non-standard) link to its standard SNOMED concept?</a:t>
            </a:r>
          </a:p>
          <a:p>
            <a:pPr marL="0" indent="0">
              <a:buNone/>
            </a:pPr>
            <a:r>
              <a:rPr sz="1600">
                <a:latin typeface="Courier New"/>
              </a:rPr>
              <a:t>-- Find the standard concept that ICD-10-CM G12.21 maps to</a:t>
            </a:r>
          </a:p>
          <a:p>
            <a:pPr marL="0" indent="0">
              <a:buNone/>
            </a:pPr>
            <a:r>
              <a:rPr sz="1600">
                <a:latin typeface="Courier New"/>
              </a:rPr>
              <a:t>SELECT c_src.concept_code AS icd_code,</a:t>
            </a:r>
          </a:p>
          <a:p>
            <a:pPr marL="0" indent="0">
              <a:buNone/>
            </a:pPr>
            <a:r>
              <a:rPr sz="1600">
                <a:latin typeface="Courier New"/>
              </a:rPr>
              <a:t>       c_src.concept_name AS icd_name,</a:t>
            </a:r>
          </a:p>
          <a:p>
            <a:pPr marL="0" indent="0">
              <a:buNone/>
            </a:pPr>
            <a:r>
              <a:rPr sz="1600">
                <a:latin typeface="Courier New"/>
              </a:rPr>
              <a:t>       cr.relationship_id,</a:t>
            </a:r>
          </a:p>
          <a:p>
            <a:pPr marL="0" indent="0">
              <a:buNone/>
            </a:pPr>
            <a:r>
              <a:rPr sz="1600">
                <a:latin typeface="Courier New"/>
              </a:rPr>
              <a:t>       c_tgt.concept_id   AS standard_id,</a:t>
            </a:r>
          </a:p>
          <a:p>
            <a:pPr marL="0" indent="0">
              <a:buNone/>
            </a:pPr>
            <a:r>
              <a:rPr sz="1600">
                <a:latin typeface="Courier New"/>
              </a:rPr>
              <a:t>       c_tgt.concept_name AS standard_name,</a:t>
            </a:r>
          </a:p>
          <a:p>
            <a:pPr marL="0" indent="0">
              <a:buNone/>
            </a:pPr>
            <a:r>
              <a:rPr sz="1600">
                <a:latin typeface="Courier New"/>
              </a:rPr>
              <a:t>       c_tgt.vocabulary_id</a:t>
            </a:r>
          </a:p>
          <a:p>
            <a:pPr marL="0" indent="0">
              <a:buNone/>
            </a:pPr>
            <a:r>
              <a:rPr sz="1600">
                <a:latin typeface="Courier New"/>
              </a:rPr>
              <a:t>FROM cdm.concept_relationship cr</a:t>
            </a:r>
          </a:p>
          <a:p>
            <a:pPr marL="0" indent="0">
              <a:buNone/>
            </a:pPr>
            <a:r>
              <a:rPr sz="1600">
                <a:latin typeface="Courier New"/>
              </a:rPr>
              <a:t>JOIN cdm.concept c_src ON cr.concept_id_1 = c_src.concept_id</a:t>
            </a:r>
          </a:p>
          <a:p>
            <a:pPr marL="0" indent="0">
              <a:buNone/>
            </a:pPr>
            <a:r>
              <a:rPr sz="1600">
                <a:latin typeface="Courier New"/>
              </a:rPr>
              <a:t>JOIN cdm.concept c_tgt ON cr.concept_id_2 = c_tgt.concept_id</a:t>
            </a:r>
          </a:p>
          <a:p>
            <a:pPr marL="0" indent="0">
              <a:buNone/>
            </a:pPr>
            <a:r>
              <a:rPr sz="1600">
                <a:latin typeface="Courier New"/>
              </a:rPr>
              <a:t>WHERE c_src.concept_code  = 'G12.21'</a:t>
            </a:r>
          </a:p>
          <a:p>
            <a:pPr marL="0" indent="0">
              <a:buNone/>
            </a:pPr>
            <a:r>
              <a:rPr sz="1600">
                <a:latin typeface="Courier New"/>
              </a:rPr>
              <a:t>  AND c_src.vocabulary_id = 'ICD10CM'</a:t>
            </a:r>
          </a:p>
          <a:p>
            <a:pPr marL="0" indent="0">
              <a:buNone/>
            </a:pPr>
            <a:r>
              <a:rPr sz="1600">
                <a:latin typeface="Courier New"/>
              </a:rPr>
              <a:t>  AND cr.relationship_id  = 'Maps to';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Using concept_ancestor for Hierarchical Queries</a:t>
            </a:r>
          </a:p>
        </p:txBody>
      </p:sp>
      <p:sp>
        <p:nvSpPr>
          <p:cNvPr id="3" name="Content Placeholder 2"/>
          <p:cNvSpPr>
            <a:spLocks noGrp="1"/>
          </p:cNvSpPr>
          <p:nvPr>
            <p:ph idx="1"/>
          </p:nvPr>
        </p:nvSpPr>
        <p:spPr/>
        <p:txBody>
          <a:bodyPr/>
          <a:lstStyle/>
          <a:p>
            <a:pPr marL="0" indent="0">
              <a:buNone/>
            </a:pPr>
            <a:r>
              <a:rPr i="1" sz="1600"/>
              <a:t>Find all drug products under the riluzole ingredient using the hierarchy:</a:t>
            </a:r>
          </a:p>
          <a:p>
            <a:pPr marL="0" indent="0">
              <a:buNone/>
            </a:pPr>
            <a:r>
              <a:rPr sz="1600">
                <a:latin typeface="Courier New"/>
              </a:rPr>
              <a:t>-- All riluzole products (look up the ingredient concept_id in Athena first)</a:t>
            </a:r>
          </a:p>
          <a:p>
            <a:pPr marL="0" indent="0">
              <a:buNone/>
            </a:pPr>
            <a:r>
              <a:rPr sz="1600">
                <a:latin typeface="Courier New"/>
              </a:rPr>
              <a:t>SELECT ca.descendant_concept_id,</a:t>
            </a:r>
          </a:p>
          <a:p>
            <a:pPr marL="0" indent="0">
              <a:buNone/>
            </a:pPr>
            <a:r>
              <a:rPr sz="1600">
                <a:latin typeface="Courier New"/>
              </a:rPr>
              <a:t>       c.concept_name,</a:t>
            </a:r>
          </a:p>
          <a:p>
            <a:pPr marL="0" indent="0">
              <a:buNone/>
            </a:pPr>
            <a:r>
              <a:rPr sz="1600">
                <a:latin typeface="Courier New"/>
              </a:rPr>
              <a:t>       c.concept_class_id,        -- 'Ingredient', 'Clinical Drug', 'Branded Drug'</a:t>
            </a:r>
          </a:p>
          <a:p>
            <a:pPr marL="0" indent="0">
              <a:buNone/>
            </a:pPr>
            <a:r>
              <a:rPr sz="1600">
                <a:latin typeface="Courier New"/>
              </a:rPr>
              <a:t>       ca.min_levels_of_separation</a:t>
            </a:r>
          </a:p>
          <a:p>
            <a:pPr marL="0" indent="0">
              <a:buNone/>
            </a:pPr>
            <a:r>
              <a:rPr sz="1600">
                <a:latin typeface="Courier New"/>
              </a:rPr>
              <a:t>FROM cdm.concept_ancestor ca</a:t>
            </a:r>
          </a:p>
          <a:p>
            <a:pPr marL="0" indent="0">
              <a:buNone/>
            </a:pPr>
            <a:r>
              <a:rPr sz="1600">
                <a:latin typeface="Courier New"/>
              </a:rPr>
              <a:t>JOIN cdm.concept c ON ca.descendant_concept_id = c.concept_id</a:t>
            </a:r>
          </a:p>
          <a:p>
            <a:pPr marL="0" indent="0">
              <a:buNone/>
            </a:pPr>
            <a:r>
              <a:rPr sz="1600">
                <a:latin typeface="Courier New"/>
              </a:rPr>
              <a:t>WHERE ca.ancestor_concept_id = [riluzole_ingredient_id]   -- riluzole (RxNorm ingredient)</a:t>
            </a:r>
          </a:p>
          <a:p>
            <a:pPr marL="0" indent="0">
              <a:buNone/>
            </a:pPr>
            <a:r>
              <a:rPr sz="1600">
                <a:latin typeface="Courier New"/>
              </a:rPr>
              <a:t>  AND ca.min_levels_of_separation &gt;= 1</a:t>
            </a:r>
          </a:p>
          <a:p>
            <a:pPr marL="0" indent="0">
              <a:buNone/>
            </a:pPr>
            <a:r>
              <a:rPr sz="1600">
                <a:latin typeface="Courier New"/>
              </a:rPr>
              <a:t>ORDER BY ca.min_levels_of_separation, c.concept_name;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Athena Vocabulary Exploration Lab</a:t>
            </a:r>
          </a:p>
        </p:txBody>
      </p:sp>
      <p:sp>
        <p:nvSpPr>
          <p:cNvPr id="3" name="Content Placeholder 2"/>
          <p:cNvSpPr>
            <a:spLocks noGrp="1"/>
          </p:cNvSpPr>
          <p:nvPr>
            <p:ph idx="1"/>
          </p:nvPr>
        </p:nvSpPr>
        <p:spPr/>
        <p:txBody>
          <a:bodyPr/>
          <a:lstStyle/>
          <a:p>
            <a:pPr/>
            <a:r>
              <a:t>Time: ~30 minutes</a:t>
            </a:r>
          </a:p>
          <a:p>
            <a:pPr/>
            <a:r>
              <a:t>Tool: Athena Browser (athena.ohdsi.org) — no login required</a:t>
            </a:r>
          </a:p>
          <a:p>
            <a:pPr marL="0" indent="0">
              <a:buNone/>
            </a:pPr>
            <a:r>
              <a:t>1. Open Athena (athena.ohdsi.org) — no login required</a:t>
            </a:r>
          </a:p>
          <a:p>
            <a:pPr marL="0" indent="0">
              <a:buNone/>
            </a:pPr>
            <a:r>
              <a:t>2. Search for 'Amyotrophic lateral sclerosis' — find the standard SNOMED concept</a:t>
            </a:r>
          </a:p>
          <a:p>
            <a:pPr marL="0" indent="0">
              <a:buNone/>
            </a:pPr>
            <a:r>
              <a:t>3. Click the concept to open its detail page — note concept_id, vocabulary_id</a:t>
            </a:r>
          </a:p>
          <a:p>
            <a:pPr marL="0" indent="0">
              <a:buNone/>
            </a:pPr>
            <a:r>
              <a:t>4. In the relationships table on the concept page, find 'Is a' (the parents) and 'Mapped from' (the source codes that map here)</a:t>
            </a:r>
          </a:p>
          <a:p>
            <a:pPr marL="0" indent="0">
              <a:buNone/>
            </a:pPr>
            <a:r>
              <a:t>5. Open the Hierarchy view: how many descendants are listed, and which is the narrowest?</a:t>
            </a:r>
          </a:p>
          <a:p>
            <a:pPr marL="0" indent="0">
              <a:buNone/>
            </a:pPr>
            <a:r>
              <a:t>6. Try the same exercise for a drug relevant to your research area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marL="0" indent="0">
              <a:buNone/>
            </a:pPr>
            <a:r>
              <a:t>✓  OMOP CDM standardizes data schema AND vocabulary so studies run consistently across sites</a:t>
            </a:r>
          </a:p>
          <a:p>
            <a:pPr marL="0" indent="0">
              <a:buNone/>
            </a:pPr>
            <a:r>
              <a:t>✓  Clinical records point to standard concept_ids; rows with concept_id = 0 were not mapped, and queries on standard concepts will not find them</a:t>
            </a:r>
          </a:p>
          <a:p>
            <a:pPr marL="0" indent="0">
              <a:buNone/>
            </a:pPr>
            <a:r>
              <a:t>✓  concept, concept_relationship, and concept_ancestor are the three vocabulary tables you will use every day</a:t>
            </a:r>
          </a:p>
          <a:p>
            <a:pPr marL="0" indent="0">
              <a:buNone/>
            </a:pPr>
            <a:r>
              <a:t>✓  'Maps to' connects source codes to standard concepts; concept_ancestor enables hierarchical queries</a:t>
            </a:r>
          </a:p>
          <a:p>
            <a:pPr marL="0" indent="0">
              <a:buNone/>
            </a:pPr>
            <a:r>
              <a:t>✓  Athena is the public browser for the vocabulary — bookmark it now</a:t>
            </a:r>
          </a:p>
          <a:p>
            <a:pPr/>
            <a:r>
              <a:rPr i="1"/>
              <a:t>Next session: Day 2 · Vocabulary &amp; Data Quality — building concept sets in Atlas and SQL validation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  Questions?</a:t>
            </a:r>
          </a:p>
        </p:txBody>
      </p:sp>
      <p:sp>
        <p:nvSpPr>
          <p:cNvPr id="3" name="Text Placeholder 2"/>
          <p:cNvSpPr>
            <a:spLocks noGrp="1"/>
          </p:cNvSpPr>
          <p:nvPr>
            <p:ph type="body" idx="1"/>
          </p:nvPr>
        </p:nvSpPr>
        <p:spPr/>
        <p:txBody>
          <a:bodyPr/>
          <a:lstStyle/>
          <a:p>
            <a:pPr marL="0" indent="0">
              <a:buNone/>
            </a:pPr>
            <a:r>
              <a:t>Danielle Boyce</a:t>
            </a:r>
          </a:p>
          <a:p>
            <a:pPr marL="0" indent="0">
              <a:buNone/>
            </a:pPr>
            <a:r>
              <a:t>dboyce@als.net</a:t>
            </a:r>
          </a:p>
          <a:p>
            <a:pPr marL="0" indent="0">
              <a:buNone/>
            </a:pPr>
            <a:r>
              <a:t>ALS TDI · OHDSI/OMOP Train-the-Trainer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2626"/>
      </a:dk2>
      <a:lt2>
        <a:srgbClr val="F2F2F2"/>
      </a:lt2>
      <a:accent1>
        <a:srgbClr val="404040"/>
      </a:accent1>
      <a:accent2>
        <a:srgbClr val="7F7F7F"/>
      </a:accent2>
      <a:accent3>
        <a:srgbClr val="A6A6A6"/>
      </a:accent3>
      <a:accent4>
        <a:srgbClr val="595959"/>
      </a:accent4>
      <a:accent5>
        <a:srgbClr val="BFBFBF"/>
      </a:accent5>
      <a:accent6>
        <a:srgbClr val="262626"/>
      </a:accent6>
      <a:hlink>
        <a:srgbClr val="000000"/>
      </a:hlink>
      <a:folHlink>
        <a:srgbClr val="404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