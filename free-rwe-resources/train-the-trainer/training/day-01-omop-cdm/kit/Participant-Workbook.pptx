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1920240"/>
            <a:ext cx="10363200" cy="1280160"/>
          </a:xfrm>
        </p:spPr>
        <p:txBody>
          <a:bodyPr anchor="b"/>
          <a:lstStyle>
            <a:lvl1pPr algn="l">
              <a:defRPr sz="4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3291840"/>
            <a:ext cx="10363200" cy="18288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algn="l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6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6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b="1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OMOP Common Data Model</a:t>
            </a:r>
          </a:p>
          <a:p>
            <a:r>
              <a:t>and Standardized Vocabularies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0" indent="0">
              <a:buNone/>
            </a:pPr>
            <a:r>
              <a:t>DAY 1</a:t>
            </a:r>
          </a:p>
          <a:p>
            <a:pPr marL="0" indent="0">
              <a:buNone/>
            </a:pPr>
            <a:r>
              <a:t>Participant Workbook</a:t>
            </a:r>
          </a:p>
          <a:p>
            <a:pPr marL="0" indent="0">
              <a:buNone/>
            </a:pPr>
            <a:r>
              <a:t>ALS TDI · OHDSI/OMOP Train-the-Trainer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i="1" sz="2400"/>
              <a:t>By the end of this session, you will be able to:</a:t>
            </a:r>
          </a:p>
          <a:p>
            <a:pPr marL="0" indent="0">
              <a:buNone/>
            </a:pPr>
            <a:r>
              <a:rPr sz="2400"/>
              <a:t>1. Explain the purpose of the OMOP CDM and its key design principles</a:t>
            </a:r>
          </a:p>
          <a:p>
            <a:pPr marL="0" indent="0">
              <a:buNone/>
            </a:pPr>
            <a:r>
              <a:rPr sz="2400"/>
              <a:t>2. Identify and describe the core clinical and vocabulary tables</a:t>
            </a:r>
          </a:p>
          <a:p>
            <a:pPr marL="0" indent="0">
              <a:buNone/>
            </a:pPr>
            <a:r>
              <a:rPr sz="2400"/>
              <a:t>3. Distinguish between standard and non-standard concepts</a:t>
            </a:r>
          </a:p>
          <a:p>
            <a:pPr marL="0" indent="0">
              <a:buNone/>
            </a:pPr>
            <a:r>
              <a:rPr sz="2400"/>
              <a:t>4. Navigate Athena to find concepts, relationships, and hierarchies</a:t>
            </a:r>
          </a:p>
          <a:p>
            <a:pPr marL="0" indent="0">
              <a:buNone/>
            </a:pPr>
            <a:r>
              <a:rPr sz="2400"/>
              <a:t>5. Write basic SQL queries to explore OMOP CDM data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Clinical Tables — Fill In the Description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12648" y="1417320"/>
          <a:ext cx="10966703" cy="3600450"/>
        </p:xfrm>
        <a:graphic>
          <a:graphicData uri="http://schemas.openxmlformats.org/drawingml/2006/table">
            <a:tbl>
              <a:tblPr firstRow="1">
                <a:tableStyleId>{5940675A-B579-460E-94D1-54222C63F5DA}</a:tableStyleId>
              </a:tblPr>
              <a:tblGrid>
                <a:gridCol w="4874090"/>
                <a:gridCol w="6092613"/>
              </a:tblGrid>
              <a:tr h="400050"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000000"/>
                          </a:solidFill>
                        </a:rPr>
                        <a:t>Table</a:t>
                      </a:r>
                    </a:p>
                  </a:txBody>
                  <a:tcPr marL="73152" marR="73152" marT="27432" marB="27432"/>
                </a:tc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000000"/>
                          </a:solidFill>
                        </a:rPr>
                        <a:t>What It Contains (fill in)</a:t>
                      </a:r>
                    </a:p>
                  </a:txBody>
                  <a:tcPr marL="73152" marR="73152" marT="27432" marB="27432"/>
                </a:tc>
              </a:tr>
              <a:tr h="400050">
                <a:tc>
                  <a:txBody>
                    <a:bodyPr wrap="square"/>
                    <a:lstStyle/>
                    <a:p>
                      <a:r>
                        <a:rPr sz="1800">
                          <a:solidFill>
                            <a:srgbClr val="000000"/>
                          </a:solidFill>
                        </a:rPr>
                        <a:t>person</a:t>
                      </a:r>
                    </a:p>
                  </a:txBody>
                  <a:tcPr marL="73152" marR="73152" marT="27432" marB="27432"/>
                </a:tc>
                <a:tc>
                  <a:txBody>
                    <a:bodyPr wrap="square"/>
                    <a:lstStyle/>
                    <a:p>
                      <a:r>
                        <a:rPr sz="180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 marL="73152" marR="73152" marT="27432" marB="27432"/>
                </a:tc>
              </a:tr>
              <a:tr h="400050">
                <a:tc>
                  <a:txBody>
                    <a:bodyPr wrap="square"/>
                    <a:lstStyle/>
                    <a:p>
                      <a:r>
                        <a:rPr sz="1800">
                          <a:solidFill>
                            <a:srgbClr val="000000"/>
                          </a:solidFill>
                        </a:rPr>
                        <a:t>visit_occurrence</a:t>
                      </a:r>
                    </a:p>
                  </a:txBody>
                  <a:tcPr marL="73152" marR="73152" marT="27432" marB="27432"/>
                </a:tc>
                <a:tc>
                  <a:txBody>
                    <a:bodyPr wrap="square"/>
                    <a:lstStyle/>
                    <a:p>
                      <a:r>
                        <a:rPr sz="180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 marL="73152" marR="73152" marT="27432" marB="27432"/>
                </a:tc>
              </a:tr>
              <a:tr h="400050">
                <a:tc>
                  <a:txBody>
                    <a:bodyPr wrap="square"/>
                    <a:lstStyle/>
                    <a:p>
                      <a:r>
                        <a:rPr sz="1800">
                          <a:solidFill>
                            <a:srgbClr val="000000"/>
                          </a:solidFill>
                        </a:rPr>
                        <a:t>condition_occurrence</a:t>
                      </a:r>
                    </a:p>
                  </a:txBody>
                  <a:tcPr marL="73152" marR="73152" marT="27432" marB="27432"/>
                </a:tc>
                <a:tc>
                  <a:txBody>
                    <a:bodyPr wrap="square"/>
                    <a:lstStyle/>
                    <a:p>
                      <a:r>
                        <a:rPr sz="180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 marL="73152" marR="73152" marT="27432" marB="27432"/>
                </a:tc>
              </a:tr>
              <a:tr h="400050">
                <a:tc>
                  <a:txBody>
                    <a:bodyPr wrap="square"/>
                    <a:lstStyle/>
                    <a:p>
                      <a:r>
                        <a:rPr sz="1800">
                          <a:solidFill>
                            <a:srgbClr val="000000"/>
                          </a:solidFill>
                        </a:rPr>
                        <a:t>drug_exposure</a:t>
                      </a:r>
                    </a:p>
                  </a:txBody>
                  <a:tcPr marL="73152" marR="73152" marT="27432" marB="27432"/>
                </a:tc>
                <a:tc>
                  <a:txBody>
                    <a:bodyPr wrap="square"/>
                    <a:lstStyle/>
                    <a:p>
                      <a:r>
                        <a:rPr sz="180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 marL="73152" marR="73152" marT="27432" marB="27432"/>
                </a:tc>
              </a:tr>
              <a:tr h="400050">
                <a:tc>
                  <a:txBody>
                    <a:bodyPr wrap="square"/>
                    <a:lstStyle/>
                    <a:p>
                      <a:r>
                        <a:rPr sz="1800">
                          <a:solidFill>
                            <a:srgbClr val="000000"/>
                          </a:solidFill>
                        </a:rPr>
                        <a:t>measurement</a:t>
                      </a:r>
                    </a:p>
                  </a:txBody>
                  <a:tcPr marL="73152" marR="73152" marT="27432" marB="27432"/>
                </a:tc>
                <a:tc>
                  <a:txBody>
                    <a:bodyPr wrap="square"/>
                    <a:lstStyle/>
                    <a:p>
                      <a:r>
                        <a:rPr sz="180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 marL="73152" marR="73152" marT="27432" marB="27432"/>
                </a:tc>
              </a:tr>
              <a:tr h="400050">
                <a:tc>
                  <a:txBody>
                    <a:bodyPr wrap="square"/>
                    <a:lstStyle/>
                    <a:p>
                      <a:r>
                        <a:rPr sz="1800">
                          <a:solidFill>
                            <a:srgbClr val="000000"/>
                          </a:solidFill>
                        </a:rPr>
                        <a:t>procedure_occurrence</a:t>
                      </a:r>
                    </a:p>
                  </a:txBody>
                  <a:tcPr marL="73152" marR="73152" marT="27432" marB="27432"/>
                </a:tc>
                <a:tc>
                  <a:txBody>
                    <a:bodyPr wrap="square"/>
                    <a:lstStyle/>
                    <a:p>
                      <a:r>
                        <a:rPr sz="180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 marL="73152" marR="73152" marT="27432" marB="27432"/>
                </a:tc>
              </a:tr>
              <a:tr h="400050">
                <a:tc>
                  <a:txBody>
                    <a:bodyPr wrap="square"/>
                    <a:lstStyle/>
                    <a:p>
                      <a:r>
                        <a:rPr sz="1800">
                          <a:solidFill>
                            <a:srgbClr val="000000"/>
                          </a:solidFill>
                        </a:rPr>
                        <a:t>observation</a:t>
                      </a:r>
                    </a:p>
                  </a:txBody>
                  <a:tcPr marL="73152" marR="73152" marT="27432" marB="27432"/>
                </a:tc>
                <a:tc>
                  <a:txBody>
                    <a:bodyPr wrap="square"/>
                    <a:lstStyle/>
                    <a:p>
                      <a:r>
                        <a:rPr sz="180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 marL="73152" marR="73152" marT="27432" marB="27432"/>
                </a:tc>
              </a:tr>
              <a:tr h="400050">
                <a:tc>
                  <a:txBody>
                    <a:bodyPr wrap="square"/>
                    <a:lstStyle/>
                    <a:p>
                      <a:r>
                        <a:rPr sz="1800">
                          <a:solidFill>
                            <a:srgbClr val="000000"/>
                          </a:solidFill>
                        </a:rPr>
                        <a:t>death</a:t>
                      </a:r>
                    </a:p>
                  </a:txBody>
                  <a:tcPr marL="73152" marR="73152" marT="27432" marB="27432"/>
                </a:tc>
                <a:tc>
                  <a:txBody>
                    <a:bodyPr wrap="square"/>
                    <a:lstStyle/>
                    <a:p>
                      <a:r>
                        <a:rPr sz="180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 marL="73152" marR="73152" marT="27432" marB="27432"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Standard vs Non-Standard Concepts — Key Points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Standard concept: standard_concept = '___'  (fill in)</a:t>
            </a:r>
          </a:p>
          <a:p>
            <a:pPr/>
            <a:r>
              <a:rPr sz="2200"/>
              <a:t>Non-standard concept: standard_concept = _____ (fill in)</a:t>
            </a:r>
          </a:p>
          <a:p>
            <a:pPr/>
            <a:r>
              <a:rPr sz="2200"/>
              <a:t>Which table stores the standard concept for a condition? _______________</a:t>
            </a:r>
          </a:p>
          <a:p>
            <a:pPr/>
            <a:r>
              <a:rPr sz="2200"/>
              <a:t>Which relationship links an ICD code to its standard SNOMED concept? _______________</a:t>
            </a:r>
          </a:p>
          <a:p>
            <a:pPr/>
            <a:r>
              <a:rPr sz="2200"/>
              <a:t>If condition_concept_id = 0, this means: ____________________________</a:t>
            </a:r>
          </a:p>
          <a:p>
            <a:pPr/>
            <a:r>
              <a:rPr sz="2200"/>
              <a:t>Can you build a concept set on an ICD-10-CM code? ___________________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Athena Exercise — Record Your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Condition I searched for: _________________________________________</a:t>
            </a:r>
          </a:p>
          <a:p>
            <a:pPr/>
            <a:r>
              <a:rPr sz="2200"/>
              <a:t>Standard concept name: ___________________________________________</a:t>
            </a:r>
          </a:p>
          <a:p>
            <a:pPr/>
            <a:r>
              <a:rPr sz="2200"/>
              <a:t>Standard concept_id: _____________________________________________</a:t>
            </a:r>
          </a:p>
          <a:p>
            <a:pPr/>
            <a:r>
              <a:rPr sz="2200"/>
              <a:t>Vocabulary_id of the standard concept: ____________________________</a:t>
            </a:r>
          </a:p>
          <a:p>
            <a:pPr/>
            <a:r>
              <a:rPr sz="2200"/>
              <a:t>Number of ICD codes that 'Map to' this concept: ___________________</a:t>
            </a:r>
          </a:p>
          <a:p>
            <a:pPr/>
            <a:r>
              <a:rPr sz="2200"/>
              <a:t>Number of descendant concepts: ____________________________________</a:t>
            </a:r>
          </a:p>
          <a:p>
            <a:pPr/>
            <a:r>
              <a:rPr sz="2200"/>
              <a:t>One surprising concept I found in the hierarchy: ____________________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You.  Questions?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t>Danielle Boyce</a:t>
            </a:r>
          </a:p>
          <a:p>
            <a:pPr marL="0" indent="0">
              <a:buNone/>
            </a:pPr>
            <a:r>
              <a:t>dboyce@als.net</a:t>
            </a:r>
          </a:p>
          <a:p>
            <a:pPr marL="0" indent="0">
              <a:buNone/>
            </a:pPr>
            <a:r>
              <a:t>ALS TDI · OHDSI/OMOP Train-the-Trainer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62626"/>
      </a:dk2>
      <a:lt2>
        <a:srgbClr val="F2F2F2"/>
      </a:lt2>
      <a:accent1>
        <a:srgbClr val="404040"/>
      </a:accent1>
      <a:accent2>
        <a:srgbClr val="7F7F7F"/>
      </a:accent2>
      <a:accent3>
        <a:srgbClr val="A6A6A6"/>
      </a:accent3>
      <a:accent4>
        <a:srgbClr val="595959"/>
      </a:accent4>
      <a:accent5>
        <a:srgbClr val="BFBFBF"/>
      </a:accent5>
      <a:accent6>
        <a:srgbClr val="262626"/>
      </a:accent6>
      <a:hlink>
        <a:srgbClr val="000000"/>
      </a:hlink>
      <a:folHlink>
        <a:srgbClr val="40404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