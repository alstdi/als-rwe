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20240"/>
            <a:ext cx="10363200" cy="128016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291840"/>
            <a:ext cx="10363200" cy="18288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Environment Setup</a:t>
            </a:r>
          </a:p>
          <a:p>
            <a:r>
              <a:t>and Access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MODULE 0</a:t>
            </a:r>
          </a:p>
          <a:p>
            <a:pPr marL="0" indent="0">
              <a:buNone/>
            </a:pPr>
            <a:r>
              <a:t>Participant Handout · Complete before Day 1</a:t>
            </a:r>
          </a:p>
          <a:p>
            <a:pPr marL="0" indent="0">
              <a:buNone/>
            </a:pPr>
            <a:r>
              <a:t>ALS TDI · OHDSI/OMOP Train-the-Trainer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Setup Checklist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2648" y="1417320"/>
          <a:ext cx="10966702" cy="36576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374234"/>
                <a:gridCol w="6218234"/>
                <a:gridCol w="2374234"/>
              </a:tblGrid>
              <a:tr h="40005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</a:rPr>
                        <a:t>Item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</a:rPr>
                        <a:t>What to Do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</a:rPr>
                        <a:t>Status</a:t>
                      </a:r>
                    </a:p>
                  </a:txBody>
                  <a:tcPr marL="73152" marR="73152" marT="27432" marB="27432"/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ATLAS Login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Log in to your site's ATLAS and save a test concept set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☐ Done  ☐ Blocked</a:t>
                      </a:r>
                    </a:p>
                  </a:txBody>
                  <a:tcPr marL="73152" marR="73152" marT="27432" marB="27432"/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CDM SQL Access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Run SELECT * FROM person LIMIT 5 in your SQL client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☐ Done  ☐ Blocked</a:t>
                      </a:r>
                    </a:p>
                  </a:txBody>
                  <a:tcPr marL="73152" marR="73152" marT="27432" marB="27432"/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Athena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Open athena.ohdsi.org and search for riluzole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☐ Done  ☐ Blocked</a:t>
                      </a:r>
                    </a:p>
                  </a:txBody>
                  <a:tcPr marL="73152" marR="73152" marT="27432" marB="27432"/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SQL Client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Connect to CDM in Databricks, DBeaver, or your site's client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☐ Done  ☐ Blocked</a:t>
                      </a:r>
                    </a:p>
                  </a:txBody>
                  <a:tcPr marL="73152" marR="73152" marT="27432" marB="27432"/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Git / GitHub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Clone the program repo: git clone [repo-url]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☐ Done  ☐ Blocked</a:t>
                      </a:r>
                    </a:p>
                  </a:txBody>
                  <a:tcPr marL="73152" marR="73152" marT="27432" marB="27432"/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R / HADES (Day 6)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Install DatabaseConnector and run library(DatabaseConnector)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☐ Done  ☐ N/A</a:t>
                      </a:r>
                    </a:p>
                  </a:txBody>
                  <a:tcPr marL="73152" marR="73152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Verification Steps (Do Before Day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200"/>
              <a:t>1.  Log in to ATLAS → create a test concept set → export JSON → delete it</a:t>
            </a:r>
          </a:p>
          <a:p>
            <a:pPr marL="0" indent="0">
              <a:buNone/>
            </a:pPr>
            <a:r>
              <a:rPr sz="2200"/>
              <a:t>2.  Run in your SQL client: SELECT * FROM [cdm_schema].person LIMIT 5;</a:t>
            </a:r>
          </a:p>
          <a:p>
            <a:pPr marL="0" indent="0">
              <a:buNone/>
            </a:pPr>
            <a:r>
              <a:rPr sz="2200"/>
              <a:t>3.  Open athena.ohdsi.org → search 'riluzole' → confirm results appear</a:t>
            </a:r>
          </a:p>
          <a:p>
            <a:pPr marL="0" indent="0">
              <a:buNone/>
            </a:pPr>
            <a:r>
              <a:rPr sz="2200"/>
              <a:t>4.  In a terminal: git --version → should return a version number</a:t>
            </a:r>
          </a:p>
          <a:p>
            <a:pPr marL="0" indent="0">
              <a:buNone/>
            </a:pPr>
            <a:r>
              <a:rPr sz="2200"/>
              <a:t>5.  Clone the program repository (URL from your trainer)</a:t>
            </a:r>
          </a:p>
          <a:p>
            <a:pPr/>
            <a:r>
              <a:rPr sz="2200"/>
              <a:t>If all five work → you are ready for Day 1</a:t>
            </a:r>
          </a:p>
          <a:p>
            <a:pPr/>
            <a:r>
              <a:rPr sz="2200"/>
              <a:t>If anything is blocked → contact your site support contact NOW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Site's Configuration (Fill 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ATLAS URL:   _______________________________________________</a:t>
            </a:r>
          </a:p>
          <a:p>
            <a:pPr/>
            <a:r>
              <a:rPr sz="2400"/>
              <a:t>Warehouse / CDM Host:   ____________________________________</a:t>
            </a:r>
          </a:p>
          <a:p>
            <a:pPr/>
            <a:r>
              <a:rPr sz="2400"/>
              <a:t>CDM Schema:   ______________________________________________</a:t>
            </a:r>
          </a:p>
          <a:p>
            <a:pPr/>
            <a:r>
              <a:rPr sz="2400"/>
              <a:t>Results Schema:   __________________________________________</a:t>
            </a:r>
          </a:p>
          <a:p>
            <a:pPr/>
            <a:r>
              <a:rPr sz="2400"/>
              <a:t>SQL Client (Databricks / DBeaver / other):   ________________</a:t>
            </a:r>
          </a:p>
          <a:p>
            <a:pPr/>
            <a:r>
              <a:rPr sz="2400"/>
              <a:t>Extraction Method (ATLAS SQL / pipeline):   __________</a:t>
            </a:r>
          </a:p>
          <a:p>
            <a:pPr/>
            <a:r>
              <a:rPr sz="2400"/>
              <a:t>Support Contact (data access):   ____________________________</a:t>
            </a:r>
          </a:p>
          <a:p>
            <a:pPr/>
            <a:r>
              <a:rPr sz="2400"/>
              <a:t>Support Contact (ATLAS admin):   ____________________________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You.  Questions?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t>Danielle Boyce</a:t>
            </a:r>
          </a:p>
          <a:p>
            <a:pPr marL="0" indent="0">
              <a:buNone/>
            </a:pPr>
            <a:r>
              <a:t>dboyce@als.net</a:t>
            </a:r>
          </a:p>
          <a:p>
            <a:pPr marL="0" indent="0">
              <a:buNone/>
            </a:pPr>
            <a:r>
              <a:t>ALS TDI · OHDSI/OMOP Train-the-Trainer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404040"/>
      </a:accent1>
      <a:accent2>
        <a:srgbClr val="7F7F7F"/>
      </a:accent2>
      <a:accent3>
        <a:srgbClr val="A6A6A6"/>
      </a:accent3>
      <a:accent4>
        <a:srgbClr val="595959"/>
      </a:accent4>
      <a:accent5>
        <a:srgbClr val="BFBFBF"/>
      </a:accent5>
      <a:accent6>
        <a:srgbClr val="262626"/>
      </a:accent6>
      <a:hlink>
        <a:srgbClr val="000000"/>
      </a:hlink>
      <a:folHlink>
        <a:srgbClr val="40404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