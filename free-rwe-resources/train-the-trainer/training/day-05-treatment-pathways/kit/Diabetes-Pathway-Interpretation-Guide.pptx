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Treatment Pathway Interpretation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Instructor Reference</a:t>
            </a:r>
          </a:p>
          <a:p>
            <a:pPr marL="0" indent="0">
              <a:buNone/>
            </a:pPr>
            <a:r>
              <a:t>OHDSI / OMOP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Provide prompts for interpreting a pathway result</a:t>
            </a:r>
          </a:p>
          <a:p>
            <a:pPr/>
            <a:r>
              <a:rPr sz="2400"/>
              <a:t>Support demos, recordings, and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First-Step Pattern Often Reported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Metformin as the most common first drug (Hripcsak et al. (PNAS 2016))</a:t>
            </a:r>
          </a:p>
          <a:p>
            <a:pPr marL="0" indent="0">
              <a:buNone/>
            </a:pPr>
            <a:r>
              <a:rPr sz="2400"/>
              <a:t>Check in your data:</a:t>
            </a:r>
          </a:p>
          <a:p>
            <a:pPr/>
            <a:r>
              <a:rPr sz="2400"/>
              <a:t>Size of the first-ring arcs</a:t>
            </a:r>
          </a:p>
          <a:p>
            <a:pPr/>
            <a:r>
              <a:rPr sz="2400"/>
              <a:t>Whether the new-user design is 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Metformin Is Not Dominant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Possible explanations:</a:t>
            </a:r>
          </a:p>
          <a:p>
            <a:pPr/>
            <a:r>
              <a:rPr sz="2400"/>
              <a:t>Prior exposure not excluded</a:t>
            </a:r>
          </a:p>
          <a:p>
            <a:pPr/>
            <a:r>
              <a:rPr sz="2400"/>
              <a:t>Contraindications</a:t>
            </a:r>
          </a:p>
          <a:p>
            <a:pPr/>
            <a:r>
              <a:rPr sz="2400"/>
              <a:t>Data capture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Second-Line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Common add-ons:</a:t>
            </a:r>
          </a:p>
          <a:p>
            <a:pPr/>
            <a:r>
              <a:rPr sz="2400"/>
              <a:t>GLP-1 RAs</a:t>
            </a:r>
          </a:p>
          <a:p>
            <a:pPr/>
            <a:r>
              <a:rPr sz="2400"/>
              <a:t>SGLT2 inhibitors</a:t>
            </a:r>
          </a:p>
          <a:p>
            <a:pPr/>
            <a:r>
              <a:rPr sz="2400"/>
              <a:t>DPP-4 inhibitors</a:t>
            </a:r>
          </a:p>
          <a:p>
            <a:pPr/>
            <a:r>
              <a:rPr sz="2400"/>
              <a:t>Possible reasons to discuss: comorbidities, formulary, calendar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Combination Therapy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Metformin + another agent usually indicates add-on, not switching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Insulin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Read the share reaching insulin from your data</a:t>
            </a:r>
          </a:p>
          <a:p>
            <a:pPr marL="0" indent="0">
              <a:buNone/>
            </a:pPr>
            <a:r>
              <a:rPr sz="2400"/>
              <a:t>Earlier insulin can go along with:</a:t>
            </a:r>
          </a:p>
          <a:p>
            <a:pPr/>
            <a:r>
              <a:rPr sz="2400"/>
              <a:t>Severe disease</a:t>
            </a:r>
          </a:p>
          <a:p>
            <a:pPr/>
            <a:r>
              <a:rPr sz="2400"/>
              <a:t>Long follow-up</a:t>
            </a:r>
          </a:p>
          <a:p>
            <a:pPr/>
            <a:r>
              <a:rPr sz="2400"/>
              <a:t>Older population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and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More branching = more heterogeneity</a:t>
            </a:r>
          </a:p>
          <a:p>
            <a:pPr/>
            <a:r>
              <a:rPr sz="2400"/>
              <a:t>Often increases with follow-up length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Grey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Grey = end of the pathway (no further event cohort observed)</a:t>
            </a:r>
          </a:p>
          <a:p>
            <a:pPr/>
            <a:r>
              <a:rPr sz="2400"/>
              <a:t>Does NOT mean no treatment 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 or Repeated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May indicate:</a:t>
            </a:r>
          </a:p>
          <a:p>
            <a:pPr/>
            <a:r>
              <a:rPr sz="2400"/>
              <a:t>Treatment cycling</a:t>
            </a:r>
          </a:p>
          <a:p>
            <a:pPr/>
            <a:r>
              <a:rPr sz="2400"/>
              <a:t>Gaps in exposure capture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Age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Build one target cohort per age group, then compare:</a:t>
            </a:r>
          </a:p>
          <a:p>
            <a:pPr/>
            <a:r>
              <a:rPr sz="2400"/>
              <a:t>Timing of the second step</a:t>
            </a:r>
          </a:p>
          <a:p>
            <a:pPr/>
            <a:r>
              <a:rPr sz="2400"/>
              <a:t>Share reaching insulin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vs Data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Always ask:</a:t>
            </a:r>
          </a:p>
          <a:p>
            <a:pPr/>
            <a:r>
              <a:rPr sz="2400"/>
              <a:t>Is this clinically plausible?</a:t>
            </a:r>
          </a:p>
          <a:p>
            <a:pPr/>
            <a:r>
              <a:rPr sz="2400"/>
              <a:t>Or a data artifact?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NOT to Conclude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Effectiveness</a:t>
            </a:r>
          </a:p>
          <a:p>
            <a:pPr/>
            <a:r>
              <a:rPr sz="2400"/>
              <a:t>Superiority</a:t>
            </a:r>
          </a:p>
          <a:p>
            <a:pPr/>
            <a:r>
              <a:rPr sz="2400"/>
              <a:t>Causality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Explain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Frame as:</a:t>
            </a:r>
          </a:p>
          <a:p>
            <a:pPr/>
            <a:r>
              <a:rPr sz="2400"/>
              <a:t>Practice variation</a:t>
            </a:r>
          </a:p>
          <a:p>
            <a:pPr/>
            <a:r>
              <a:rPr sz="2400"/>
              <a:t>Population differences</a:t>
            </a:r>
          </a:p>
          <a:p>
            <a:pPr/>
            <a:r>
              <a:rPr sz="2400"/>
              <a:t>Data 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Teaching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Pathways show what happened, not why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