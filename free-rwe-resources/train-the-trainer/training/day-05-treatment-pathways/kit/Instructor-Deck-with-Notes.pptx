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deck is the ALS medication worked example for Day 5. Teach the concepts and the ATLAS walkthrough from ATLAS-Treatment-Pathways-Training.pptx first, then use this deck to work one example from cohorts to interpretation.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session, you should be comfortable explaining what a treatment pathway is, how ATLAS constructs them from OMOP data, and how to describe the ALS medication patterns recorded in your data.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how we’ll spend our time today. The largest block will be a live ATLAS walkthrough, but we’ll build up to it with the necessary context.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ALS has few medications, so the pathways are short: a first medication, and sometimes a second that is added or started later. That makes the plot easy to read and puts the attention on data capture: which medications are recorded as drug exposures, which are given in a clinic and may be recorded as procedures, and which are missing because they were supplied outside the health system. No published pathway result is assumed for this example; describe what the data show. The reference pathway study on OHDSI data, Hripcsak et al. (PNAS 2016), covered diabetes, hypertension, and depression.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Treatment pathway analysis is descriptive. It shows the sequences recorded in the data, which may differ from what guidelines recommend and from what was prescribed but never recorded.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pathway analyses depend on the OMOP structure. Drug exposures drive the sequence. In ATLAS each step is an event cohort, built beforehand from a concept set at the ingredient or class level.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ATLAS the feature is named Cohort Pathways and has its own entry in the left menu. Start from a target cohort and a set of event cohorts that have already been generated.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Cohort definition is critical. Small changes here can significantly alter pathway results.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item is its own event cohort, built from an ingredient concept set with descendants. Cohort Pathways takes cohorts as input, not concept sets. Add other ALS medications your site records, and leave out medications given for symptoms unless the question is about them.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settings ATLAS Cohort Pathways offers. The combination window (labeled Collapse Days in some ATLAS versions) is about how close two event start dates are: starts that fall within the window are given the earliest date and shown as one combined step. How long an exposure lasts, and the gap allowed between fills, are set in each event cohort's exit rule. Follow-up time comes from the target cohort.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During the demo, focus on how patient counts flow and where pathways branch.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ATLAS shows pathways as a sunburst plot, with a Tabular button for the same results as a table. Each ring outward is the next step, the size of an arc shows the share of people on that path, and the end of a pathway is shown in grey. People in the target cohort who never enter any event cohort are left out of the analysis. Interpretation needs both clinical and analytic context, and a branch is not evidence of inappropriate care.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ATLAS Cohort Pathways has no stratification setting. To compare subgroups, build one target cohort per subgroup and add them to the same analysis; ATLAS reports each target cohort separately.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Participants should now apply what they’ve learned by exploring pathways themselves.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Always contextualize results and avoid causal interpretations.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Treatment Pathway Analysis is a foundational real-world evidence tool when used carefully.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advanced module, we’ll extend today’s concepts to more complex analyses.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5"/>
            <a:ext cx="103632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828800" y="3886200"/>
            <a:ext cx="8534400" cy="1752600"/>
          </a:xfrm>
        </p:spPr>
        <p:txBody>
          <a:bodyPr/>
          <a:lstStyle>
            <a:lvl1pPr marL="0" indent="0" algn="l">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1920240"/>
            <a:ext cx="10363200" cy="1280160"/>
          </a:xfrm>
        </p:spPr>
        <p:txBody>
          <a:bodyPr anchor="b"/>
          <a:lstStyle>
            <a:lvl1pPr algn="l">
              <a:defRPr sz="4000" b="1"/>
            </a:lvl1pPr>
          </a:lstStyle>
          <a:p>
            <a:r>
              <a:rPr lang="en-US" smtClean="0"/>
              <a:t>Click to edit Master title style</a:t>
            </a:r>
            <a:endParaRPr lang="en-US"/>
          </a:p>
        </p:txBody>
      </p:sp>
      <p:sp>
        <p:nvSpPr>
          <p:cNvPr id="3" name="Text Placeholder 2"/>
          <p:cNvSpPr>
            <a:spLocks noGrp="1"/>
          </p:cNvSpPr>
          <p:nvPr>
            <p:ph type="body" idx="1"/>
          </p:nvPr>
        </p:nvSpPr>
        <p:spPr>
          <a:xfrm>
            <a:off x="963084" y="3291840"/>
            <a:ext cx="10363200" cy="1828800"/>
          </a:xfrm>
        </p:spPr>
        <p:txBody>
          <a:bodyPr anchor="t"/>
          <a:lstStyle>
            <a:lvl1pPr marL="0" indent="0" algn="l">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lgn="l"/>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93366"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66"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4011084"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766733" y="273050"/>
            <a:ext cx="6815666"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8"/>
            <a:ext cx="27432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74638"/>
            <a:ext cx="80264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09600" y="1600200"/>
            <a:ext cx="109728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09600" y="6356350"/>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4165600" y="6356350"/>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0"/>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200" kern="1200" b="1">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20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6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4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OHDSI / OMOP Training: Treatment Pathway Analysis (ALS Medications)</a:t>
            </a:r>
          </a:p>
        </p:txBody>
      </p:sp>
      <p:sp>
        <p:nvSpPr>
          <p:cNvPr id="3" name="Subtitle 2"/>
          <p:cNvSpPr>
            <a:spLocks noGrp="1"/>
          </p:cNvSpPr>
          <p:nvPr>
            <p:ph type="subTitle" idx="1"/>
          </p:nvPr>
        </p:nvSpPr>
        <p:spPr/>
        <p:txBody>
          <a:bodyPr/>
          <a:lstStyle/>
          <a:p>
            <a:pPr marL="0" indent="0">
              <a:buNone/>
            </a:pPr>
            <a:r>
              <a:t>Worked example for Day 5 (use after the ATLAS Cohort Pathways deck)</a:t>
            </a:r>
          </a:p>
          <a:p>
            <a:pPr marL="0" indent="0">
              <a:buNone/>
            </a:pPr>
            <a:r>
              <a:t>Duration: about 60 minutes within the half-day session</a:t>
            </a:r>
          </a:p>
          <a:p>
            <a:pPr marL="0" indent="0">
              <a:buNone/>
            </a:pPr>
            <a:r>
              <a:t>Audience: Analysts, Clinicians, Epidemiologists, Data Scientists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Learning Objectives</a:t>
            </a:r>
          </a:p>
        </p:txBody>
      </p:sp>
      <p:sp>
        <p:nvSpPr>
          <p:cNvPr id="3" name="Content Placeholder 2"/>
          <p:cNvSpPr>
            <a:spLocks noGrp="1"/>
          </p:cNvSpPr>
          <p:nvPr>
            <p:ph idx="1"/>
          </p:nvPr>
        </p:nvSpPr>
        <p:spPr/>
        <p:txBody>
          <a:bodyPr/>
          <a:lstStyle/>
          <a:p>
            <a:pPr/>
            <a:r>
              <a:rPr sz="2400"/>
              <a:t>Understand treatment pathways in OMOP</a:t>
            </a:r>
          </a:p>
          <a:p>
            <a:pPr/>
            <a:r>
              <a:rPr sz="2400"/>
              <a:t>Learn ATLAS pathway analysis</a:t>
            </a:r>
          </a:p>
          <a:p>
            <a:pPr/>
            <a:r>
              <a:rPr sz="2400"/>
              <a:t>Interpret ALS medication patterns</a:t>
            </a:r>
          </a:p>
          <a:p>
            <a:pPr/>
            <a:r>
              <a:rPr sz="2400"/>
              <a:t>Recognize limitations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Agenda</a:t>
            </a:r>
          </a:p>
        </p:txBody>
      </p:sp>
      <p:sp>
        <p:nvSpPr>
          <p:cNvPr id="3" name="Content Placeholder 2"/>
          <p:cNvSpPr>
            <a:spLocks noGrp="1"/>
          </p:cNvSpPr>
          <p:nvPr>
            <p:ph idx="1"/>
          </p:nvPr>
        </p:nvSpPr>
        <p:spPr/>
        <p:txBody>
          <a:bodyPr/>
          <a:lstStyle/>
          <a:p>
            <a:pPr marL="0" indent="0">
              <a:buNone/>
            </a:pPr>
            <a:r>
              <a:rPr sz="2400"/>
              <a:t>1. OMOP &amp; OHDSI overview</a:t>
            </a:r>
          </a:p>
          <a:p>
            <a:pPr marL="0" indent="0">
              <a:buNone/>
            </a:pPr>
            <a:r>
              <a:rPr sz="2400"/>
              <a:t>2. Treatment pathway concepts</a:t>
            </a:r>
          </a:p>
          <a:p>
            <a:pPr marL="0" indent="0">
              <a:buNone/>
            </a:pPr>
            <a:r>
              <a:rPr sz="2400"/>
              <a:t>3. ALS medication use case</a:t>
            </a:r>
          </a:p>
          <a:p>
            <a:pPr marL="0" indent="0">
              <a:buNone/>
            </a:pPr>
            <a:r>
              <a:rPr sz="2400"/>
              <a:t>4. ATLAS walkthrough</a:t>
            </a:r>
          </a:p>
          <a:p>
            <a:pPr marL="0" indent="0">
              <a:buNone/>
            </a:pPr>
            <a:r>
              <a:rPr sz="2400"/>
              <a:t>5. Interpretation &amp; subgroups</a:t>
            </a:r>
          </a:p>
          <a:p>
            <a:pPr marL="0" indent="0">
              <a:buNone/>
            </a:pPr>
            <a:r>
              <a:rPr sz="2400"/>
              <a:t>6. Wrap-up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ALS Medication Background</a:t>
            </a:r>
          </a:p>
        </p:txBody>
      </p:sp>
      <p:sp>
        <p:nvSpPr>
          <p:cNvPr id="3" name="Content Placeholder 2"/>
          <p:cNvSpPr>
            <a:spLocks noGrp="1"/>
          </p:cNvSpPr>
          <p:nvPr>
            <p:ph idx="1"/>
          </p:nvPr>
        </p:nvSpPr>
        <p:spPr/>
        <p:txBody>
          <a:bodyPr/>
          <a:lstStyle/>
          <a:p>
            <a:pPr marL="0" indent="0">
              <a:buNone/>
            </a:pPr>
            <a:r>
              <a:rPr sz="2400"/>
              <a:t>Medications to look for in the data:</a:t>
            </a:r>
          </a:p>
          <a:p>
            <a:pPr/>
            <a:r>
              <a:rPr sz="2400"/>
              <a:t>Riluzole</a:t>
            </a:r>
          </a:p>
          <a:p>
            <a:pPr/>
            <a:r>
              <a:rPr sz="2400"/>
              <a:t>Edaravone</a:t>
            </a:r>
          </a:p>
          <a:p>
            <a:pPr/>
            <a:r>
              <a:rPr sz="2400"/>
              <a:t>Tofersen</a:t>
            </a:r>
          </a:p>
          <a:p>
            <a:pPr/>
            <a:r>
              <a:rPr sz="2400"/>
              <a:t>Sodium phenylbutyrate and taurursodiol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Pathway Analysis?</a:t>
            </a:r>
          </a:p>
        </p:txBody>
      </p:sp>
      <p:sp>
        <p:nvSpPr>
          <p:cNvPr id="3" name="Content Placeholder 2"/>
          <p:cNvSpPr>
            <a:spLocks noGrp="1"/>
          </p:cNvSpPr>
          <p:nvPr>
            <p:ph idx="1"/>
          </p:nvPr>
        </p:nvSpPr>
        <p:spPr/>
        <p:txBody>
          <a:bodyPr/>
          <a:lstStyle/>
          <a:p>
            <a:pPr/>
            <a:r>
              <a:rPr sz="2400"/>
              <a:t>Observe real-world practice</a:t>
            </a:r>
          </a:p>
          <a:p>
            <a:pPr/>
            <a:r>
              <a:rPr sz="2400"/>
              <a:t>Compare subgroups</a:t>
            </a:r>
          </a:p>
          <a:p>
            <a:pPr/>
            <a:r>
              <a:rPr sz="2400"/>
              <a:t>Identify variation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OMOP CDM Foundations</a:t>
            </a:r>
          </a:p>
        </p:txBody>
      </p:sp>
      <p:sp>
        <p:nvSpPr>
          <p:cNvPr id="3" name="Content Placeholder 2"/>
          <p:cNvSpPr>
            <a:spLocks noGrp="1"/>
          </p:cNvSpPr>
          <p:nvPr>
            <p:ph idx="1"/>
          </p:nvPr>
        </p:nvSpPr>
        <p:spPr/>
        <p:txBody>
          <a:bodyPr/>
          <a:lstStyle/>
          <a:p>
            <a:pPr/>
            <a:r>
              <a:rPr sz="2400"/>
              <a:t>CONDITION_OCCURRENCE: Motor neuron disease</a:t>
            </a:r>
          </a:p>
          <a:p>
            <a:pPr/>
            <a:r>
              <a:rPr sz="2400"/>
              <a:t>DRUG_EXPOSURE: Treatments</a:t>
            </a:r>
          </a:p>
          <a:p>
            <a:pPr/>
            <a:r>
              <a:rPr sz="2400"/>
              <a:t>Event cohorts built from ingredient or class concept sets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ATLAS: Cohort Pathways</a:t>
            </a:r>
          </a:p>
        </p:txBody>
      </p:sp>
      <p:sp>
        <p:nvSpPr>
          <p:cNvPr id="3" name="Content Placeholder 2"/>
          <p:cNvSpPr>
            <a:spLocks noGrp="1"/>
          </p:cNvSpPr>
          <p:nvPr>
            <p:ph idx="1"/>
          </p:nvPr>
        </p:nvSpPr>
        <p:spPr/>
        <p:txBody>
          <a:bodyPr/>
          <a:lstStyle/>
          <a:p>
            <a:pPr/>
            <a:r>
              <a:rPr sz="2400"/>
              <a:t>ATLAS → Cohort Pathways (left menu) → New</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Defining the Target Cohort</a:t>
            </a:r>
          </a:p>
        </p:txBody>
      </p:sp>
      <p:sp>
        <p:nvSpPr>
          <p:cNvPr id="3" name="Content Placeholder 2"/>
          <p:cNvSpPr>
            <a:spLocks noGrp="1"/>
          </p:cNvSpPr>
          <p:nvPr>
            <p:ph idx="1"/>
          </p:nvPr>
        </p:nvSpPr>
        <p:spPr/>
        <p:txBody>
          <a:bodyPr/>
          <a:lstStyle/>
          <a:p>
            <a:pPr/>
            <a:r>
              <a:rPr sz="2400"/>
              <a:t>People with a motor neuron disease diagnosis</a:t>
            </a:r>
          </a:p>
          <a:p>
            <a:pPr/>
            <a:r>
              <a:rPr sz="2400"/>
              <a:t>Continuous observation</a:t>
            </a:r>
          </a:p>
          <a:p>
            <a:pPr/>
            <a:r>
              <a:rPr sz="2400"/>
              <a:t>Index: diagnosis or treatment start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Building the Event Cohorts</a:t>
            </a:r>
          </a:p>
        </p:txBody>
      </p:sp>
      <p:sp>
        <p:nvSpPr>
          <p:cNvPr id="3" name="Content Placeholder 2"/>
          <p:cNvSpPr>
            <a:spLocks noGrp="1"/>
          </p:cNvSpPr>
          <p:nvPr>
            <p:ph idx="1"/>
          </p:nvPr>
        </p:nvSpPr>
        <p:spPr/>
        <p:txBody>
          <a:bodyPr/>
          <a:lstStyle/>
          <a:p>
            <a:pPr/>
            <a:r>
              <a:rPr sz="2400"/>
              <a:t>Riluzole</a:t>
            </a:r>
          </a:p>
          <a:p>
            <a:pPr/>
            <a:r>
              <a:rPr sz="2400"/>
              <a:t>Edaravone</a:t>
            </a:r>
          </a:p>
          <a:p>
            <a:pPr/>
            <a:r>
              <a:rPr sz="2400"/>
              <a:t>Tofersen</a:t>
            </a:r>
          </a:p>
          <a:p>
            <a:pPr/>
            <a:r>
              <a:rPr sz="2400"/>
              <a:t>Sodium phenylbutyrate and taurursodiol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Pathway Design Choices</a:t>
            </a:r>
          </a:p>
        </p:txBody>
      </p:sp>
      <p:sp>
        <p:nvSpPr>
          <p:cNvPr id="3" name="Content Placeholder 2"/>
          <p:cNvSpPr>
            <a:spLocks noGrp="1"/>
          </p:cNvSpPr>
          <p:nvPr>
            <p:ph idx="1"/>
          </p:nvPr>
        </p:nvSpPr>
        <p:spPr/>
        <p:txBody>
          <a:bodyPr/>
          <a:lstStyle/>
          <a:p>
            <a:pPr/>
            <a:r>
              <a:rPr sz="2400"/>
              <a:t>Combination window</a:t>
            </a:r>
          </a:p>
          <a:p>
            <a:pPr/>
            <a:r>
              <a:rPr sz="2400"/>
              <a:t>Minimum cell count</a:t>
            </a:r>
          </a:p>
          <a:p>
            <a:pPr/>
            <a:r>
              <a:rPr sz="2400"/>
              <a:t>Maximum path length, allow repeats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Live ATLAS Walkthrough</a:t>
            </a:r>
          </a:p>
        </p:txBody>
      </p:sp>
      <p:sp>
        <p:nvSpPr>
          <p:cNvPr id="3" name="Content Placeholder 2"/>
          <p:cNvSpPr>
            <a:spLocks noGrp="1"/>
          </p:cNvSpPr>
          <p:nvPr>
            <p:ph idx="1"/>
          </p:nvPr>
        </p:nvSpPr>
        <p:spPr/>
        <p:txBody>
          <a:bodyPr/>
          <a:lstStyle/>
          <a:p>
            <a:pPr/>
            <a:r>
              <a:rPr sz="2400"/>
              <a:t>Target cohort → Event cohorts → Settings → Generate → View the sunburst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Interpreting Pathways</a:t>
            </a:r>
          </a:p>
        </p:txBody>
      </p:sp>
      <p:sp>
        <p:nvSpPr>
          <p:cNvPr id="3" name="Content Placeholder 2"/>
          <p:cNvSpPr>
            <a:spLocks noGrp="1"/>
          </p:cNvSpPr>
          <p:nvPr>
            <p:ph idx="1"/>
          </p:nvPr>
        </p:nvSpPr>
        <p:spPr/>
        <p:txBody>
          <a:bodyPr/>
          <a:lstStyle/>
          <a:p>
            <a:pPr/>
            <a:r>
              <a:rPr sz="2400"/>
              <a:t>Arc size = share of the target cohort</a:t>
            </a:r>
          </a:p>
          <a:p>
            <a:pPr/>
            <a:r>
              <a:rPr sz="2400"/>
              <a:t>Branching = variation</a:t>
            </a:r>
          </a:p>
          <a:p>
            <a:pPr/>
            <a:r>
              <a:rPr sz="2400"/>
              <a:t>Rings = steps in the sequence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Subgroup Comparisons</a:t>
            </a:r>
          </a:p>
        </p:txBody>
      </p:sp>
      <p:sp>
        <p:nvSpPr>
          <p:cNvPr id="3" name="Content Placeholder 2"/>
          <p:cNvSpPr>
            <a:spLocks noGrp="1"/>
          </p:cNvSpPr>
          <p:nvPr>
            <p:ph idx="1"/>
          </p:nvPr>
        </p:nvSpPr>
        <p:spPr/>
        <p:txBody>
          <a:bodyPr/>
          <a:lstStyle/>
          <a:p>
            <a:pPr/>
            <a:r>
              <a:rPr sz="2400"/>
              <a:t>Age</a:t>
            </a:r>
          </a:p>
          <a:p>
            <a:pPr/>
            <a:r>
              <a:rPr sz="2400"/>
              <a:t>Sex</a:t>
            </a:r>
          </a:p>
          <a:p>
            <a:pPr/>
            <a:r>
              <a:rPr sz="2400"/>
              <a:t>Comorbidities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Hands-On Exercise</a:t>
            </a:r>
          </a:p>
        </p:txBody>
      </p:sp>
      <p:sp>
        <p:nvSpPr>
          <p:cNvPr id="3" name="Content Placeholder 2"/>
          <p:cNvSpPr>
            <a:spLocks noGrp="1"/>
          </p:cNvSpPr>
          <p:nvPr>
            <p:ph idx="1"/>
          </p:nvPr>
        </p:nvSpPr>
        <p:spPr/>
        <p:txBody>
          <a:bodyPr/>
          <a:lstStyle/>
          <a:p>
            <a:pPr marL="0" indent="0">
              <a:buNone/>
            </a:pPr>
            <a:r>
              <a:rPr sz="2400"/>
              <a:t>Identify:</a:t>
            </a:r>
          </a:p>
          <a:p>
            <a:pPr/>
            <a:r>
              <a:rPr sz="2400"/>
              <a:t>Most common pathway</a:t>
            </a:r>
          </a:p>
          <a:p>
            <a:pPr/>
            <a:r>
              <a:rPr sz="2400"/>
              <a:t>% of paths with edaravone after riluzole</a:t>
            </a:r>
          </a:p>
          <a:p>
            <a:pPr/>
            <a:r>
              <a:rPr sz="2400"/>
              <a:t>Subgroup differences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Limitations</a:t>
            </a:r>
          </a:p>
        </p:txBody>
      </p:sp>
      <p:sp>
        <p:nvSpPr>
          <p:cNvPr id="3" name="Content Placeholder 2"/>
          <p:cNvSpPr>
            <a:spLocks noGrp="1"/>
          </p:cNvSpPr>
          <p:nvPr>
            <p:ph idx="1"/>
          </p:nvPr>
        </p:nvSpPr>
        <p:spPr/>
        <p:txBody>
          <a:bodyPr/>
          <a:lstStyle/>
          <a:p>
            <a:pPr/>
            <a:r>
              <a:rPr sz="2400"/>
              <a:t>Data quality</a:t>
            </a:r>
          </a:p>
          <a:p>
            <a:pPr/>
            <a:r>
              <a:rPr sz="2400"/>
              <a:t>Exposure misclassification</a:t>
            </a:r>
          </a:p>
          <a:p>
            <a:pPr/>
            <a:r>
              <a:rPr sz="2400"/>
              <a:t>Descriptive only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Takeaways</a:t>
            </a:r>
          </a:p>
        </p:txBody>
      </p:sp>
      <p:sp>
        <p:nvSpPr>
          <p:cNvPr id="3" name="Content Placeholder 2"/>
          <p:cNvSpPr>
            <a:spLocks noGrp="1"/>
          </p:cNvSpPr>
          <p:nvPr>
            <p:ph idx="1"/>
          </p:nvPr>
        </p:nvSpPr>
        <p:spPr/>
        <p:txBody>
          <a:bodyPr/>
          <a:lstStyle/>
          <a:p>
            <a:pPr/>
            <a:r>
              <a:rPr sz="2400"/>
              <a:t>Pathways reveal care patterns</a:t>
            </a:r>
          </a:p>
          <a:p>
            <a:pPr/>
            <a:r>
              <a:rPr sz="2400"/>
              <a:t>ATLAS simplifies sequencing</a:t>
            </a:r>
          </a:p>
          <a:p>
            <a:pPr/>
            <a:r>
              <a:rPr sz="2400"/>
              <a:t>Design choices matter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Next Steps</a:t>
            </a:r>
          </a:p>
        </p:txBody>
      </p:sp>
      <p:sp>
        <p:nvSpPr>
          <p:cNvPr id="3" name="Content Placeholder 2"/>
          <p:cNvSpPr>
            <a:spLocks noGrp="1"/>
          </p:cNvSpPr>
          <p:nvPr>
            <p:ph idx="1"/>
          </p:nvPr>
        </p:nvSpPr>
        <p:spPr/>
        <p:txBody>
          <a:bodyPr/>
          <a:lstStyle/>
          <a:p>
            <a:pPr marL="0" indent="0">
              <a:buNone/>
            </a:pPr>
            <a:r>
              <a:rPr sz="2400"/>
              <a:t>Advanced module:</a:t>
            </a:r>
          </a:p>
          <a:p>
            <a:pPr/>
            <a:r>
              <a:rPr sz="2400"/>
              <a:t>Persistence</a:t>
            </a:r>
          </a:p>
          <a:p>
            <a:pPr/>
            <a:r>
              <a:rPr sz="2400"/>
              <a:t>Combination therapy</a:t>
            </a:r>
          </a:p>
          <a:p>
            <a:pPr/>
            <a:r>
              <a:rPr sz="2400"/>
              <a:t>Sensitivity analysis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262626"/>
      </a:dk2>
      <a:lt2>
        <a:srgbClr val="F2F2F2"/>
      </a:lt2>
      <a:accent1>
        <a:srgbClr val="404040"/>
      </a:accent1>
      <a:accent2>
        <a:srgbClr val="7F7F7F"/>
      </a:accent2>
      <a:accent3>
        <a:srgbClr val="A6A6A6"/>
      </a:accent3>
      <a:accent4>
        <a:srgbClr val="595959"/>
      </a:accent4>
      <a:accent5>
        <a:srgbClr val="BFBFBF"/>
      </a:accent5>
      <a:accent6>
        <a:srgbClr val="262626"/>
      </a:accent6>
      <a:hlink>
        <a:srgbClr val="000000"/>
      </a:hlink>
      <a:folHlink>
        <a:srgbClr val="40404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