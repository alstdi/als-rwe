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alstdi-logo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901" name="ALS TDI Logo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65008" y="6043049"/>
            <a:ext cx="914400" cy="70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Recording Script</a:t>
            </a:r>
          </a:p>
          <a:p>
            <a:r>
              <a:t>Treatment Pathway Analysis (Diabetes)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Narration-Optimized Script</a:t>
            </a:r>
          </a:p>
          <a:p>
            <a:r>
              <a:t>OHDSI / OMOP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Opening (0–2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Welcome. In this session, we will explore Treatment Pathway Analysis using the OHDSI ATLAS tool. This is an introductory, diabetes-focused walkthrough designed to show how patients move through sequences of treatments over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Setting (2–5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Treatment pathways are descriptive analyses. They help us understand real-world care patterns, not determine effectiveness or causality. Keep this framing in mind throughout the session.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OMOP Foundations (5–10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pathway analyses rely on the OMOP Common Data Model. Drug exposures drive treatment sequences, while cohorts define who we are studying and when observation begins.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Diabetes? (10–13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Diabetes is ideal for pathway analysis because treatment typically progresses stepwise, from metformin to additional oral agents and sometimes insulin.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Introducing ATLAS (13–15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ATLAS provides a visual interface for defining cohorts, running analyses, and exploring treatment pathways. We will now walk through a complete example.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Selecting the Cohort (15–18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Here, we select a cohort of adults with Type 2 Diabetes. Cohort design choices strongly influence pathway results.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Selecting Treatment Ingredients (18–22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use ingredient-level drug concepts such as metformin, GLP-1 receptor agonists, and insulin. Ingredient-level analysis improves interpretability across databases.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Configuring Pathway Settings (22–26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settings include the observation window, how overlapping treatments are handled, and limits on pathway complexity. These are analytic assumptions, not defaults.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the Analysis (26–30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Once configured, we run the analysis. Runtime varies by database size. Results will differ slightly across data sources.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Interpreting the Visualization (30–38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Arrow width represents the proportion of patients. Branching indicates variation in care. Grey segments mean no further observed treatment, not absence of care.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Diabetes-Specific Patterns (38–43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typically see metformin dominate first-line therapy. Second-line branching reflects add-on therapies such as GLP-1 or SGLT2 inhibitors. Only a minority of patients escalate to insulin.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Subgroup Interpretation (43–47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stratifying by age or other characteristics, differences often reflect disease severity, follow-up length, or data capture differences.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Reminder (47–50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Treatment pathway analysis is descriptive. It does not tell us why changes occurred or whether one pathway is better than another.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(50–52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summary, treatment pathways provide a powerful way to visualize real-world care patterns. When interpreted carefully, they can inform hypothesis generation and study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S TDI">
      <a:dk1>
        <a:sysClr val="windowText" lastClr="000000"/>
      </a:dk1>
      <a:lt1>
        <a:sysClr val="window" lastClr="FFFFFF"/>
      </a:lt1>
      <a:dk2>
        <a:srgbClr val="6D2F77"/>
      </a:dk2>
      <a:lt2>
        <a:srgbClr val="F2EAF4"/>
      </a:lt2>
      <a:accent1>
        <a:srgbClr val="904199"/>
      </a:accent1>
      <a:accent2>
        <a:srgbClr val="B872C0"/>
      </a:accent2>
      <a:accent3>
        <a:srgbClr val="6D2F77"/>
      </a:accent3>
      <a:accent4>
        <a:srgbClr val="4A4A4A"/>
      </a:accent4>
      <a:accent5>
        <a:srgbClr val="D9C2DE"/>
      </a:accent5>
      <a:accent6>
        <a:srgbClr val="7A3580"/>
      </a:accent6>
      <a:hlink>
        <a:srgbClr val="904199"/>
      </a:hlink>
      <a:folHlink>
        <a:srgbClr val="6D2F77"/>
      </a:folHlink>
    </a:clrScheme>
    <a:fontScheme name="Office">
      <a:majorFont>
        <a:latin typeface="EB Garamo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