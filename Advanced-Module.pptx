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 id="268" r:id="rId20"/>
    <p:sldId id="269" r:id="rId21"/>
    <p:sldId id="270" r:id="rId22"/>
    <p:sldId id="271" r:id="rId23"/>
    <p:sldId id="272" r:id="rId24"/>
    <p:sldId id="273" r:id="rId25"/>
    <p:sldId id="274" r:id="rId26"/>
    <p:sldId id="275"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this module is intentionally brief on content so the group can spend maximum time verifying access. If everyone connects in 20 minutes, use the rest of the time to explore Athena.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table row by row. Have participants check each item live. Note: not everyone uses Databricks — ask the group what SQL client their site uses and make a note of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a participant share their screen so the group can see the ATLAS interface. Confirm the ATLAS version — some sites are on older versions that lack certain features.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query fails: check (1) schema name spelling, (2) VPN connection, (3) user permissions on the schema. If the vocabulary table returns 0 rows, the CDM may not have a vocabulary loaded yet — flag to the trainer team.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Athena is always accessible without a VPN or institutional account. If a participant cannot reach Athena, the issue is network/firewall, not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JAVA is the #1 setup blocker for HADES. If it fails, it is almost always one of: (1) Java not installed, (2) wrong version (need 8 or 11, not 17+), (3) RStudio launched before Java was installed. Have participants restart RStudio after installing Java.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during this exercise. The most common blockers: (1) ATLAS login fails — needs account provisioned by admin, (2) CDM connection fails — needs VPN + correct schema name, (3) Git SSH key not set up.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or share this list at the start of the session so participants can self-diagnose. Most issues are resolved in 5 minutes once the cause is identified.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75488" y="1188720"/>
            <a:ext cx="3291840" cy="45720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1252728"/>
            <a:ext cx="3108960" cy="365760"/>
          </a:xfrm>
          <a:prstGeom prst="rect">
            <a:avLst/>
          </a:prstGeom>
          <a:noFill/>
        </p:spPr>
        <p:txBody>
          <a:bodyPr wrap="square">
            <a:spAutoFit/>
          </a:bodyPr>
          <a:lstStyle/>
          <a:p>
            <a:pPr algn="l"/>
            <a:r>
              <a:rPr sz="1400" b="1" i="0">
                <a:solidFill>
                  <a:srgbClr val="FFFFFF"/>
                </a:solidFill>
                <a:latin typeface="Century Gothic"/>
              </a:rPr>
              <a:t>MODULE 0</a:t>
            </a:r>
          </a:p>
        </p:txBody>
      </p:sp>
      <p:sp>
        <p:nvSpPr>
          <p:cNvPr id="7" name="TextBox 6"/>
          <p:cNvSpPr txBox="1"/>
          <p:nvPr/>
        </p:nvSpPr>
        <p:spPr>
          <a:xfrm>
            <a:off x="475488" y="1920240"/>
            <a:ext cx="11237976" cy="2194560"/>
          </a:xfrm>
          <a:prstGeom prst="rect">
            <a:avLst/>
          </a:prstGeom>
          <a:noFill/>
        </p:spPr>
        <p:txBody>
          <a:bodyPr wrap="square">
            <a:spAutoFit/>
          </a:bodyPr>
          <a:lstStyle/>
          <a:p>
            <a:pPr algn="l"/>
            <a:r>
              <a:rPr sz="4000" b="1" i="0">
                <a:solidFill>
                  <a:srgbClr val="FFFFFF"/>
                </a:solidFill>
                <a:latin typeface="Century Gothic"/>
              </a:rPr>
              <a:t>Environment Setup
and Access</a:t>
            </a:r>
          </a:p>
        </p:txBody>
      </p:sp>
      <p:sp>
        <p:nvSpPr>
          <p:cNvPr id="8" name="TextBox 7"/>
          <p:cNvSpPr txBox="1"/>
          <p:nvPr/>
        </p:nvSpPr>
        <p:spPr>
          <a:xfrm>
            <a:off x="475488" y="4297680"/>
            <a:ext cx="11237976" cy="1005840"/>
          </a:xfrm>
          <a:prstGeom prst="rect">
            <a:avLst/>
          </a:prstGeom>
          <a:noFill/>
        </p:spPr>
        <p:txBody>
          <a:bodyPr wrap="square">
            <a:spAutoFit/>
          </a:bodyPr>
          <a:lstStyle/>
          <a:p>
            <a:pPr algn="l"/>
            <a:r>
              <a:rPr sz="2200" b="0" i="0">
                <a:solidFill>
                  <a:srgbClr val="D9C4E6"/>
                </a:solidFill>
                <a:latin typeface="Arial"/>
              </a:rPr>
              <a:t>Verify all tools and data access before Day 1</a:t>
            </a:r>
          </a:p>
        </p:txBody>
      </p:sp>
      <p:sp>
        <p:nvSpPr>
          <p:cNvPr id="9" name="TextBox 8"/>
          <p:cNvSpPr txBox="1"/>
          <p:nvPr/>
        </p:nvSpPr>
        <p:spPr>
          <a:xfrm>
            <a:off x="475488" y="6355080"/>
            <a:ext cx="7315200" cy="365760"/>
          </a:xfrm>
          <a:prstGeom prst="rect">
            <a:avLst/>
          </a:prstGeom>
          <a:noFill/>
        </p:spPr>
        <p:txBody>
          <a:bodyPr wrap="square">
            <a:spAutoFit/>
          </a:bodyPr>
          <a:lstStyle/>
          <a:p>
            <a:pPr algn="l"/>
            <a:r>
              <a:rPr sz="1300" b="0" i="0">
                <a:solidFill>
                  <a:srgbClr val="AEC4D2"/>
                </a:solidFill>
                <a:latin typeface="Arial"/>
              </a:rPr>
              <a:t>ALS TDI · OHDSI/OMOP Train-the-Trainer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554480"/>
            <a:ext cx="11237976" cy="1188720"/>
          </a:xfrm>
          <a:prstGeom prst="rect">
            <a:avLst/>
          </a:prstGeom>
          <a:noFill/>
        </p:spPr>
        <p:txBody>
          <a:bodyPr wrap="square">
            <a:spAutoFit/>
          </a:bodyPr>
          <a:lstStyle/>
          <a:p>
            <a:pPr algn="l"/>
            <a:r>
              <a:rPr sz="4800" b="1" i="0">
                <a:solidFill>
                  <a:srgbClr val="FFFFFF"/>
                </a:solidFill>
                <a:latin typeface="Century Gothic"/>
              </a:rPr>
              <a:t>Thank You</a:t>
            </a:r>
          </a:p>
        </p:txBody>
      </p:sp>
      <p:sp>
        <p:nvSpPr>
          <p:cNvPr id="6" name="TextBox 5"/>
          <p:cNvSpPr txBox="1"/>
          <p:nvPr/>
        </p:nvSpPr>
        <p:spPr>
          <a:xfrm>
            <a:off x="475488" y="3017520"/>
            <a:ext cx="11237976" cy="2743200"/>
          </a:xfrm>
          <a:prstGeom prst="rect">
            <a:avLst/>
          </a:prstGeom>
          <a:noFill/>
        </p:spPr>
        <p:txBody>
          <a:bodyPr wrap="square">
            <a:spAutoFit/>
          </a:bodyPr>
          <a:lstStyle/>
          <a:p>
            <a:pPr>
              <a:spcBef>
                <a:spcPts val="800"/>
              </a:spcBef>
            </a:pPr>
            <a:r>
              <a:rPr sz="2000">
                <a:solidFill>
                  <a:srgbClr val="D9C4E6"/>
                </a:solidFill>
                <a:latin typeface="Arial"/>
              </a:rPr>
              <a:t>Thank you for being here and for investing your time in this work.</a:t>
            </a:r>
          </a:p>
          <a:p>
            <a:pPr>
              <a:spcBef>
                <a:spcPts val="800"/>
              </a:spcBef>
            </a:pPr>
            <a:r>
              <a:rPr sz="2000">
                <a:solidFill>
                  <a:srgbClr val="D9C4E6"/>
                </a:solidFill>
                <a:latin typeface="Arial"/>
              </a:rPr>
              <a:t>This program stands on the shoulders of the global OHDSI community and everyone who contributes to open, reproducible health data science.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Housekeeping</a:t>
            </a:r>
          </a:p>
        </p:txBody>
      </p:sp>
      <p:sp>
        <p:nvSpPr>
          <p:cNvPr id="5" name="TextBox 4"/>
          <p:cNvSpPr txBox="1"/>
          <p:nvPr/>
        </p:nvSpPr>
        <p:spPr>
          <a:xfrm>
            <a:off x="475488" y="1161288"/>
            <a:ext cx="11237976" cy="5495544"/>
          </a:xfrm>
          <a:prstGeom prst="rect">
            <a:avLst/>
          </a:prstGeom>
          <a:noFill/>
        </p:spPr>
        <p:txBody>
          <a:bodyPr wrap="square">
            <a:spAutoFit/>
          </a:bodyPr>
          <a:lstStyle/>
          <a:p>
            <a:pPr>
              <a:spcBef>
                <a:spcPts val="600"/>
              </a:spcBef>
            </a:pPr>
            <a:r>
              <a:rPr sz="1800">
                <a:solidFill>
                  <a:srgbClr val="191919"/>
                </a:solidFill>
                <a:latin typeface="Arial"/>
              </a:rPr>
              <a:t>Recording: today's session is recorded and shared within 24 hours.</a:t>
            </a:r>
          </a:p>
          <a:p>
            <a:pPr>
              <a:spcBef>
                <a:spcPts val="600"/>
              </a:spcBef>
            </a:pPr>
            <a:r>
              <a:rPr sz="1800">
                <a:solidFill>
                  <a:srgbClr val="191919"/>
                </a:solidFill>
                <a:latin typeface="Arial"/>
              </a:rPr>
              <a:t>Questions: ask anytime in the chat — we'll pause at each section break.</a:t>
            </a:r>
          </a:p>
          <a:p>
            <a:pPr>
              <a:spcBef>
                <a:spcPts val="600"/>
              </a:spcBef>
            </a:pPr>
            <a:r>
              <a:rPr sz="1800">
                <a:solidFill>
                  <a:srgbClr val="191919"/>
                </a:solidFill>
                <a:latin typeface="Arial"/>
              </a:rPr>
              <a:t>Materials: the slides, participant workbook, and Kahoot live in the program repo.</a:t>
            </a:r>
          </a:p>
          <a:p>
            <a:pPr>
              <a:spcBef>
                <a:spcPts val="600"/>
              </a:spcBef>
            </a:pPr>
            <a:r>
              <a:rPr sz="1800">
                <a:solidFill>
                  <a:srgbClr val="191919"/>
                </a:solidFill>
                <a:latin typeface="Arial"/>
              </a:rPr>
              <a:t>Breaks: we'll take a short break partway through the session.</a:t>
            </a:r>
          </a:p>
          <a:p>
            <a:pPr>
              <a:spcBef>
                <a:spcPts val="600"/>
              </a:spcBef>
            </a:pPr>
            <a:r>
              <a:rPr sz="1800">
                <a:solidFill>
                  <a:srgbClr val="191919"/>
                </a:solidFill>
                <a:latin typeface="Arial"/>
              </a:rPr>
              <a:t>Be kind to yourself — this is a lot of material; mastery comes with practice, not in one 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Agenda</a:t>
            </a:r>
          </a:p>
        </p:txBody>
      </p:sp>
      <p:sp>
        <p:nvSpPr>
          <p:cNvPr id="5" name="Rectangle 4"/>
          <p:cNvSpPr/>
          <p:nvPr/>
        </p:nvSpPr>
        <p:spPr>
          <a:xfrm>
            <a:off x="475488" y="1161288"/>
            <a:ext cx="1965960" cy="543560"/>
          </a:xfrm>
          <a:prstGeom prst="rect">
            <a:avLst/>
          </a:prstGeom>
          <a:solidFill>
            <a:srgbClr val="ECD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243584"/>
            <a:ext cx="1828800" cy="433832"/>
          </a:xfrm>
          <a:prstGeom prst="rect">
            <a:avLst/>
          </a:prstGeom>
          <a:noFill/>
        </p:spPr>
        <p:txBody>
          <a:bodyPr wrap="square">
            <a:spAutoFit/>
          </a:bodyPr>
          <a:lstStyle/>
          <a:p>
            <a:pPr algn="l"/>
            <a:r>
              <a:rPr sz="1400" b="0" i="0">
                <a:solidFill>
                  <a:srgbClr val="20425A"/>
                </a:solidFill>
                <a:latin typeface="Arial"/>
              </a:rPr>
              <a:t>0:00 – 0:10</a:t>
            </a:r>
          </a:p>
        </p:txBody>
      </p:sp>
      <p:sp>
        <p:nvSpPr>
          <p:cNvPr id="7" name="TextBox 6"/>
          <p:cNvSpPr txBox="1"/>
          <p:nvPr/>
        </p:nvSpPr>
        <p:spPr>
          <a:xfrm>
            <a:off x="2606040" y="1243584"/>
            <a:ext cx="9034272" cy="433832"/>
          </a:xfrm>
          <a:prstGeom prst="rect">
            <a:avLst/>
          </a:prstGeom>
          <a:noFill/>
        </p:spPr>
        <p:txBody>
          <a:bodyPr wrap="square">
            <a:spAutoFit/>
          </a:bodyPr>
          <a:lstStyle/>
          <a:p>
            <a:pPr algn="l"/>
            <a:r>
              <a:rPr sz="1700" b="0" i="0">
                <a:solidFill>
                  <a:srgbClr val="191919"/>
                </a:solidFill>
                <a:latin typeface="Arial"/>
              </a:rPr>
              <a:t>Welcome and overview of the environment setup process</a:t>
            </a:r>
          </a:p>
        </p:txBody>
      </p:sp>
      <p:sp>
        <p:nvSpPr>
          <p:cNvPr id="8" name="Rectangle 7"/>
          <p:cNvSpPr/>
          <p:nvPr/>
        </p:nvSpPr>
        <p:spPr>
          <a:xfrm>
            <a:off x="475488" y="1778000"/>
            <a:ext cx="1965960" cy="54356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860296"/>
            <a:ext cx="1828800" cy="433832"/>
          </a:xfrm>
          <a:prstGeom prst="rect">
            <a:avLst/>
          </a:prstGeom>
          <a:noFill/>
        </p:spPr>
        <p:txBody>
          <a:bodyPr wrap="square">
            <a:spAutoFit/>
          </a:bodyPr>
          <a:lstStyle/>
          <a:p>
            <a:pPr algn="l"/>
            <a:r>
              <a:rPr sz="1400" b="0" i="0">
                <a:solidFill>
                  <a:srgbClr val="20425A"/>
                </a:solidFill>
                <a:latin typeface="Arial"/>
              </a:rPr>
              <a:t>0:10 – 0:25</a:t>
            </a:r>
          </a:p>
        </p:txBody>
      </p:sp>
      <p:sp>
        <p:nvSpPr>
          <p:cNvPr id="10" name="TextBox 9"/>
          <p:cNvSpPr txBox="1"/>
          <p:nvPr/>
        </p:nvSpPr>
        <p:spPr>
          <a:xfrm>
            <a:off x="2606040" y="1860296"/>
            <a:ext cx="9034272" cy="433832"/>
          </a:xfrm>
          <a:prstGeom prst="rect">
            <a:avLst/>
          </a:prstGeom>
          <a:noFill/>
        </p:spPr>
        <p:txBody>
          <a:bodyPr wrap="square">
            <a:spAutoFit/>
          </a:bodyPr>
          <a:lstStyle/>
          <a:p>
            <a:pPr algn="l"/>
            <a:r>
              <a:rPr sz="1700" b="0" i="0">
                <a:solidFill>
                  <a:srgbClr val="191919"/>
                </a:solidFill>
                <a:latin typeface="Arial"/>
              </a:rPr>
              <a:t>ATLAS: login, concept set creation, cohort export</a:t>
            </a:r>
          </a:p>
        </p:txBody>
      </p:sp>
      <p:sp>
        <p:nvSpPr>
          <p:cNvPr id="11" name="Rectangle 10"/>
          <p:cNvSpPr/>
          <p:nvPr/>
        </p:nvSpPr>
        <p:spPr>
          <a:xfrm>
            <a:off x="475488" y="2394712"/>
            <a:ext cx="1965960" cy="543560"/>
          </a:xfrm>
          <a:prstGeom prst="rect">
            <a:avLst/>
          </a:prstGeom>
          <a:solidFill>
            <a:srgbClr val="ECD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477008"/>
            <a:ext cx="1828800" cy="433832"/>
          </a:xfrm>
          <a:prstGeom prst="rect">
            <a:avLst/>
          </a:prstGeom>
          <a:noFill/>
        </p:spPr>
        <p:txBody>
          <a:bodyPr wrap="square">
            <a:spAutoFit/>
          </a:bodyPr>
          <a:lstStyle/>
          <a:p>
            <a:pPr algn="l"/>
            <a:r>
              <a:rPr sz="1400" b="0" i="0">
                <a:solidFill>
                  <a:srgbClr val="20425A"/>
                </a:solidFill>
                <a:latin typeface="Arial"/>
              </a:rPr>
              <a:t>0:25 – 0:40</a:t>
            </a:r>
          </a:p>
        </p:txBody>
      </p:sp>
      <p:sp>
        <p:nvSpPr>
          <p:cNvPr id="13" name="TextBox 12"/>
          <p:cNvSpPr txBox="1"/>
          <p:nvPr/>
        </p:nvSpPr>
        <p:spPr>
          <a:xfrm>
            <a:off x="2606040" y="2477008"/>
            <a:ext cx="9034272" cy="433832"/>
          </a:xfrm>
          <a:prstGeom prst="rect">
            <a:avLst/>
          </a:prstGeom>
          <a:noFill/>
        </p:spPr>
        <p:txBody>
          <a:bodyPr wrap="square">
            <a:spAutoFit/>
          </a:bodyPr>
          <a:lstStyle/>
          <a:p>
            <a:pPr algn="l"/>
            <a:r>
              <a:rPr sz="1700" b="0" i="0">
                <a:solidFill>
                  <a:srgbClr val="191919"/>
                </a:solidFill>
                <a:latin typeface="Arial"/>
              </a:rPr>
              <a:t>CDM database access: SQL client and basic queries</a:t>
            </a:r>
          </a:p>
        </p:txBody>
      </p:sp>
      <p:sp>
        <p:nvSpPr>
          <p:cNvPr id="14" name="Rectangle 13"/>
          <p:cNvSpPr/>
          <p:nvPr/>
        </p:nvSpPr>
        <p:spPr>
          <a:xfrm>
            <a:off x="475488" y="3011424"/>
            <a:ext cx="1965960" cy="54356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093720"/>
            <a:ext cx="1828800" cy="433832"/>
          </a:xfrm>
          <a:prstGeom prst="rect">
            <a:avLst/>
          </a:prstGeom>
          <a:noFill/>
        </p:spPr>
        <p:txBody>
          <a:bodyPr wrap="square">
            <a:spAutoFit/>
          </a:bodyPr>
          <a:lstStyle/>
          <a:p>
            <a:pPr algn="l"/>
            <a:r>
              <a:rPr sz="1400" b="0" i="0">
                <a:solidFill>
                  <a:srgbClr val="20425A"/>
                </a:solidFill>
                <a:latin typeface="Arial"/>
              </a:rPr>
              <a:t>0:40 – 0:50</a:t>
            </a:r>
          </a:p>
        </p:txBody>
      </p:sp>
      <p:sp>
        <p:nvSpPr>
          <p:cNvPr id="16" name="TextBox 15"/>
          <p:cNvSpPr txBox="1"/>
          <p:nvPr/>
        </p:nvSpPr>
        <p:spPr>
          <a:xfrm>
            <a:off x="2606040" y="3093720"/>
            <a:ext cx="9034272" cy="433832"/>
          </a:xfrm>
          <a:prstGeom prst="rect">
            <a:avLst/>
          </a:prstGeom>
          <a:noFill/>
        </p:spPr>
        <p:txBody>
          <a:bodyPr wrap="square">
            <a:spAutoFit/>
          </a:bodyPr>
          <a:lstStyle/>
          <a:p>
            <a:pPr algn="l"/>
            <a:r>
              <a:rPr sz="1700" b="0" i="0">
                <a:solidFill>
                  <a:srgbClr val="191919"/>
                </a:solidFill>
                <a:latin typeface="Arial"/>
              </a:rPr>
              <a:t>Athena browser walkthrough</a:t>
            </a:r>
          </a:p>
        </p:txBody>
      </p:sp>
      <p:sp>
        <p:nvSpPr>
          <p:cNvPr id="17" name="Rectangle 16"/>
          <p:cNvSpPr/>
          <p:nvPr/>
        </p:nvSpPr>
        <p:spPr>
          <a:xfrm>
            <a:off x="475488" y="3628136"/>
            <a:ext cx="1965960" cy="543560"/>
          </a:xfrm>
          <a:prstGeom prst="rect">
            <a:avLst/>
          </a:prstGeom>
          <a:solidFill>
            <a:srgbClr val="ECD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3710432"/>
            <a:ext cx="1828800" cy="433832"/>
          </a:xfrm>
          <a:prstGeom prst="rect">
            <a:avLst/>
          </a:prstGeom>
          <a:noFill/>
        </p:spPr>
        <p:txBody>
          <a:bodyPr wrap="square">
            <a:spAutoFit/>
          </a:bodyPr>
          <a:lstStyle/>
          <a:p>
            <a:pPr algn="l"/>
            <a:r>
              <a:rPr sz="1400" b="0" i="0">
                <a:solidFill>
                  <a:srgbClr val="20425A"/>
                </a:solidFill>
                <a:latin typeface="Arial"/>
              </a:rPr>
              <a:t>0:50 – 1:05</a:t>
            </a:r>
          </a:p>
        </p:txBody>
      </p:sp>
      <p:sp>
        <p:nvSpPr>
          <p:cNvPr id="19" name="TextBox 18"/>
          <p:cNvSpPr txBox="1"/>
          <p:nvPr/>
        </p:nvSpPr>
        <p:spPr>
          <a:xfrm>
            <a:off x="2606040" y="3710432"/>
            <a:ext cx="9034272" cy="433832"/>
          </a:xfrm>
          <a:prstGeom prst="rect">
            <a:avLst/>
          </a:prstGeom>
          <a:noFill/>
        </p:spPr>
        <p:txBody>
          <a:bodyPr wrap="square">
            <a:spAutoFit/>
          </a:bodyPr>
          <a:lstStyle/>
          <a:p>
            <a:pPr algn="l"/>
            <a:r>
              <a:rPr sz="1700" b="0" i="0">
                <a:solidFill>
                  <a:srgbClr val="191919"/>
                </a:solidFill>
                <a:latin typeface="Arial"/>
              </a:rPr>
              <a:t>Git / GitHub: clone the program repo</a:t>
            </a:r>
          </a:p>
        </p:txBody>
      </p:sp>
      <p:sp>
        <p:nvSpPr>
          <p:cNvPr id="20" name="Rectangle 19"/>
          <p:cNvSpPr/>
          <p:nvPr/>
        </p:nvSpPr>
        <p:spPr>
          <a:xfrm>
            <a:off x="475488" y="4244848"/>
            <a:ext cx="1965960" cy="54356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327144"/>
            <a:ext cx="1828800" cy="433832"/>
          </a:xfrm>
          <a:prstGeom prst="rect">
            <a:avLst/>
          </a:prstGeom>
          <a:noFill/>
        </p:spPr>
        <p:txBody>
          <a:bodyPr wrap="square">
            <a:spAutoFit/>
          </a:bodyPr>
          <a:lstStyle/>
          <a:p>
            <a:pPr algn="l"/>
            <a:r>
              <a:rPr sz="1400" b="0" i="0">
                <a:solidFill>
                  <a:srgbClr val="20425A"/>
                </a:solidFill>
                <a:latin typeface="Arial"/>
              </a:rPr>
              <a:t>1:05 – 1:20</a:t>
            </a:r>
          </a:p>
        </p:txBody>
      </p:sp>
      <p:sp>
        <p:nvSpPr>
          <p:cNvPr id="22" name="TextBox 21"/>
          <p:cNvSpPr txBox="1"/>
          <p:nvPr/>
        </p:nvSpPr>
        <p:spPr>
          <a:xfrm>
            <a:off x="2606040" y="4327144"/>
            <a:ext cx="9034272" cy="433832"/>
          </a:xfrm>
          <a:prstGeom prst="rect">
            <a:avLst/>
          </a:prstGeom>
          <a:noFill/>
        </p:spPr>
        <p:txBody>
          <a:bodyPr wrap="square">
            <a:spAutoFit/>
          </a:bodyPr>
          <a:lstStyle/>
          <a:p>
            <a:pPr algn="l"/>
            <a:r>
              <a:rPr sz="1700" b="0" i="0">
                <a:solidFill>
                  <a:srgbClr val="191919"/>
                </a:solidFill>
                <a:latin typeface="Arial"/>
              </a:rPr>
              <a:t>HADES setup (optional, Day 6 track)</a:t>
            </a:r>
          </a:p>
        </p:txBody>
      </p:sp>
      <p:sp>
        <p:nvSpPr>
          <p:cNvPr id="23" name="Rectangle 22"/>
          <p:cNvSpPr/>
          <p:nvPr/>
        </p:nvSpPr>
        <p:spPr>
          <a:xfrm>
            <a:off x="475488" y="4861560"/>
            <a:ext cx="1965960" cy="543560"/>
          </a:xfrm>
          <a:prstGeom prst="rect">
            <a:avLst/>
          </a:prstGeom>
          <a:solidFill>
            <a:srgbClr val="ECD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4943856"/>
            <a:ext cx="1828800" cy="433832"/>
          </a:xfrm>
          <a:prstGeom prst="rect">
            <a:avLst/>
          </a:prstGeom>
          <a:noFill/>
        </p:spPr>
        <p:txBody>
          <a:bodyPr wrap="square">
            <a:spAutoFit/>
          </a:bodyPr>
          <a:lstStyle/>
          <a:p>
            <a:pPr algn="l"/>
            <a:r>
              <a:rPr sz="1400" b="0" i="0">
                <a:solidFill>
                  <a:srgbClr val="20425A"/>
                </a:solidFill>
                <a:latin typeface="Arial"/>
              </a:rPr>
              <a:t>1:20 – 1:35</a:t>
            </a:r>
          </a:p>
        </p:txBody>
      </p:sp>
      <p:sp>
        <p:nvSpPr>
          <p:cNvPr id="25" name="TextBox 24"/>
          <p:cNvSpPr txBox="1"/>
          <p:nvPr/>
        </p:nvSpPr>
        <p:spPr>
          <a:xfrm>
            <a:off x="2606040" y="4943856"/>
            <a:ext cx="9034272" cy="433832"/>
          </a:xfrm>
          <a:prstGeom prst="rect">
            <a:avLst/>
          </a:prstGeom>
          <a:noFill/>
        </p:spPr>
        <p:txBody>
          <a:bodyPr wrap="square">
            <a:spAutoFit/>
          </a:bodyPr>
          <a:lstStyle/>
          <a:p>
            <a:pPr algn="l"/>
            <a:r>
              <a:rPr sz="1700" b="0" i="0">
                <a:solidFill>
                  <a:srgbClr val="191919"/>
                </a:solidFill>
                <a:latin typeface="Arial"/>
              </a:rPr>
              <a:t>Extraction tool overview (SEARCH or SQL export)</a:t>
            </a:r>
          </a:p>
        </p:txBody>
      </p:sp>
      <p:sp>
        <p:nvSpPr>
          <p:cNvPr id="26" name="Rectangle 25"/>
          <p:cNvSpPr/>
          <p:nvPr/>
        </p:nvSpPr>
        <p:spPr>
          <a:xfrm>
            <a:off x="475488" y="5478272"/>
            <a:ext cx="1965960" cy="54356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5560568"/>
            <a:ext cx="1828800" cy="433832"/>
          </a:xfrm>
          <a:prstGeom prst="rect">
            <a:avLst/>
          </a:prstGeom>
          <a:noFill/>
        </p:spPr>
        <p:txBody>
          <a:bodyPr wrap="square">
            <a:spAutoFit/>
          </a:bodyPr>
          <a:lstStyle/>
          <a:p>
            <a:pPr algn="l"/>
            <a:r>
              <a:rPr sz="1400" b="0" i="0">
                <a:solidFill>
                  <a:srgbClr val="20425A"/>
                </a:solidFill>
                <a:latin typeface="Arial"/>
              </a:rPr>
              <a:t>1:35 – 1:55</a:t>
            </a:r>
          </a:p>
        </p:txBody>
      </p:sp>
      <p:sp>
        <p:nvSpPr>
          <p:cNvPr id="28" name="TextBox 27"/>
          <p:cNvSpPr txBox="1"/>
          <p:nvPr/>
        </p:nvSpPr>
        <p:spPr>
          <a:xfrm>
            <a:off x="2606040" y="5560568"/>
            <a:ext cx="9034272" cy="433832"/>
          </a:xfrm>
          <a:prstGeom prst="rect">
            <a:avLst/>
          </a:prstGeom>
          <a:noFill/>
        </p:spPr>
        <p:txBody>
          <a:bodyPr wrap="square">
            <a:spAutoFit/>
          </a:bodyPr>
          <a:lstStyle/>
          <a:p>
            <a:pPr algn="l"/>
            <a:r>
              <a:rPr sz="1700" b="0" i="0">
                <a:solidFill>
                  <a:srgbClr val="191919"/>
                </a:solidFill>
                <a:latin typeface="Arial"/>
              </a:rPr>
              <a:t>Checklist review, troubleshooting blockers</a:t>
            </a:r>
          </a:p>
        </p:txBody>
      </p:sp>
      <p:sp>
        <p:nvSpPr>
          <p:cNvPr id="29" name="Rectangle 28"/>
          <p:cNvSpPr/>
          <p:nvPr/>
        </p:nvSpPr>
        <p:spPr>
          <a:xfrm>
            <a:off x="475488" y="6094984"/>
            <a:ext cx="1965960" cy="543560"/>
          </a:xfrm>
          <a:prstGeom prst="rect">
            <a:avLst/>
          </a:prstGeom>
          <a:solidFill>
            <a:srgbClr val="ECD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6177280"/>
            <a:ext cx="1828800" cy="433832"/>
          </a:xfrm>
          <a:prstGeom prst="rect">
            <a:avLst/>
          </a:prstGeom>
          <a:noFill/>
        </p:spPr>
        <p:txBody>
          <a:bodyPr wrap="square">
            <a:spAutoFit/>
          </a:bodyPr>
          <a:lstStyle/>
          <a:p>
            <a:pPr algn="l"/>
            <a:r>
              <a:rPr sz="1400" b="0" i="0">
                <a:solidFill>
                  <a:srgbClr val="20425A"/>
                </a:solidFill>
                <a:latin typeface="Arial"/>
              </a:rPr>
              <a:t>1:55 – 2:00</a:t>
            </a:r>
          </a:p>
        </p:txBody>
      </p:sp>
      <p:sp>
        <p:nvSpPr>
          <p:cNvPr id="31" name="TextBox 30"/>
          <p:cNvSpPr txBox="1"/>
          <p:nvPr/>
        </p:nvSpPr>
        <p:spPr>
          <a:xfrm>
            <a:off x="2606040" y="6177280"/>
            <a:ext cx="9034272" cy="433832"/>
          </a:xfrm>
          <a:prstGeom prst="rect">
            <a:avLst/>
          </a:prstGeom>
          <a:noFill/>
        </p:spPr>
        <p:txBody>
          <a:bodyPr wrap="square">
            <a:spAutoFit/>
          </a:bodyPr>
          <a:lstStyle/>
          <a:p>
            <a:pPr algn="l"/>
            <a:r>
              <a:rPr sz="1700" b="0" i="0">
                <a:solidFill>
                  <a:srgbClr val="191919"/>
                </a:solidFill>
                <a:latin typeface="Arial"/>
              </a:rPr>
              <a:t>Wrap-up and next steps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828800"/>
            <a:ext cx="11237976" cy="1463040"/>
          </a:xfrm>
          <a:prstGeom prst="rect">
            <a:avLst/>
          </a:prstGeom>
          <a:noFill/>
        </p:spPr>
        <p:txBody>
          <a:bodyPr wrap="square">
            <a:spAutoFit/>
          </a:bodyPr>
          <a:lstStyle/>
          <a:p>
            <a:pPr algn="l"/>
            <a:r>
              <a:rPr sz="6000" b="1" i="0">
                <a:solidFill>
                  <a:srgbClr val="FFFFFF"/>
                </a:solidFill>
                <a:latin typeface="Century Gothic"/>
              </a:rPr>
              <a:t>Kahoot!</a:t>
            </a:r>
          </a:p>
        </p:txBody>
      </p:sp>
      <p:sp>
        <p:nvSpPr>
          <p:cNvPr id="6" name="TextBox 5"/>
          <p:cNvSpPr txBox="1"/>
          <p:nvPr/>
        </p:nvSpPr>
        <p:spPr>
          <a:xfrm>
            <a:off x="475488" y="3474720"/>
            <a:ext cx="11237976" cy="822960"/>
          </a:xfrm>
          <a:prstGeom prst="rect">
            <a:avLst/>
          </a:prstGeom>
          <a:noFill/>
        </p:spPr>
        <p:txBody>
          <a:bodyPr wrap="square">
            <a:spAutoFit/>
          </a:bodyPr>
          <a:lstStyle/>
          <a:p>
            <a:pPr algn="l"/>
            <a:r>
              <a:rPr sz="2400" b="0" i="0">
                <a:solidFill>
                  <a:srgbClr val="FFFFFF"/>
                </a:solidFill>
                <a:latin typeface="Arial"/>
              </a:rPr>
              <a:t>Warm-up: a few quick questions before we dive in.</a:t>
            </a:r>
          </a:p>
        </p:txBody>
      </p:sp>
      <p:sp>
        <p:nvSpPr>
          <p:cNvPr id="7" name="TextBox 6"/>
          <p:cNvSpPr txBox="1"/>
          <p:nvPr/>
        </p:nvSpPr>
        <p:spPr>
          <a:xfrm>
            <a:off x="475488" y="4389120"/>
            <a:ext cx="11237976" cy="640080"/>
          </a:xfrm>
          <a:prstGeom prst="rect">
            <a:avLst/>
          </a:prstGeom>
          <a:noFill/>
        </p:spPr>
        <p:txBody>
          <a:bodyPr wrap="square">
            <a:spAutoFit/>
          </a:bodyPr>
          <a:lstStyle/>
          <a:p>
            <a:pPr algn="l"/>
            <a:r>
              <a:rPr sz="1800" b="0" i="0">
                <a:solidFill>
                  <a:srgbClr val="F0E3F5"/>
                </a:solidFill>
                <a:latin typeface="Arial"/>
              </a:rPr>
              <a:t>Join at kahoot.it  ·  enter the game PIN on screen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920240"/>
            <a:ext cx="10177272" cy="2560320"/>
          </a:xfrm>
          <a:prstGeom prst="rect">
            <a:avLst/>
          </a:prstGeom>
          <a:noFill/>
        </p:spPr>
        <p:txBody>
          <a:bodyPr wrap="square">
            <a:spAutoFit/>
          </a:bodyPr>
          <a:lstStyle/>
          <a:p>
            <a:pPr algn="l"/>
            <a:r>
              <a:rPr sz="3200" b="1" i="1">
                <a:solidFill>
                  <a:srgbClr val="20425A"/>
                </a:solidFill>
                <a:latin typeface="Century Gothic"/>
              </a:rPr>
              <a:t>insert your favorite quote 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Learning Objectives</a:t>
            </a:r>
          </a:p>
        </p:txBody>
      </p:sp>
      <p:sp>
        <p:nvSpPr>
          <p:cNvPr id="5" name="TextBox 4"/>
          <p:cNvSpPr txBox="1"/>
          <p:nvPr/>
        </p:nvSpPr>
        <p:spPr>
          <a:xfrm>
            <a:off x="475488" y="1124712"/>
            <a:ext cx="11237976" cy="411480"/>
          </a:xfrm>
          <a:prstGeom prst="rect">
            <a:avLst/>
          </a:prstGeom>
          <a:noFill/>
        </p:spPr>
        <p:txBody>
          <a:bodyPr wrap="square">
            <a:spAutoFit/>
          </a:bodyPr>
          <a:lstStyle/>
          <a:p>
            <a:pPr algn="l"/>
            <a:r>
              <a:rPr sz="1700" b="0" i="1">
                <a:solidFill>
                  <a:srgbClr val="5A5A5A"/>
                </a:solidFill>
                <a:latin typeface="Arial"/>
              </a:rPr>
              <a:t>By the end of this session, you will be able to:</a:t>
            </a:r>
          </a:p>
        </p:txBody>
      </p:sp>
      <p:sp>
        <p:nvSpPr>
          <p:cNvPr id="6" name="Rectangle 5"/>
          <p:cNvSpPr/>
          <p:nvPr/>
        </p:nvSpPr>
        <p:spPr>
          <a:xfrm>
            <a:off x="475488" y="1581912"/>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609344"/>
            <a:ext cx="365760" cy="338328"/>
          </a:xfrm>
          <a:prstGeom prst="rect">
            <a:avLst/>
          </a:prstGeom>
          <a:noFill/>
        </p:spPr>
        <p:txBody>
          <a:bodyPr wrap="square">
            <a:spAutoFit/>
          </a:bodyPr>
          <a:lstStyle/>
          <a:p>
            <a:pPr algn="ctr"/>
            <a:r>
              <a:rPr sz="1500" b="1" i="0">
                <a:solidFill>
                  <a:srgbClr val="FFFFFF"/>
                </a:solidFill>
                <a:latin typeface="Arial"/>
              </a:rPr>
              <a:t>1</a:t>
            </a:r>
          </a:p>
        </p:txBody>
      </p:sp>
      <p:sp>
        <p:nvSpPr>
          <p:cNvPr id="8" name="TextBox 7"/>
          <p:cNvSpPr txBox="1"/>
          <p:nvPr/>
        </p:nvSpPr>
        <p:spPr>
          <a:xfrm>
            <a:off x="987552" y="1581912"/>
            <a:ext cx="10680192" cy="594360"/>
          </a:xfrm>
          <a:prstGeom prst="rect">
            <a:avLst/>
          </a:prstGeom>
          <a:noFill/>
        </p:spPr>
        <p:txBody>
          <a:bodyPr wrap="square">
            <a:spAutoFit/>
          </a:bodyPr>
          <a:lstStyle/>
          <a:p>
            <a:pPr algn="l"/>
            <a:r>
              <a:rPr sz="1800" b="0" i="0">
                <a:solidFill>
                  <a:srgbClr val="191919"/>
                </a:solidFill>
                <a:latin typeface="Arial"/>
              </a:rPr>
              <a:t>Log in to ATLAS and successfully create, save, and export a concept set</a:t>
            </a:r>
          </a:p>
        </p:txBody>
      </p:sp>
      <p:sp>
        <p:nvSpPr>
          <p:cNvPr id="9" name="Rectangle 8"/>
          <p:cNvSpPr/>
          <p:nvPr/>
        </p:nvSpPr>
        <p:spPr>
          <a:xfrm>
            <a:off x="475488" y="2249424"/>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2276856"/>
            <a:ext cx="365760" cy="338328"/>
          </a:xfrm>
          <a:prstGeom prst="rect">
            <a:avLst/>
          </a:prstGeom>
          <a:noFill/>
        </p:spPr>
        <p:txBody>
          <a:bodyPr wrap="square">
            <a:spAutoFit/>
          </a:bodyPr>
          <a:lstStyle/>
          <a:p>
            <a:pPr algn="ctr"/>
            <a:r>
              <a:rPr sz="1500" b="1" i="0">
                <a:solidFill>
                  <a:srgbClr val="FFFFFF"/>
                </a:solidFill>
                <a:latin typeface="Arial"/>
              </a:rPr>
              <a:t>2</a:t>
            </a:r>
          </a:p>
        </p:txBody>
      </p:sp>
      <p:sp>
        <p:nvSpPr>
          <p:cNvPr id="11" name="TextBox 10"/>
          <p:cNvSpPr txBox="1"/>
          <p:nvPr/>
        </p:nvSpPr>
        <p:spPr>
          <a:xfrm>
            <a:off x="987552" y="2249424"/>
            <a:ext cx="10680192" cy="594360"/>
          </a:xfrm>
          <a:prstGeom prst="rect">
            <a:avLst/>
          </a:prstGeom>
          <a:noFill/>
        </p:spPr>
        <p:txBody>
          <a:bodyPr wrap="square">
            <a:spAutoFit/>
          </a:bodyPr>
          <a:lstStyle/>
          <a:p>
            <a:pPr algn="l"/>
            <a:r>
              <a:rPr sz="1800" b="0" i="0">
                <a:solidFill>
                  <a:srgbClr val="191919"/>
                </a:solidFill>
                <a:latin typeface="Arial"/>
              </a:rPr>
              <a:t>Connect to the training OMOP CDM and run a basic SQL query</a:t>
            </a:r>
          </a:p>
        </p:txBody>
      </p:sp>
      <p:sp>
        <p:nvSpPr>
          <p:cNvPr id="12" name="Rectangle 11"/>
          <p:cNvSpPr/>
          <p:nvPr/>
        </p:nvSpPr>
        <p:spPr>
          <a:xfrm>
            <a:off x="475488" y="2916936"/>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944368"/>
            <a:ext cx="365760" cy="338328"/>
          </a:xfrm>
          <a:prstGeom prst="rect">
            <a:avLst/>
          </a:prstGeom>
          <a:noFill/>
        </p:spPr>
        <p:txBody>
          <a:bodyPr wrap="square">
            <a:spAutoFit/>
          </a:bodyPr>
          <a:lstStyle/>
          <a:p>
            <a:pPr algn="ctr"/>
            <a:r>
              <a:rPr sz="1500" b="1" i="0">
                <a:solidFill>
                  <a:srgbClr val="FFFFFF"/>
                </a:solidFill>
                <a:latin typeface="Arial"/>
              </a:rPr>
              <a:t>3</a:t>
            </a:r>
          </a:p>
        </p:txBody>
      </p:sp>
      <p:sp>
        <p:nvSpPr>
          <p:cNvPr id="14" name="TextBox 13"/>
          <p:cNvSpPr txBox="1"/>
          <p:nvPr/>
        </p:nvSpPr>
        <p:spPr>
          <a:xfrm>
            <a:off x="987552" y="2916936"/>
            <a:ext cx="10680192" cy="594360"/>
          </a:xfrm>
          <a:prstGeom prst="rect">
            <a:avLst/>
          </a:prstGeom>
          <a:noFill/>
        </p:spPr>
        <p:txBody>
          <a:bodyPr wrap="square">
            <a:spAutoFit/>
          </a:bodyPr>
          <a:lstStyle/>
          <a:p>
            <a:pPr algn="l"/>
            <a:r>
              <a:rPr sz="1800" b="0" i="0">
                <a:solidFill>
                  <a:srgbClr val="191919"/>
                </a:solidFill>
                <a:latin typeface="Arial"/>
              </a:rPr>
              <a:t>Identify your site's extraction method (SEARCH / exported SQL / pipeline)</a:t>
            </a:r>
          </a:p>
        </p:txBody>
      </p:sp>
      <p:sp>
        <p:nvSpPr>
          <p:cNvPr id="15" name="Rectangle 14"/>
          <p:cNvSpPr/>
          <p:nvPr/>
        </p:nvSpPr>
        <p:spPr>
          <a:xfrm>
            <a:off x="475488" y="3584448"/>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 y="3611880"/>
            <a:ext cx="365760" cy="338328"/>
          </a:xfrm>
          <a:prstGeom prst="rect">
            <a:avLst/>
          </a:prstGeom>
          <a:noFill/>
        </p:spPr>
        <p:txBody>
          <a:bodyPr wrap="square">
            <a:spAutoFit/>
          </a:bodyPr>
          <a:lstStyle/>
          <a:p>
            <a:pPr algn="ctr"/>
            <a:r>
              <a:rPr sz="1500" b="1" i="0">
                <a:solidFill>
                  <a:srgbClr val="FFFFFF"/>
                </a:solidFill>
                <a:latin typeface="Arial"/>
              </a:rPr>
              <a:t>4</a:t>
            </a:r>
          </a:p>
        </p:txBody>
      </p:sp>
      <p:sp>
        <p:nvSpPr>
          <p:cNvPr id="17" name="TextBox 16"/>
          <p:cNvSpPr txBox="1"/>
          <p:nvPr/>
        </p:nvSpPr>
        <p:spPr>
          <a:xfrm>
            <a:off x="987552" y="3584448"/>
            <a:ext cx="10680192" cy="594360"/>
          </a:xfrm>
          <a:prstGeom prst="rect">
            <a:avLst/>
          </a:prstGeom>
          <a:noFill/>
        </p:spPr>
        <p:txBody>
          <a:bodyPr wrap="square">
            <a:spAutoFit/>
          </a:bodyPr>
          <a:lstStyle/>
          <a:p>
            <a:pPr algn="l"/>
            <a:r>
              <a:rPr sz="1800" b="0" i="0">
                <a:solidFill>
                  <a:srgbClr val="191919"/>
                </a:solidFill>
                <a:latin typeface="Arial"/>
              </a:rPr>
              <a:t>Confirm Git access and clone the program repository</a:t>
            </a:r>
          </a:p>
        </p:txBody>
      </p:sp>
      <p:sp>
        <p:nvSpPr>
          <p:cNvPr id="18" name="Rectangle 17"/>
          <p:cNvSpPr/>
          <p:nvPr/>
        </p:nvSpPr>
        <p:spPr>
          <a:xfrm>
            <a:off x="475488" y="4251960"/>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 y="4279392"/>
            <a:ext cx="365760" cy="338328"/>
          </a:xfrm>
          <a:prstGeom prst="rect">
            <a:avLst/>
          </a:prstGeom>
          <a:noFill/>
        </p:spPr>
        <p:txBody>
          <a:bodyPr wrap="square">
            <a:spAutoFit/>
          </a:bodyPr>
          <a:lstStyle/>
          <a:p>
            <a:pPr algn="ctr"/>
            <a:r>
              <a:rPr sz="1500" b="1" i="0">
                <a:solidFill>
                  <a:srgbClr val="FFFFFF"/>
                </a:solidFill>
                <a:latin typeface="Arial"/>
              </a:rPr>
              <a:t>5</a:t>
            </a:r>
          </a:p>
        </p:txBody>
      </p:sp>
      <p:sp>
        <p:nvSpPr>
          <p:cNvPr id="20" name="TextBox 19"/>
          <p:cNvSpPr txBox="1"/>
          <p:nvPr/>
        </p:nvSpPr>
        <p:spPr>
          <a:xfrm>
            <a:off x="987552" y="4251960"/>
            <a:ext cx="10680192" cy="594360"/>
          </a:xfrm>
          <a:prstGeom prst="rect">
            <a:avLst/>
          </a:prstGeom>
          <a:noFill/>
        </p:spPr>
        <p:txBody>
          <a:bodyPr wrap="square">
            <a:spAutoFit/>
          </a:bodyPr>
          <a:lstStyle/>
          <a:p>
            <a:pPr algn="l"/>
            <a:r>
              <a:rPr sz="1800" b="0" i="0">
                <a:solidFill>
                  <a:srgbClr val="191919"/>
                </a:solidFill>
                <a:latin typeface="Arial"/>
              </a:rPr>
              <a:t>Document and resolve any access blockers before Day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Let's discuss</a:t>
            </a:r>
          </a:p>
        </p:txBody>
      </p:sp>
      <p:sp>
        <p:nvSpPr>
          <p:cNvPr id="6" name="Rectangle 5"/>
          <p:cNvSpPr/>
          <p:nvPr/>
        </p:nvSpPr>
        <p:spPr>
          <a:xfrm>
            <a:off x="475488" y="2377440"/>
            <a:ext cx="11237976" cy="2194560"/>
          </a:xfrm>
          <a:prstGeom prst="rect">
            <a:avLst/>
          </a:prstGeom>
          <a:solidFill>
            <a:srgbClr val="ECDFF3"/>
          </a:solidFill>
          <a:ln w="9525">
            <a:solidFill>
              <a:srgbClr val="90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2743200"/>
            <a:ext cx="10506456" cy="1554480"/>
          </a:xfrm>
          <a:prstGeom prst="rect">
            <a:avLst/>
          </a:prstGeom>
          <a:noFill/>
        </p:spPr>
        <p:txBody>
          <a:bodyPr wrap="square">
            <a:spAutoFit/>
          </a:bodyPr>
          <a:lstStyle/>
          <a:p>
            <a:pPr algn="ctr"/>
            <a:r>
              <a:rPr sz="2800" b="1" i="0">
                <a:solidFill>
                  <a:srgbClr val="20425A"/>
                </a:solidFill>
                <a:latin typeface="Century Gothic"/>
              </a:rPr>
              <a:t>What tools does your site use day to day — and which one do you dread setting 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Why We Do This First</a:t>
            </a:r>
          </a:p>
        </p:txBody>
      </p:sp>
      <p:sp>
        <p:nvSpPr>
          <p:cNvPr id="5" name="TextBox 4"/>
          <p:cNvSpPr txBox="1"/>
          <p:nvPr/>
        </p:nvSpPr>
        <p:spPr>
          <a:xfrm>
            <a:off x="475488" y="1161288"/>
            <a:ext cx="11237976" cy="5495544"/>
          </a:xfrm>
          <a:prstGeom prst="rect">
            <a:avLst/>
          </a:prstGeom>
          <a:noFill/>
        </p:spPr>
        <p:txBody>
          <a:bodyPr wrap="square">
            <a:spAutoFit/>
          </a:bodyPr>
          <a:lstStyle/>
          <a:p>
            <a:pPr>
              <a:spcBef>
                <a:spcPts val="600"/>
              </a:spcBef>
            </a:pPr>
            <a:r>
              <a:rPr sz="1800">
                <a:solidFill>
                  <a:srgbClr val="191919"/>
                </a:solidFill>
                <a:latin typeface="Arial"/>
              </a:rPr>
              <a:t>Every exercise depends on working tool access — a broken connection on Day 2 costs 30 minutes of class time</a:t>
            </a:r>
          </a:p>
          <a:p>
            <a:pPr>
              <a:spcBef>
                <a:spcPts val="600"/>
              </a:spcBef>
            </a:pPr>
            <a:r>
              <a:rPr sz="1800">
                <a:solidFill>
                  <a:srgbClr val="191919"/>
                </a:solidFill>
                <a:latin typeface="Arial"/>
              </a:rPr>
              <a:t>OMOP CDM, ATLAS, and HADES are the same everywhere; only the connection details change</a:t>
            </a:r>
          </a:p>
          <a:p>
            <a:pPr>
              <a:spcBef>
                <a:spcPts val="600"/>
              </a:spcBef>
            </a:pPr>
            <a:r>
              <a:rPr sz="1800">
                <a:solidFill>
                  <a:srgbClr val="191919"/>
                </a:solidFill>
                <a:latin typeface="Arial"/>
              </a:rPr>
              <a:t>Site-specific setup takes time: IT tickets, VPN rules, JDBC driver installs</a:t>
            </a:r>
          </a:p>
          <a:p>
            <a:pPr>
              <a:spcBef>
                <a:spcPts val="600"/>
              </a:spcBef>
            </a:pPr>
            <a:r>
              <a:rPr sz="1800">
                <a:solidFill>
                  <a:srgbClr val="191919"/>
                </a:solidFill>
                <a:latin typeface="Arial"/>
              </a:rPr>
              <a:t>Goal: every participant arrives at Day 1 with confirmed, verified access — not 'it worked on my machine'</a:t>
            </a:r>
          </a:p>
          <a:p>
            <a:pPr>
              <a:spcBef>
                <a:spcPts val="600"/>
              </a:spcBef>
            </a:pPr>
            <a:r>
              <a:rPr sz="1800">
                <a:solidFill>
                  <a:srgbClr val="191919"/>
                </a:solidFill>
                <a:latin typeface="Arial"/>
              </a:rPr>
              <a:t>If something is broken, we want to know NOW, not during the vocabulary lab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What You Need Access To</a:t>
            </a:r>
          </a:p>
        </p:txBody>
      </p:sp>
      <p:graphicFrame>
        <p:nvGraphicFramePr>
          <p:cNvPr id="5" name="Table 4"/>
          <p:cNvGraphicFramePr>
            <a:graphicFrameLocks noGrp="1"/>
          </p:cNvGraphicFramePr>
          <p:nvPr/>
        </p:nvGraphicFramePr>
        <p:xfrm>
          <a:off x="475488" y="1143000"/>
          <a:ext cx="10972800" cy="5102352"/>
        </p:xfrm>
        <a:graphic>
          <a:graphicData uri="http://schemas.openxmlformats.org/drawingml/2006/table">
            <a:tbl>
              <a:tblPr firstRow="1" bandRow="1">
                <a:tableStyleId>{5C22544A-7EE6-4342-B048-85BDC9FD1C3A}</a:tableStyleId>
              </a:tblPr>
              <a:tblGrid>
                <a:gridCol w="2286000"/>
                <a:gridCol w="5943600"/>
                <a:gridCol w="2743200"/>
              </a:tblGrid>
              <a:tr h="566928">
                <a:tc>
                  <a:txBody>
                    <a:bodyPr lIns="63500" tIns="38100"/>
                    <a:lstStyle/>
                    <a:p>
                      <a:r>
                        <a:rPr sz="1400" b="1">
                          <a:solidFill>
                            <a:srgbClr val="FFFFFF"/>
                          </a:solidFill>
                          <a:latin typeface="Century Gothic"/>
                        </a:rPr>
                        <a:t>Tool</a:t>
                      </a:r>
                    </a:p>
                  </a:txBody>
                  <a:tcPr>
                    <a:solidFill>
                      <a:srgbClr val="20425A"/>
                    </a:solidFill>
                  </a:tcPr>
                </a:tc>
                <a:tc>
                  <a:txBody>
                    <a:bodyPr lIns="63500" tIns="38100"/>
                    <a:lstStyle/>
                    <a:p>
                      <a:r>
                        <a:rPr sz="1400" b="1">
                          <a:solidFill>
                            <a:srgbClr val="FFFFFF"/>
                          </a:solidFill>
                          <a:latin typeface="Century Gothic"/>
                        </a:rPr>
                        <a:t>What to Verify</a:t>
                      </a:r>
                    </a:p>
                  </a:txBody>
                  <a:tcPr>
                    <a:solidFill>
                      <a:srgbClr val="20425A"/>
                    </a:solidFill>
                  </a:tcPr>
                </a:tc>
                <a:tc>
                  <a:txBody>
                    <a:bodyPr lIns="63500" tIns="38100"/>
                    <a:lstStyle/>
                    <a:p>
                      <a:r>
                        <a:rPr sz="1400" b="1">
                          <a:solidFill>
                            <a:srgbClr val="FFFFFF"/>
                          </a:solidFill>
                          <a:latin typeface="Century Gothic"/>
                        </a:rPr>
                        <a:t>Site-Specific?</a:t>
                      </a:r>
                    </a:p>
                  </a:txBody>
                  <a:tcPr>
                    <a:solidFill>
                      <a:srgbClr val="20425A"/>
                    </a:solidFill>
                  </a:tcPr>
                </a:tc>
              </a:tr>
              <a:tr h="566928">
                <a:tc>
                  <a:txBody>
                    <a:bodyPr lIns="63500" tIns="25400"/>
                    <a:lstStyle/>
                    <a:p>
                      <a:r>
                        <a:rPr sz="1300">
                          <a:solidFill>
                            <a:srgbClr val="191919"/>
                          </a:solidFill>
                          <a:latin typeface="Arial"/>
                        </a:rPr>
                        <a:t>ATLAS</a:t>
                      </a:r>
                    </a:p>
                  </a:txBody>
                  <a:tcPr>
                    <a:solidFill>
                      <a:srgbClr val="F6F6F6"/>
                    </a:solidFill>
                  </a:tcPr>
                </a:tc>
                <a:tc>
                  <a:txBody>
                    <a:bodyPr lIns="63500" tIns="25400"/>
                    <a:lstStyle/>
                    <a:p>
                      <a:r>
                        <a:rPr sz="1300">
                          <a:solidFill>
                            <a:srgbClr val="191919"/>
                          </a:solidFill>
                          <a:latin typeface="Arial"/>
                        </a:rPr>
                        <a:t>Log in, create/save/export a concept set (JSON)</a:t>
                      </a:r>
                    </a:p>
                  </a:txBody>
                  <a:tcPr>
                    <a:solidFill>
                      <a:srgbClr val="F6F6F6"/>
                    </a:solidFill>
                  </a:tcPr>
                </a:tc>
                <a:tc>
                  <a:txBody>
                    <a:bodyPr lIns="63500" tIns="25400"/>
                    <a:lstStyle/>
                    <a:p>
                      <a:r>
                        <a:rPr sz="1300">
                          <a:solidFill>
                            <a:srgbClr val="191919"/>
                          </a:solidFill>
                          <a:latin typeface="Arial"/>
                        </a:rPr>
                        <a:t>Yes — your site's URL</a:t>
                      </a:r>
                    </a:p>
                  </a:txBody>
                  <a:tcPr>
                    <a:solidFill>
                      <a:srgbClr val="F6F6F6"/>
                    </a:solidFill>
                  </a:tcPr>
                </a:tc>
              </a:tr>
              <a:tr h="566928">
                <a:tc>
                  <a:txBody>
                    <a:bodyPr lIns="63500" tIns="25400"/>
                    <a:lstStyle/>
                    <a:p>
                      <a:r>
                        <a:rPr sz="1300">
                          <a:solidFill>
                            <a:srgbClr val="191919"/>
                          </a:solidFill>
                          <a:latin typeface="Arial"/>
                        </a:rPr>
                        <a:t>OMOP CDM Database</a:t>
                      </a:r>
                    </a:p>
                  </a:txBody>
                  <a:tcPr>
                    <a:solidFill>
                      <a:srgbClr val="FFFFFF"/>
                    </a:solidFill>
                  </a:tcPr>
                </a:tc>
                <a:tc>
                  <a:txBody>
                    <a:bodyPr lIns="63500" tIns="25400"/>
                    <a:lstStyle/>
                    <a:p>
                      <a:r>
                        <a:rPr sz="1300">
                          <a:solidFill>
                            <a:srgbClr val="191919"/>
                          </a:solidFill>
                          <a:latin typeface="Arial"/>
                        </a:rPr>
                        <a:t>Read access; run SELECT * FROM person LIMIT 5</a:t>
                      </a:r>
                    </a:p>
                  </a:txBody>
                  <a:tcPr>
                    <a:solidFill>
                      <a:srgbClr val="FFFFFF"/>
                    </a:solidFill>
                  </a:tcPr>
                </a:tc>
                <a:tc>
                  <a:txBody>
                    <a:bodyPr lIns="63500" tIns="25400"/>
                    <a:lstStyle/>
                    <a:p>
                      <a:r>
                        <a:rPr sz="1300">
                          <a:solidFill>
                            <a:srgbClr val="191919"/>
                          </a:solidFill>
                          <a:latin typeface="Arial"/>
                        </a:rPr>
                        <a:t>Yes — schema + warehouse</a:t>
                      </a:r>
                    </a:p>
                  </a:txBody>
                  <a:tcPr>
                    <a:solidFill>
                      <a:srgbClr val="FFFFFF"/>
                    </a:solidFill>
                  </a:tcPr>
                </a:tc>
              </a:tr>
              <a:tr h="566928">
                <a:tc>
                  <a:txBody>
                    <a:bodyPr lIns="63500" tIns="25400"/>
                    <a:lstStyle/>
                    <a:p>
                      <a:r>
                        <a:rPr sz="1300">
                          <a:solidFill>
                            <a:srgbClr val="191919"/>
                          </a:solidFill>
                          <a:latin typeface="Arial"/>
                        </a:rPr>
                        <a:t>Athena Browser</a:t>
                      </a:r>
                    </a:p>
                  </a:txBody>
                  <a:tcPr>
                    <a:solidFill>
                      <a:srgbClr val="F6F6F6"/>
                    </a:solidFill>
                  </a:tcPr>
                </a:tc>
                <a:tc>
                  <a:txBody>
                    <a:bodyPr lIns="63500" tIns="25400"/>
                    <a:lstStyle/>
                    <a:p>
                      <a:r>
                        <a:rPr sz="1300">
                          <a:solidFill>
                            <a:srgbClr val="191919"/>
                          </a:solidFill>
                          <a:latin typeface="Arial"/>
                        </a:rPr>
                        <a:t>Browse vocabularies at athena.ohdsi.org</a:t>
                      </a:r>
                    </a:p>
                  </a:txBody>
                  <a:tcPr>
                    <a:solidFill>
                      <a:srgbClr val="F6F6F6"/>
                    </a:solidFill>
                  </a:tcPr>
                </a:tc>
                <a:tc>
                  <a:txBody>
                    <a:bodyPr lIns="63500" tIns="25400"/>
                    <a:lstStyle/>
                    <a:p>
                      <a:r>
                        <a:rPr sz="1300">
                          <a:solidFill>
                            <a:srgbClr val="191919"/>
                          </a:solidFill>
                          <a:latin typeface="Arial"/>
                        </a:rPr>
                        <a:t>No — shared globally</a:t>
                      </a:r>
                    </a:p>
                  </a:txBody>
                  <a:tcPr>
                    <a:solidFill>
                      <a:srgbClr val="F6F6F6"/>
                    </a:solidFill>
                  </a:tcPr>
                </a:tc>
              </a:tr>
              <a:tr h="566928">
                <a:tc>
                  <a:txBody>
                    <a:bodyPr lIns="63500" tIns="25400"/>
                    <a:lstStyle/>
                    <a:p>
                      <a:r>
                        <a:rPr sz="1300">
                          <a:solidFill>
                            <a:srgbClr val="191919"/>
                          </a:solidFill>
                          <a:latin typeface="Arial"/>
                        </a:rPr>
                        <a:t>SQL Client</a:t>
                      </a:r>
                    </a:p>
                  </a:txBody>
                  <a:tcPr>
                    <a:solidFill>
                      <a:srgbClr val="FFFFFF"/>
                    </a:solidFill>
                  </a:tcPr>
                </a:tc>
                <a:tc>
                  <a:txBody>
                    <a:bodyPr lIns="63500" tIns="25400"/>
                    <a:lstStyle/>
                    <a:p>
                      <a:r>
                        <a:rPr sz="1300">
                          <a:solidFill>
                            <a:srgbClr val="191919"/>
                          </a:solidFill>
                          <a:latin typeface="Arial"/>
                        </a:rPr>
                        <a:t>Connect to CDM; Databricks, DBeaver, or site equivalent</a:t>
                      </a:r>
                    </a:p>
                  </a:txBody>
                  <a:tcPr>
                    <a:solidFill>
                      <a:srgbClr val="FFFFFF"/>
                    </a:solidFill>
                  </a:tcPr>
                </a:tc>
                <a:tc>
                  <a:txBody>
                    <a:bodyPr lIns="63500" tIns="25400"/>
                    <a:lstStyle/>
                    <a:p>
                      <a:r>
                        <a:rPr sz="1300">
                          <a:solidFill>
                            <a:srgbClr val="191919"/>
                          </a:solidFill>
                          <a:latin typeface="Arial"/>
                        </a:rPr>
                        <a:t>Yes — client varies</a:t>
                      </a:r>
                    </a:p>
                  </a:txBody>
                  <a:tcPr>
                    <a:solidFill>
                      <a:srgbClr val="FFFFFF"/>
                    </a:solidFill>
                  </a:tcPr>
                </a:tc>
              </a:tr>
              <a:tr h="566928">
                <a:tc>
                  <a:txBody>
                    <a:bodyPr lIns="63500" tIns="25400"/>
                    <a:lstStyle/>
                    <a:p>
                      <a:r>
                        <a:rPr sz="1300">
                          <a:solidFill>
                            <a:srgbClr val="191919"/>
                          </a:solidFill>
                          <a:latin typeface="Arial"/>
                        </a:rPr>
                        <a:t>Extraction Tool</a:t>
                      </a:r>
                    </a:p>
                  </a:txBody>
                  <a:tcPr>
                    <a:solidFill>
                      <a:srgbClr val="F6F6F6"/>
                    </a:solidFill>
                  </a:tcPr>
                </a:tc>
                <a:tc>
                  <a:txBody>
                    <a:bodyPr lIns="63500" tIns="25400"/>
                    <a:lstStyle/>
                    <a:p>
                      <a:r>
                        <a:rPr sz="1300">
                          <a:solidFill>
                            <a:srgbClr val="191919"/>
                          </a:solidFill>
                          <a:latin typeface="Arial"/>
                        </a:rPr>
                        <a:t>SEARCH or Atlas SQL export or local pipeline</a:t>
                      </a:r>
                    </a:p>
                  </a:txBody>
                  <a:tcPr>
                    <a:solidFill>
                      <a:srgbClr val="F6F6F6"/>
                    </a:solidFill>
                  </a:tcPr>
                </a:tc>
                <a:tc>
                  <a:txBody>
                    <a:bodyPr lIns="63500" tIns="25400"/>
                    <a:lstStyle/>
                    <a:p>
                      <a:r>
                        <a:rPr sz="1300">
                          <a:solidFill>
                            <a:srgbClr val="191919"/>
                          </a:solidFill>
                          <a:latin typeface="Arial"/>
                        </a:rPr>
                        <a:t>Yes — varies widely</a:t>
                      </a:r>
                    </a:p>
                  </a:txBody>
                  <a:tcPr>
                    <a:solidFill>
                      <a:srgbClr val="F6F6F6"/>
                    </a:solidFill>
                  </a:tcPr>
                </a:tc>
              </a:tr>
              <a:tr h="566928">
                <a:tc>
                  <a:txBody>
                    <a:bodyPr lIns="63500" tIns="25400"/>
                    <a:lstStyle/>
                    <a:p>
                      <a:r>
                        <a:rPr sz="1300">
                          <a:solidFill>
                            <a:srgbClr val="191919"/>
                          </a:solidFill>
                          <a:latin typeface="Arial"/>
                        </a:rPr>
                        <a:t>R / HADES (Day 6)</a:t>
                      </a:r>
                    </a:p>
                  </a:txBody>
                  <a:tcPr>
                    <a:solidFill>
                      <a:srgbClr val="FFFFFF"/>
                    </a:solidFill>
                  </a:tcPr>
                </a:tc>
                <a:tc>
                  <a:txBody>
                    <a:bodyPr lIns="63500" tIns="25400"/>
                    <a:lstStyle/>
                    <a:p>
                      <a:r>
                        <a:rPr sz="1300">
                          <a:solidFill>
                            <a:srgbClr val="191919"/>
                          </a:solidFill>
                          <a:latin typeface="Arial"/>
                        </a:rPr>
                        <a:t>R ≥ 4.2, Java, DatabaseConnector loads</a:t>
                      </a:r>
                    </a:p>
                  </a:txBody>
                  <a:tcPr>
                    <a:solidFill>
                      <a:srgbClr val="FFFFFF"/>
                    </a:solidFill>
                  </a:tcPr>
                </a:tc>
                <a:tc>
                  <a:txBody>
                    <a:bodyPr lIns="63500" tIns="25400"/>
                    <a:lstStyle/>
                    <a:p>
                      <a:r>
                        <a:rPr sz="1300">
                          <a:solidFill>
                            <a:srgbClr val="191919"/>
                          </a:solidFill>
                          <a:latin typeface="Arial"/>
                        </a:rPr>
                        <a:t>Yes — local install</a:t>
                      </a:r>
                    </a:p>
                  </a:txBody>
                  <a:tcPr>
                    <a:solidFill>
                      <a:srgbClr val="FFFFFF"/>
                    </a:solidFill>
                  </a:tcPr>
                </a:tc>
              </a:tr>
              <a:tr h="566928">
                <a:tc>
                  <a:txBody>
                    <a:bodyPr lIns="63500" tIns="25400"/>
                    <a:lstStyle/>
                    <a:p>
                      <a:r>
                        <a:rPr sz="1300">
                          <a:solidFill>
                            <a:srgbClr val="191919"/>
                          </a:solidFill>
                          <a:latin typeface="Arial"/>
                        </a:rPr>
                        <a:t>Git / GitHub</a:t>
                      </a:r>
                    </a:p>
                  </a:txBody>
                  <a:tcPr>
                    <a:solidFill>
                      <a:srgbClr val="F6F6F6"/>
                    </a:solidFill>
                  </a:tcPr>
                </a:tc>
                <a:tc>
                  <a:txBody>
                    <a:bodyPr lIns="63500" tIns="25400"/>
                    <a:lstStyle/>
                    <a:p>
                      <a:r>
                        <a:rPr sz="1300">
                          <a:solidFill>
                            <a:srgbClr val="191919"/>
                          </a:solidFill>
                          <a:latin typeface="Arial"/>
                        </a:rPr>
                        <a:t>Clone program repo; push/pull without auth error</a:t>
                      </a:r>
                    </a:p>
                  </a:txBody>
                  <a:tcPr>
                    <a:solidFill>
                      <a:srgbClr val="F6F6F6"/>
                    </a:solidFill>
                  </a:tcPr>
                </a:tc>
                <a:tc>
                  <a:txBody>
                    <a:bodyPr lIns="63500" tIns="25400"/>
                    <a:lstStyle/>
                    <a:p>
                      <a:r>
                        <a:rPr sz="1300">
                          <a:solidFill>
                            <a:srgbClr val="191919"/>
                          </a:solidFill>
                          <a:latin typeface="Arial"/>
                        </a:rPr>
                        <a:t>Yes — repo URL</a:t>
                      </a:r>
                    </a:p>
                  </a:txBody>
                  <a:tcPr>
                    <a:solidFill>
                      <a:srgbClr val="F6F6F6"/>
                    </a:solidFill>
                  </a:tcPr>
                </a:tc>
              </a:tr>
              <a:tr h="566928">
                <a:tc>
                  <a:txBody>
                    <a:bodyPr lIns="63500" tIns="25400"/>
                    <a:lstStyle/>
                    <a:p>
                      <a:r>
                        <a:rPr sz="1300">
                          <a:solidFill>
                            <a:srgbClr val="191919"/>
                          </a:solidFill>
                          <a:latin typeface="Arial"/>
                        </a:rPr>
                        <a:t>Support Contacts</a:t>
                      </a:r>
                    </a:p>
                  </a:txBody>
                  <a:tcPr>
                    <a:solidFill>
                      <a:srgbClr val="FFFFFF"/>
                    </a:solidFill>
                  </a:tcPr>
                </a:tc>
                <a:tc>
                  <a:txBody>
                    <a:bodyPr lIns="63500" tIns="25400"/>
                    <a:lstStyle/>
                    <a:p>
                      <a:r>
                        <a:rPr sz="1300">
                          <a:solidFill>
                            <a:srgbClr val="191919"/>
                          </a:solidFill>
                          <a:latin typeface="Arial"/>
                        </a:rPr>
                        <a:t>Know who to call for data access, ATLAS admin, IT</a:t>
                      </a:r>
                    </a:p>
                  </a:txBody>
                  <a:tcPr>
                    <a:solidFill>
                      <a:srgbClr val="FFFFFF"/>
                    </a:solidFill>
                  </a:tcPr>
                </a:tc>
                <a:tc>
                  <a:txBody>
                    <a:bodyPr lIns="63500" tIns="25400"/>
                    <a:lstStyle/>
                    <a:p>
                      <a:r>
                        <a:rPr sz="1300">
                          <a:solidFill>
                            <a:srgbClr val="191919"/>
                          </a:solidFill>
                          <a:latin typeface="Arial"/>
                        </a:rPr>
                        <a:t>Always local</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ATLAS: What to Verify</a:t>
            </a:r>
          </a:p>
        </p:txBody>
      </p:sp>
      <p:sp>
        <p:nvSpPr>
          <p:cNvPr id="5" name="TextBox 4"/>
          <p:cNvSpPr txBox="1"/>
          <p:nvPr/>
        </p:nvSpPr>
        <p:spPr>
          <a:xfrm>
            <a:off x="475488" y="1161288"/>
            <a:ext cx="11237976" cy="5495544"/>
          </a:xfrm>
          <a:prstGeom prst="rect">
            <a:avLst/>
          </a:prstGeom>
          <a:noFill/>
        </p:spPr>
        <p:txBody>
          <a:bodyPr wrap="square">
            <a:spAutoFit/>
          </a:bodyPr>
          <a:lstStyle/>
          <a:p>
            <a:pPr>
              <a:spcBef>
                <a:spcPts val="600"/>
              </a:spcBef>
            </a:pPr>
            <a:r>
              <a:rPr sz="1800">
                <a:solidFill>
                  <a:srgbClr val="191919"/>
                </a:solidFill>
                <a:latin typeface="Arial"/>
              </a:rPr>
              <a:t>1.  Navigate to your site's ATLAS URL and log in with your credentials</a:t>
            </a:r>
          </a:p>
          <a:p>
            <a:pPr>
              <a:spcBef>
                <a:spcPts val="600"/>
              </a:spcBef>
            </a:pPr>
            <a:r>
              <a:rPr sz="1800">
                <a:solidFill>
                  <a:srgbClr val="191919"/>
                </a:solidFill>
                <a:latin typeface="Arial"/>
              </a:rPr>
              <a:t>2.  Go to Concept Sets → New Concept Set</a:t>
            </a:r>
          </a:p>
          <a:p>
            <a:pPr>
              <a:spcBef>
                <a:spcPts val="600"/>
              </a:spcBef>
            </a:pPr>
            <a:r>
              <a:rPr sz="1800">
                <a:solidFill>
                  <a:srgbClr val="191919"/>
                </a:solidFill>
                <a:latin typeface="Arial"/>
              </a:rPr>
              <a:t>3.  Search for 'Metformin' — add it to the set with Include Descendants ON</a:t>
            </a:r>
          </a:p>
          <a:p>
            <a:pPr>
              <a:spcBef>
                <a:spcPts val="600"/>
              </a:spcBef>
            </a:pPr>
            <a:r>
              <a:rPr sz="1800">
                <a:solidFill>
                  <a:srgbClr val="191919"/>
                </a:solidFill>
                <a:latin typeface="Arial"/>
              </a:rPr>
              <a:t>4.  Save the set (name it 'TtT-Test — delete me')</a:t>
            </a:r>
          </a:p>
          <a:p>
            <a:pPr>
              <a:spcBef>
                <a:spcPts val="600"/>
              </a:spcBef>
            </a:pPr>
            <a:r>
              <a:rPr sz="1800">
                <a:solidFill>
                  <a:srgbClr val="191919"/>
                </a:solidFill>
                <a:latin typeface="Arial"/>
              </a:rPr>
              <a:t>5.  Click Export → verify JSON downloads</a:t>
            </a:r>
          </a:p>
          <a:p>
            <a:pPr>
              <a:spcBef>
                <a:spcPts val="600"/>
              </a:spcBef>
            </a:pPr>
            <a:r>
              <a:rPr sz="1800">
                <a:solidFill>
                  <a:srgbClr val="191919"/>
                </a:solidFill>
                <a:latin typeface="Arial"/>
              </a:rPr>
              <a:t>6.  Delete the test set</a:t>
            </a:r>
          </a:p>
          <a:p>
            <a:pPr>
              <a:spcBef>
                <a:spcPts val="600"/>
              </a:spcBef>
            </a:pPr>
            <a:r>
              <a:rPr sz="1800">
                <a:solidFill>
                  <a:srgbClr val="191919"/>
                </a:solidFill>
                <a:latin typeface="Arial"/>
              </a:rPr>
              <a:t/>
            </a:r>
          </a:p>
          <a:p>
            <a:pPr>
              <a:spcBef>
                <a:spcPts val="600"/>
              </a:spcBef>
            </a:pPr>
            <a:r>
              <a:rPr sz="1800">
                <a:solidFill>
                  <a:srgbClr val="191919"/>
                </a:solidFill>
                <a:latin typeface="Arial"/>
              </a:rPr>
              <a:t>If any step fails: note the error → send to your ATLAS admin before Day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CDM Access: Quick Verification Query</a:t>
            </a:r>
          </a:p>
        </p:txBody>
      </p:sp>
      <p:sp>
        <p:nvSpPr>
          <p:cNvPr id="5" name="TextBox 4"/>
          <p:cNvSpPr txBox="1"/>
          <p:nvPr/>
        </p:nvSpPr>
        <p:spPr>
          <a:xfrm>
            <a:off x="475488" y="1097280"/>
            <a:ext cx="11237976" cy="411480"/>
          </a:xfrm>
          <a:prstGeom prst="rect">
            <a:avLst/>
          </a:prstGeom>
          <a:noFill/>
        </p:spPr>
        <p:txBody>
          <a:bodyPr wrap="square">
            <a:spAutoFit/>
          </a:bodyPr>
          <a:lstStyle/>
          <a:p>
            <a:pPr algn="l"/>
            <a:r>
              <a:rPr sz="1600" b="0" i="1">
                <a:solidFill>
                  <a:srgbClr val="5A5A5A"/>
                </a:solidFill>
                <a:latin typeface="Arial"/>
              </a:rPr>
              <a:t>Run this in your SQL client (Databricks notebook, DBeaver, or equivalent):</a:t>
            </a:r>
          </a:p>
        </p:txBody>
      </p:sp>
      <p:sp>
        <p:nvSpPr>
          <p:cNvPr id="6" name="Rectangle 5"/>
          <p:cNvSpPr/>
          <p:nvPr/>
        </p:nvSpPr>
        <p:spPr>
          <a:xfrm>
            <a:off x="475488" y="1527048"/>
            <a:ext cx="11237976" cy="5074920"/>
          </a:xfrm>
          <a:prstGeom prst="rect">
            <a:avLst/>
          </a:prstGeom>
          <a:solidFill>
            <a:srgbClr val="1C1C2C"/>
          </a:solidFill>
          <a:ln w="9525">
            <a:solidFill>
              <a:srgbClr val="5050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36776"/>
            <a:ext cx="10908792" cy="4855464"/>
          </a:xfrm>
          <a:prstGeom prst="rect">
            <a:avLst/>
          </a:prstGeom>
          <a:noFill/>
        </p:spPr>
        <p:txBody>
          <a:bodyPr wrap="none">
            <a:spAutoFit/>
          </a:bodyPr>
          <a:lstStyle/>
          <a:p>
            <a:pPr>
              <a:spcBef>
                <a:spcPts val="100"/>
              </a:spcBef>
            </a:pPr>
            <a:r>
              <a:rPr sz="1300">
                <a:solidFill>
                  <a:srgbClr val="D7D7D7"/>
                </a:solidFill>
                <a:latin typeface="Courier New"/>
              </a:rPr>
              <a:t>-- Replace [cdm_schema] with your actual schema name</a:t>
            </a:r>
          </a:p>
          <a:p>
            <a:pPr>
              <a:spcBef>
                <a:spcPts val="100"/>
              </a:spcBef>
            </a:pPr>
            <a:r>
              <a:rPr sz="1300">
                <a:solidFill>
                  <a:srgbClr val="D7D7D7"/>
                </a:solidFill>
                <a:latin typeface="Courier New"/>
              </a:rPr>
              <a:t>SELECT person_id,</a:t>
            </a:r>
          </a:p>
          <a:p>
            <a:pPr>
              <a:spcBef>
                <a:spcPts val="100"/>
              </a:spcBef>
            </a:pPr>
            <a:r>
              <a:rPr sz="1300">
                <a:solidFill>
                  <a:srgbClr val="D7D7D7"/>
                </a:solidFill>
                <a:latin typeface="Courier New"/>
              </a:rPr>
              <a:t>       year_of_birth,</a:t>
            </a:r>
          </a:p>
          <a:p>
            <a:pPr>
              <a:spcBef>
                <a:spcPts val="100"/>
              </a:spcBef>
            </a:pPr>
            <a:r>
              <a:rPr sz="1300">
                <a:solidFill>
                  <a:srgbClr val="D7D7D7"/>
                </a:solidFill>
                <a:latin typeface="Courier New"/>
              </a:rPr>
              <a:t>       gender_concept_id</a:t>
            </a:r>
          </a:p>
          <a:p>
            <a:pPr>
              <a:spcBef>
                <a:spcPts val="100"/>
              </a:spcBef>
            </a:pPr>
            <a:r>
              <a:rPr sz="1300">
                <a:solidFill>
                  <a:srgbClr val="D7D7D7"/>
                </a:solidFill>
                <a:latin typeface="Courier New"/>
              </a:rPr>
              <a:t>FROM [cdm_schema].person</a:t>
            </a:r>
          </a:p>
          <a:p>
            <a:pPr>
              <a:spcBef>
                <a:spcPts val="100"/>
              </a:spcBef>
            </a:pPr>
            <a:r>
              <a:rPr sz="1300">
                <a:solidFill>
                  <a:srgbClr val="D7D7D7"/>
                </a:solidFill>
                <a:latin typeface="Courier New"/>
              </a:rPr>
              <a:t>LIMIT 5;</a:t>
            </a:r>
          </a:p>
          <a:p>
            <a:pPr>
              <a:spcBef>
                <a:spcPts val="100"/>
              </a:spcBef>
            </a:pPr>
            <a:r>
              <a:rPr sz="1300">
                <a:solidFill>
                  <a:srgbClr val="D7D7D7"/>
                </a:solidFill>
                <a:latin typeface="Courier New"/>
              </a:rPr>
              <a:t/>
            </a:r>
          </a:p>
          <a:p>
            <a:pPr>
              <a:spcBef>
                <a:spcPts val="100"/>
              </a:spcBef>
            </a:pPr>
            <a:r>
              <a:rPr sz="1300">
                <a:solidFill>
                  <a:srgbClr val="D7D7D7"/>
                </a:solidFill>
                <a:latin typeface="Courier New"/>
              </a:rPr>
              <a:t>-- Also verify vocabulary tables are present:</a:t>
            </a:r>
          </a:p>
          <a:p>
            <a:pPr>
              <a:spcBef>
                <a:spcPts val="100"/>
              </a:spcBef>
            </a:pPr>
            <a:r>
              <a:rPr sz="1300">
                <a:solidFill>
                  <a:srgbClr val="D7D7D7"/>
                </a:solidFill>
                <a:latin typeface="Courier New"/>
              </a:rPr>
              <a:t>SELECT vocabulary_id, vocabulary_version</a:t>
            </a:r>
          </a:p>
          <a:p>
            <a:pPr>
              <a:spcBef>
                <a:spcPts val="100"/>
              </a:spcBef>
            </a:pPr>
            <a:r>
              <a:rPr sz="1300">
                <a:solidFill>
                  <a:srgbClr val="D7D7D7"/>
                </a:solidFill>
                <a:latin typeface="Courier New"/>
              </a:rPr>
              <a:t>FROM [cdm_schema].vocabulary</a:t>
            </a:r>
          </a:p>
          <a:p>
            <a:pPr>
              <a:spcBef>
                <a:spcPts val="100"/>
              </a:spcBef>
            </a:pPr>
            <a:r>
              <a:rPr sz="1300">
                <a:solidFill>
                  <a:srgbClr val="D7D7D7"/>
                </a:solidFill>
                <a:latin typeface="Courier New"/>
              </a:rPr>
              <a:t>LIMIT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Athena Browser: What It Is and Why You Need It</a:t>
            </a:r>
          </a:p>
        </p:txBody>
      </p:sp>
      <p:sp>
        <p:nvSpPr>
          <p:cNvPr id="5" name="TextBox 4"/>
          <p:cNvSpPr txBox="1"/>
          <p:nvPr/>
        </p:nvSpPr>
        <p:spPr>
          <a:xfrm>
            <a:off x="475488" y="1161288"/>
            <a:ext cx="11237976" cy="5495544"/>
          </a:xfrm>
          <a:prstGeom prst="rect">
            <a:avLst/>
          </a:prstGeom>
          <a:noFill/>
        </p:spPr>
        <p:txBody>
          <a:bodyPr wrap="square">
            <a:spAutoFit/>
          </a:bodyPr>
          <a:lstStyle/>
          <a:p>
            <a:pPr>
              <a:spcBef>
                <a:spcPts val="600"/>
              </a:spcBef>
            </a:pPr>
            <a:r>
              <a:rPr sz="1800">
                <a:solidFill>
                  <a:srgbClr val="191919"/>
                </a:solidFill>
                <a:latin typeface="Arial"/>
              </a:rPr>
              <a:t>Athena (athena.ohdsi.org) is the public OMOP vocabulary browser — no login required</a:t>
            </a:r>
          </a:p>
          <a:p>
            <a:pPr>
              <a:spcBef>
                <a:spcPts val="600"/>
              </a:spcBef>
            </a:pPr>
            <a:r>
              <a:rPr sz="1800">
                <a:solidFill>
                  <a:srgbClr val="191919"/>
                </a:solidFill>
                <a:latin typeface="Arial"/>
              </a:rPr>
              <a:t>It is the primary tool for Day 1 and Day 2 vocabulary work</a:t>
            </a:r>
          </a:p>
          <a:p>
            <a:pPr>
              <a:spcBef>
                <a:spcPts val="600"/>
              </a:spcBef>
            </a:pPr>
            <a:r>
              <a:rPr sz="1800">
                <a:solidFill>
                  <a:srgbClr val="191919"/>
                </a:solidFill>
                <a:latin typeface="Arial"/>
              </a:rPr>
              <a:t>What to verify today: open athena.ohdsi.org and search for 'Metformin'</a:t>
            </a:r>
          </a:p>
          <a:p>
            <a:pPr>
              <a:spcBef>
                <a:spcPts val="600"/>
              </a:spcBef>
            </a:pPr>
            <a:r>
              <a:rPr sz="1800">
                <a:solidFill>
                  <a:srgbClr val="191919"/>
                </a:solidFill>
                <a:latin typeface="Arial"/>
              </a:rPr>
              <a:t>You should see results showing standard_concept = 'S' for the ingredient</a:t>
            </a:r>
          </a:p>
          <a:p>
            <a:pPr>
              <a:spcBef>
                <a:spcPts val="600"/>
              </a:spcBef>
            </a:pPr>
            <a:r>
              <a:rPr sz="1800">
                <a:solidFill>
                  <a:srgbClr val="191919"/>
                </a:solidFill>
                <a:latin typeface="Arial"/>
              </a:rPr>
              <a:t>Also check: concept details page, relationships tab, and descendants</a:t>
            </a:r>
          </a:p>
          <a:p>
            <a:pPr>
              <a:spcBef>
                <a:spcPts val="600"/>
              </a:spcBef>
            </a:pPr>
            <a:r>
              <a:rPr sz="1800">
                <a:solidFill>
                  <a:srgbClr val="191919"/>
                </a:solidFill>
                <a:latin typeface="Arial"/>
              </a:rPr>
              <a:t>Bookmark it — you will use Athena in every session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Git and GitHub Setup</a:t>
            </a:r>
          </a:p>
        </p:txBody>
      </p:sp>
      <p:sp>
        <p:nvSpPr>
          <p:cNvPr id="5" name="TextBox 4"/>
          <p:cNvSpPr txBox="1"/>
          <p:nvPr/>
        </p:nvSpPr>
        <p:spPr>
          <a:xfrm>
            <a:off x="475488" y="1161288"/>
            <a:ext cx="11237976" cy="5495544"/>
          </a:xfrm>
          <a:prstGeom prst="rect">
            <a:avLst/>
          </a:prstGeom>
          <a:noFill/>
        </p:spPr>
        <p:txBody>
          <a:bodyPr wrap="square">
            <a:spAutoFit/>
          </a:bodyPr>
          <a:lstStyle/>
          <a:p>
            <a:pPr>
              <a:spcBef>
                <a:spcPts val="600"/>
              </a:spcBef>
            </a:pPr>
            <a:r>
              <a:rPr sz="1800">
                <a:solidFill>
                  <a:srgbClr val="191919"/>
                </a:solidFill>
                <a:latin typeface="Arial"/>
              </a:rPr>
              <a:t>Why Git? — all course materials, SQL scripts, and cohort exports are version-controlled here</a:t>
            </a:r>
          </a:p>
          <a:p>
            <a:pPr>
              <a:spcBef>
                <a:spcPts val="600"/>
              </a:spcBef>
            </a:pPr>
            <a:r>
              <a:rPr sz="1800">
                <a:solidFill>
                  <a:srgbClr val="191919"/>
                </a:solidFill>
                <a:latin typeface="Arial"/>
              </a:rPr>
              <a:t>Verify: git --version in a terminal returns a version number</a:t>
            </a:r>
          </a:p>
          <a:p>
            <a:pPr>
              <a:spcBef>
                <a:spcPts val="600"/>
              </a:spcBef>
            </a:pPr>
            <a:r>
              <a:rPr sz="1800">
                <a:solidFill>
                  <a:srgbClr val="191919"/>
                </a:solidFill>
                <a:latin typeface="Arial"/>
              </a:rPr>
              <a:t>Clone the program repo:</a:t>
            </a:r>
          </a:p>
          <a:p>
            <a:pPr lvl="1">
              <a:spcBef>
                <a:spcPts val="300"/>
              </a:spcBef>
            </a:pPr>
            <a:r>
              <a:rPr sz="1600">
                <a:solidFill>
                  <a:srgbClr val="191919"/>
                </a:solidFill>
                <a:latin typeface="Arial"/>
              </a:rPr>
              <a:t>    git clone https://github.com/ALSTDI/ALS-RWE.git</a:t>
            </a:r>
          </a:p>
          <a:p>
            <a:pPr>
              <a:spcBef>
                <a:spcPts val="600"/>
              </a:spcBef>
            </a:pPr>
            <a:r>
              <a:rPr sz="1800">
                <a:solidFill>
                  <a:srgbClr val="191919"/>
                </a:solidFill>
                <a:latin typeface="Arial"/>
              </a:rPr>
              <a:t>Confirm you can pull updates: git pull in the cloned folder</a:t>
            </a:r>
          </a:p>
          <a:p>
            <a:pPr>
              <a:spcBef>
                <a:spcPts val="600"/>
              </a:spcBef>
            </a:pPr>
            <a:r>
              <a:rPr sz="1800">
                <a:solidFill>
                  <a:srgbClr val="191919"/>
                </a:solidFill>
                <a:latin typeface="Arial"/>
              </a:rPr>
              <a:t>If using GitHub with SSH: confirm your SSH key is registered at github.com/settings/keys</a:t>
            </a:r>
          </a:p>
          <a:p>
            <a:pPr>
              <a:spcBef>
                <a:spcPts val="600"/>
              </a:spcBef>
            </a:pPr>
            <a:r>
              <a:rPr sz="1800">
                <a:solidFill>
                  <a:srgbClr val="191919"/>
                </a:solidFill>
                <a:latin typeface="Arial"/>
              </a:rPr>
              <a:t>No Git experience? The GitHub Hello World guide takes 15 minutes: docs.github.com/quickstart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HADES Setup (Optional — Day 6 Track)</a:t>
            </a:r>
          </a:p>
        </p:txBody>
      </p:sp>
      <p:sp>
        <p:nvSpPr>
          <p:cNvPr id="5" name="TextBox 4"/>
          <p:cNvSpPr txBox="1"/>
          <p:nvPr/>
        </p:nvSpPr>
        <p:spPr>
          <a:xfrm>
            <a:off x="475488" y="1161288"/>
            <a:ext cx="11237976" cy="5495544"/>
          </a:xfrm>
          <a:prstGeom prst="rect">
            <a:avLst/>
          </a:prstGeom>
          <a:noFill/>
        </p:spPr>
        <p:txBody>
          <a:bodyPr wrap="square">
            <a:spAutoFit/>
          </a:bodyPr>
          <a:lstStyle/>
          <a:p>
            <a:pPr>
              <a:spcBef>
                <a:spcPts val="600"/>
              </a:spcBef>
            </a:pPr>
            <a:r>
              <a:rPr sz="1800">
                <a:solidFill>
                  <a:srgbClr val="191919"/>
                </a:solidFill>
                <a:latin typeface="Arial"/>
              </a:rPr>
              <a:t>Required only if you plan to attend Day 6 (advanced analytics with R packages)</a:t>
            </a:r>
          </a:p>
          <a:p>
            <a:pPr>
              <a:spcBef>
                <a:spcPts val="600"/>
              </a:spcBef>
            </a:pPr>
            <a:r>
              <a:rPr sz="1800">
                <a:solidFill>
                  <a:srgbClr val="191919"/>
                </a:solidFill>
                <a:latin typeface="Arial"/>
              </a:rPr>
              <a:t>Prerequisites: R ≥ 4.2 · RStudio or Posit Workbench · Java 8 or 11</a:t>
            </a:r>
          </a:p>
          <a:p>
            <a:pPr>
              <a:spcBef>
                <a:spcPts val="600"/>
              </a:spcBef>
            </a:pPr>
            <a:r>
              <a:rPr sz="1800">
                <a:solidFill>
                  <a:srgbClr val="191919"/>
                </a:solidFill>
                <a:latin typeface="Arial"/>
              </a:rPr>
              <a:t>Verify Java inside RStudio: system('java -version')</a:t>
            </a:r>
          </a:p>
          <a:p>
            <a:pPr>
              <a:spcBef>
                <a:spcPts val="600"/>
              </a:spcBef>
            </a:pPr>
            <a:r>
              <a:rPr sz="1800">
                <a:solidFill>
                  <a:srgbClr val="191919"/>
                </a:solidFill>
                <a:latin typeface="Arial"/>
              </a:rPr>
              <a:t>Install DatabaseConnector:</a:t>
            </a:r>
          </a:p>
          <a:p>
            <a:pPr lvl="1">
              <a:spcBef>
                <a:spcPts val="300"/>
              </a:spcBef>
            </a:pPr>
            <a:r>
              <a:rPr sz="1600">
                <a:solidFill>
                  <a:srgbClr val="191919"/>
                </a:solidFill>
                <a:latin typeface="Arial"/>
              </a:rPr>
              <a:t>    remotes::install_github('OHDSI/DatabaseConnector')</a:t>
            </a:r>
          </a:p>
          <a:p>
            <a:pPr>
              <a:spcBef>
                <a:spcPts val="600"/>
              </a:spcBef>
            </a:pPr>
            <a:r>
              <a:rPr sz="1800">
                <a:solidFill>
                  <a:srgbClr val="191919"/>
                </a:solidFill>
                <a:latin typeface="Arial"/>
              </a:rPr>
              <a:t>Install HADES (all packages):</a:t>
            </a:r>
          </a:p>
          <a:p>
            <a:pPr lvl="1">
              <a:spcBef>
                <a:spcPts val="300"/>
              </a:spcBef>
            </a:pPr>
            <a:r>
              <a:rPr sz="1600">
                <a:solidFill>
                  <a:srgbClr val="191919"/>
                </a:solidFill>
                <a:latin typeface="Arial"/>
              </a:rPr>
              <a:t>    remotes::install_github('OHDSI/Hades')</a:t>
            </a:r>
          </a:p>
          <a:p>
            <a:pPr>
              <a:spcBef>
                <a:spcPts val="600"/>
              </a:spcBef>
            </a:pPr>
            <a:r>
              <a:rPr sz="1800">
                <a:solidFill>
                  <a:srgbClr val="191919"/>
                </a:solidFill>
                <a:latin typeface="Arial"/>
              </a:rPr>
              <a:t>Test: library(DatabaseConnector) should load without error</a:t>
            </a:r>
          </a:p>
          <a:p>
            <a:pPr>
              <a:spcBef>
                <a:spcPts val="600"/>
              </a:spcBef>
            </a:pPr>
            <a:r>
              <a:rPr sz="1800">
                <a:solidFill>
                  <a:srgbClr val="191919"/>
                </a:solidFill>
                <a:latin typeface="Arial"/>
              </a:rPr>
              <a:t>If Java fails: download from adoptium.net → restart RStudio → re-test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Extraction Tool Overview</a:t>
            </a:r>
          </a:p>
        </p:txBody>
      </p:sp>
      <p:sp>
        <p:nvSpPr>
          <p:cNvPr id="5" name="TextBox 4"/>
          <p:cNvSpPr txBox="1"/>
          <p:nvPr/>
        </p:nvSpPr>
        <p:spPr>
          <a:xfrm>
            <a:off x="475488" y="1161288"/>
            <a:ext cx="11237976" cy="5495544"/>
          </a:xfrm>
          <a:prstGeom prst="rect">
            <a:avLst/>
          </a:prstGeom>
          <a:noFill/>
        </p:spPr>
        <p:txBody>
          <a:bodyPr wrap="square">
            <a:spAutoFit/>
          </a:bodyPr>
          <a:lstStyle/>
          <a:p>
            <a:pPr>
              <a:spcBef>
                <a:spcPts val="600"/>
              </a:spcBef>
            </a:pPr>
            <a:r>
              <a:rPr sz="1800">
                <a:solidFill>
                  <a:srgbClr val="191919"/>
                </a:solidFill>
                <a:latin typeface="Arial"/>
              </a:rPr>
              <a:t>Data extraction is site-specific — there is no single correct method</a:t>
            </a:r>
          </a:p>
          <a:p>
            <a:pPr>
              <a:spcBef>
                <a:spcPts val="600"/>
              </a:spcBef>
            </a:pPr>
            <a:r>
              <a:rPr sz="1800">
                <a:solidFill>
                  <a:srgbClr val="191919"/>
                </a:solidFill>
                <a:latin typeface="Arial"/>
              </a:rPr>
              <a:t>Common approaches:</a:t>
            </a:r>
          </a:p>
          <a:p>
            <a:pPr lvl="1">
              <a:spcBef>
                <a:spcPts val="300"/>
              </a:spcBef>
            </a:pPr>
            <a:r>
              <a:rPr sz="1600">
                <a:solidFill>
                  <a:srgbClr val="191919"/>
                </a:solidFill>
                <a:latin typeface="Arial"/>
              </a:rPr>
              <a:t>SEARCH: OHDSI extraction tool for cohort-based data pulls</a:t>
            </a:r>
          </a:p>
          <a:p>
            <a:pPr lvl="1">
              <a:spcBef>
                <a:spcPts val="300"/>
              </a:spcBef>
            </a:pPr>
            <a:r>
              <a:rPr sz="1600">
                <a:solidFill>
                  <a:srgbClr val="191919"/>
                </a:solidFill>
                <a:latin typeface="Arial"/>
              </a:rPr>
              <a:t>Exported Atlas SQL: run cohort SQL in your SQL client</a:t>
            </a:r>
          </a:p>
          <a:p>
            <a:pPr lvl="1">
              <a:spcBef>
                <a:spcPts val="300"/>
              </a:spcBef>
            </a:pPr>
            <a:r>
              <a:rPr sz="1600">
                <a:solidFill>
                  <a:srgbClr val="191919"/>
                </a:solidFill>
                <a:latin typeface="Arial"/>
              </a:rPr>
              <a:t>Local pipeline: site-developed ETL or extraction workflow</a:t>
            </a:r>
          </a:p>
          <a:p>
            <a:pPr>
              <a:spcBef>
                <a:spcPts val="600"/>
              </a:spcBef>
            </a:pPr>
            <a:r>
              <a:rPr sz="1800">
                <a:solidFill>
                  <a:srgbClr val="191919"/>
                </a:solidFill>
                <a:latin typeface="Arial"/>
              </a:rPr>
              <a:t>Day 4 will cover extraction in detail — today, just confirm you know which method your site uses</a:t>
            </a:r>
          </a:p>
          <a:p>
            <a:pPr>
              <a:spcBef>
                <a:spcPts val="600"/>
              </a:spcBef>
            </a:pPr>
            <a:r>
              <a:rPr sz="1800">
                <a:solidFill>
                  <a:srgbClr val="191919"/>
                </a:solidFill>
                <a:latin typeface="Arial"/>
              </a:rPr>
              <a:t>Fill in the 'Your site's extraction setup' table in the Day 4 module before that session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320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237976" cy="777240"/>
          </a:xfrm>
          <a:prstGeom prst="rect">
            <a:avLst/>
          </a:prstGeom>
          <a:noFill/>
        </p:spPr>
        <p:txBody>
          <a:bodyPr wrap="square">
            <a:spAutoFit/>
          </a:bodyPr>
          <a:lstStyle/>
          <a:p>
            <a:pPr algn="l"/>
            <a:r>
              <a:rPr sz="2600" b="1" i="0">
                <a:solidFill>
                  <a:srgbClr val="FFFFFF"/>
                </a:solidFill>
                <a:latin typeface="Century Gothic"/>
              </a:rPr>
              <a:t>Lab:  Environment Checklist — Work Through It Now</a:t>
            </a:r>
          </a:p>
        </p:txBody>
      </p:sp>
      <p:sp>
        <p:nvSpPr>
          <p:cNvPr id="5" name="TextBox 4"/>
          <p:cNvSpPr txBox="1"/>
          <p:nvPr/>
        </p:nvSpPr>
        <p:spPr>
          <a:xfrm>
            <a:off x="9262872" y="201168"/>
            <a:ext cx="2468880" cy="548640"/>
          </a:xfrm>
          <a:prstGeom prst="rect">
            <a:avLst/>
          </a:prstGeom>
          <a:noFill/>
        </p:spPr>
        <p:txBody>
          <a:bodyPr wrap="square">
            <a:spAutoFit/>
          </a:bodyPr>
          <a:lstStyle/>
          <a:p>
            <a:pPr algn="r"/>
            <a:r>
              <a:rPr sz="1400" b="0" i="0">
                <a:solidFill>
                  <a:srgbClr val="FFFFFF"/>
                </a:solidFill>
                <a:latin typeface="Arial"/>
              </a:rPr>
              <a:t>⏱  ~25 minutes</a:t>
            </a:r>
          </a:p>
        </p:txBody>
      </p:sp>
      <p:sp>
        <p:nvSpPr>
          <p:cNvPr id="6" name="Rectangle 5"/>
          <p:cNvSpPr/>
          <p:nvPr/>
        </p:nvSpPr>
        <p:spPr>
          <a:xfrm>
            <a:off x="475488" y="1124712"/>
            <a:ext cx="11237976" cy="402336"/>
          </a:xfrm>
          <a:prstGeom prst="rect">
            <a:avLst/>
          </a:prstGeom>
          <a:solidFill>
            <a:srgbClr val="ECDFF3"/>
          </a:solidFill>
          <a:ln w="9525">
            <a:solidFill>
              <a:srgbClr val="90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197864"/>
            <a:ext cx="11055096" cy="274320"/>
          </a:xfrm>
          <a:prstGeom prst="rect">
            <a:avLst/>
          </a:prstGeom>
          <a:noFill/>
        </p:spPr>
        <p:txBody>
          <a:bodyPr wrap="square">
            <a:spAutoFit/>
          </a:bodyPr>
          <a:lstStyle/>
          <a:p>
            <a:pPr algn="l"/>
            <a:r>
              <a:rPr sz="1400" b="0" i="0">
                <a:solidFill>
                  <a:srgbClr val="320337"/>
                </a:solidFill>
                <a:latin typeface="Arial"/>
              </a:rPr>
              <a:t>Tool: ATLAS · SQL Client (Databricks / DBeaver) · Athena · Git</a:t>
            </a:r>
          </a:p>
        </p:txBody>
      </p:sp>
      <p:sp>
        <p:nvSpPr>
          <p:cNvPr id="8" name="Rectangle 7"/>
          <p:cNvSpPr/>
          <p:nvPr/>
        </p:nvSpPr>
        <p:spPr>
          <a:xfrm>
            <a:off x="475488" y="1655064"/>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1673352"/>
            <a:ext cx="365760" cy="329184"/>
          </a:xfrm>
          <a:prstGeom prst="rect">
            <a:avLst/>
          </a:prstGeom>
          <a:noFill/>
        </p:spPr>
        <p:txBody>
          <a:bodyPr wrap="square">
            <a:spAutoFit/>
          </a:bodyPr>
          <a:lstStyle/>
          <a:p>
            <a:pPr algn="ctr"/>
            <a:r>
              <a:rPr sz="1500" b="1" i="0">
                <a:solidFill>
                  <a:srgbClr val="FFFFFF"/>
                </a:solidFill>
                <a:latin typeface="Arial"/>
              </a:rPr>
              <a:t>1</a:t>
            </a:r>
          </a:p>
        </p:txBody>
      </p:sp>
      <p:sp>
        <p:nvSpPr>
          <p:cNvPr id="10" name="TextBox 9"/>
          <p:cNvSpPr txBox="1"/>
          <p:nvPr/>
        </p:nvSpPr>
        <p:spPr>
          <a:xfrm>
            <a:off x="969264" y="1655064"/>
            <a:ext cx="10680192" cy="594360"/>
          </a:xfrm>
          <a:prstGeom prst="rect">
            <a:avLst/>
          </a:prstGeom>
          <a:noFill/>
        </p:spPr>
        <p:txBody>
          <a:bodyPr wrap="square">
            <a:spAutoFit/>
          </a:bodyPr>
          <a:lstStyle/>
          <a:p>
            <a:pPr algn="l"/>
            <a:r>
              <a:rPr sz="1800" b="0" i="0">
                <a:solidFill>
                  <a:srgbClr val="191919"/>
                </a:solidFill>
                <a:latin typeface="Arial"/>
              </a:rPr>
              <a:t>Open the Environment Checklist Template in the course materials</a:t>
            </a:r>
          </a:p>
        </p:txBody>
      </p:sp>
      <p:sp>
        <p:nvSpPr>
          <p:cNvPr id="11" name="Rectangle 10"/>
          <p:cNvSpPr/>
          <p:nvPr/>
        </p:nvSpPr>
        <p:spPr>
          <a:xfrm>
            <a:off x="475488" y="2368296"/>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2386584"/>
            <a:ext cx="365760" cy="329184"/>
          </a:xfrm>
          <a:prstGeom prst="rect">
            <a:avLst/>
          </a:prstGeom>
          <a:noFill/>
        </p:spPr>
        <p:txBody>
          <a:bodyPr wrap="square">
            <a:spAutoFit/>
          </a:bodyPr>
          <a:lstStyle/>
          <a:p>
            <a:pPr algn="ctr"/>
            <a:r>
              <a:rPr sz="1500" b="1" i="0">
                <a:solidFill>
                  <a:srgbClr val="FFFFFF"/>
                </a:solidFill>
                <a:latin typeface="Arial"/>
              </a:rPr>
              <a:t>2</a:t>
            </a:r>
          </a:p>
        </p:txBody>
      </p:sp>
      <p:sp>
        <p:nvSpPr>
          <p:cNvPr id="13" name="TextBox 12"/>
          <p:cNvSpPr txBox="1"/>
          <p:nvPr/>
        </p:nvSpPr>
        <p:spPr>
          <a:xfrm>
            <a:off x="969264" y="2368296"/>
            <a:ext cx="10680192" cy="594360"/>
          </a:xfrm>
          <a:prstGeom prst="rect">
            <a:avLst/>
          </a:prstGeom>
          <a:noFill/>
        </p:spPr>
        <p:txBody>
          <a:bodyPr wrap="square">
            <a:spAutoFit/>
          </a:bodyPr>
          <a:lstStyle/>
          <a:p>
            <a:pPr algn="l"/>
            <a:r>
              <a:rPr sz="1800" b="0" i="0">
                <a:solidFill>
                  <a:srgbClr val="191919"/>
                </a:solidFill>
                <a:latin typeface="Arial"/>
              </a:rPr>
              <a:t>Work through each section: ATLAS, CDM, Athena, SQL Client, Git</a:t>
            </a:r>
          </a:p>
        </p:txBody>
      </p:sp>
      <p:sp>
        <p:nvSpPr>
          <p:cNvPr id="14" name="Rectangle 13"/>
          <p:cNvSpPr/>
          <p:nvPr/>
        </p:nvSpPr>
        <p:spPr>
          <a:xfrm>
            <a:off x="475488" y="3081528"/>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3099816"/>
            <a:ext cx="365760" cy="329184"/>
          </a:xfrm>
          <a:prstGeom prst="rect">
            <a:avLst/>
          </a:prstGeom>
          <a:noFill/>
        </p:spPr>
        <p:txBody>
          <a:bodyPr wrap="square">
            <a:spAutoFit/>
          </a:bodyPr>
          <a:lstStyle/>
          <a:p>
            <a:pPr algn="ctr"/>
            <a:r>
              <a:rPr sz="1500" b="1" i="0">
                <a:solidFill>
                  <a:srgbClr val="FFFFFF"/>
                </a:solidFill>
                <a:latin typeface="Arial"/>
              </a:rPr>
              <a:t>3</a:t>
            </a:r>
          </a:p>
        </p:txBody>
      </p:sp>
      <p:sp>
        <p:nvSpPr>
          <p:cNvPr id="16" name="TextBox 15"/>
          <p:cNvSpPr txBox="1"/>
          <p:nvPr/>
        </p:nvSpPr>
        <p:spPr>
          <a:xfrm>
            <a:off x="969264" y="3081528"/>
            <a:ext cx="10680192" cy="594360"/>
          </a:xfrm>
          <a:prstGeom prst="rect">
            <a:avLst/>
          </a:prstGeom>
          <a:noFill/>
        </p:spPr>
        <p:txBody>
          <a:bodyPr wrap="square">
            <a:spAutoFit/>
          </a:bodyPr>
          <a:lstStyle/>
          <a:p>
            <a:pPr algn="l"/>
            <a:r>
              <a:rPr sz="1800" b="0" i="0">
                <a:solidFill>
                  <a:srgbClr val="191919"/>
                </a:solidFill>
                <a:latin typeface="Arial"/>
              </a:rPr>
              <a:t>Mark items Pass or Blocked — be honest about what isn't working</a:t>
            </a:r>
          </a:p>
        </p:txBody>
      </p:sp>
      <p:sp>
        <p:nvSpPr>
          <p:cNvPr id="17" name="Rectangle 16"/>
          <p:cNvSpPr/>
          <p:nvPr/>
        </p:nvSpPr>
        <p:spPr>
          <a:xfrm>
            <a:off x="475488" y="3794760"/>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 y="3813048"/>
            <a:ext cx="365760" cy="329184"/>
          </a:xfrm>
          <a:prstGeom prst="rect">
            <a:avLst/>
          </a:prstGeom>
          <a:noFill/>
        </p:spPr>
        <p:txBody>
          <a:bodyPr wrap="square">
            <a:spAutoFit/>
          </a:bodyPr>
          <a:lstStyle/>
          <a:p>
            <a:pPr algn="ctr"/>
            <a:r>
              <a:rPr sz="1500" b="1" i="0">
                <a:solidFill>
                  <a:srgbClr val="FFFFFF"/>
                </a:solidFill>
                <a:latin typeface="Arial"/>
              </a:rPr>
              <a:t>4</a:t>
            </a:r>
          </a:p>
        </p:txBody>
      </p:sp>
      <p:sp>
        <p:nvSpPr>
          <p:cNvPr id="19" name="TextBox 18"/>
          <p:cNvSpPr txBox="1"/>
          <p:nvPr/>
        </p:nvSpPr>
        <p:spPr>
          <a:xfrm>
            <a:off x="969264" y="3794760"/>
            <a:ext cx="10680192" cy="594360"/>
          </a:xfrm>
          <a:prstGeom prst="rect">
            <a:avLst/>
          </a:prstGeom>
          <a:noFill/>
        </p:spPr>
        <p:txBody>
          <a:bodyPr wrap="square">
            <a:spAutoFit/>
          </a:bodyPr>
          <a:lstStyle/>
          <a:p>
            <a:pPr algn="l"/>
            <a:r>
              <a:rPr sz="1800" b="0" i="0">
                <a:solidFill>
                  <a:srgbClr val="191919"/>
                </a:solidFill>
                <a:latin typeface="Arial"/>
              </a:rPr>
              <a:t>Record the error message (not just 'it failed') for any blocked items</a:t>
            </a:r>
          </a:p>
        </p:txBody>
      </p:sp>
      <p:sp>
        <p:nvSpPr>
          <p:cNvPr id="20" name="Rectangle 19"/>
          <p:cNvSpPr/>
          <p:nvPr/>
        </p:nvSpPr>
        <p:spPr>
          <a:xfrm>
            <a:off x="475488" y="4507992"/>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 y="4526280"/>
            <a:ext cx="365760" cy="329184"/>
          </a:xfrm>
          <a:prstGeom prst="rect">
            <a:avLst/>
          </a:prstGeom>
          <a:noFill/>
        </p:spPr>
        <p:txBody>
          <a:bodyPr wrap="square">
            <a:spAutoFit/>
          </a:bodyPr>
          <a:lstStyle/>
          <a:p>
            <a:pPr algn="ctr"/>
            <a:r>
              <a:rPr sz="1500" b="1" i="0">
                <a:solidFill>
                  <a:srgbClr val="FFFFFF"/>
                </a:solidFill>
                <a:latin typeface="Arial"/>
              </a:rPr>
              <a:t>5</a:t>
            </a:r>
          </a:p>
        </p:txBody>
      </p:sp>
      <p:sp>
        <p:nvSpPr>
          <p:cNvPr id="22" name="TextBox 21"/>
          <p:cNvSpPr txBox="1"/>
          <p:nvPr/>
        </p:nvSpPr>
        <p:spPr>
          <a:xfrm>
            <a:off x="969264" y="4507992"/>
            <a:ext cx="10680192" cy="594360"/>
          </a:xfrm>
          <a:prstGeom prst="rect">
            <a:avLst/>
          </a:prstGeom>
          <a:noFill/>
        </p:spPr>
        <p:txBody>
          <a:bodyPr wrap="square">
            <a:spAutoFit/>
          </a:bodyPr>
          <a:lstStyle/>
          <a:p>
            <a:pPr algn="l"/>
            <a:r>
              <a:rPr sz="1800" b="0" i="0">
                <a:solidFill>
                  <a:srgbClr val="191919"/>
                </a:solidFill>
                <a:latin typeface="Arial"/>
              </a:rPr>
              <a:t>Share blockers with the trainer — we'll troubleshoot together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Common Setup Issues</a:t>
            </a:r>
          </a:p>
        </p:txBody>
      </p:sp>
      <p:sp>
        <p:nvSpPr>
          <p:cNvPr id="5" name="TextBox 4"/>
          <p:cNvSpPr txBox="1"/>
          <p:nvPr/>
        </p:nvSpPr>
        <p:spPr>
          <a:xfrm>
            <a:off x="475488" y="1161288"/>
            <a:ext cx="11237976" cy="5495544"/>
          </a:xfrm>
          <a:prstGeom prst="rect">
            <a:avLst/>
          </a:prstGeom>
          <a:noFill/>
        </p:spPr>
        <p:txBody>
          <a:bodyPr wrap="square">
            <a:spAutoFit/>
          </a:bodyPr>
          <a:lstStyle/>
          <a:p>
            <a:pPr>
              <a:spcBef>
                <a:spcPts val="600"/>
              </a:spcBef>
            </a:pPr>
            <a:r>
              <a:rPr sz="1800">
                <a:solidFill>
                  <a:srgbClr val="191919"/>
                </a:solidFill>
                <a:latin typeface="Arial"/>
              </a:rPr>
              <a:t>ATLAS login fails: account hasn't been provisioned — contact your ATLAS admin</a:t>
            </a:r>
          </a:p>
          <a:p>
            <a:pPr>
              <a:spcBef>
                <a:spcPts val="600"/>
              </a:spcBef>
            </a:pPr>
            <a:r>
              <a:rPr sz="1800">
                <a:solidFill>
                  <a:srgbClr val="191919"/>
                </a:solidFill>
                <a:latin typeface="Arial"/>
              </a:rPr>
              <a:t>CDM connection error 'schema not found': check capitalization and use quotes around schema name</a:t>
            </a:r>
          </a:p>
          <a:p>
            <a:pPr>
              <a:spcBef>
                <a:spcPts val="600"/>
              </a:spcBef>
            </a:pPr>
            <a:r>
              <a:rPr sz="1800">
                <a:solidFill>
                  <a:srgbClr val="191919"/>
                </a:solidFill>
                <a:latin typeface="Arial"/>
              </a:rPr>
              <a:t>CDM connection timeout: check VPN connection first; confirm database port is open</a:t>
            </a:r>
          </a:p>
          <a:p>
            <a:pPr>
              <a:spcBef>
                <a:spcPts val="600"/>
              </a:spcBef>
            </a:pPr>
            <a:r>
              <a:rPr sz="1800">
                <a:solidFill>
                  <a:srgbClr val="191919"/>
                </a:solidFill>
                <a:latin typeface="Arial"/>
              </a:rPr>
              <a:t>Git clone fails: SSH key not registered, or need HTTPS instead of SSH</a:t>
            </a:r>
          </a:p>
          <a:p>
            <a:pPr>
              <a:spcBef>
                <a:spcPts val="600"/>
              </a:spcBef>
            </a:pPr>
            <a:r>
              <a:rPr sz="1800">
                <a:solidFill>
                  <a:srgbClr val="191919"/>
                </a:solidFill>
                <a:latin typeface="Arial"/>
              </a:rPr>
              <a:t>R / HADES 'package not found': run install.packages('remotes') first</a:t>
            </a:r>
          </a:p>
          <a:p>
            <a:pPr>
              <a:spcBef>
                <a:spcPts val="600"/>
              </a:spcBef>
            </a:pPr>
            <a:r>
              <a:rPr sz="1800">
                <a:solidFill>
                  <a:srgbClr val="191919"/>
                </a:solidFill>
                <a:latin typeface="Arial"/>
              </a:rPr>
              <a:t>Java version error in DatabaseConnector: Java 17+ not supported; install Java 11</a:t>
            </a:r>
          </a:p>
          <a:p>
            <a:pPr>
              <a:spcBef>
                <a:spcPts val="600"/>
              </a:spcBef>
            </a:pPr>
            <a:r>
              <a:rPr sz="1800">
                <a:solidFill>
                  <a:srgbClr val="191919"/>
                </a:solidFill>
                <a:latin typeface="Arial"/>
              </a:rPr>
              <a:t>Athena unreachable: network firewall blocking external HTTPS — use personal hotspot to test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Key Takeaways</a:t>
            </a:r>
          </a:p>
        </p:txBody>
      </p:sp>
      <p:sp>
        <p:nvSpPr>
          <p:cNvPr id="5" name="Rectangle 4"/>
          <p:cNvSpPr/>
          <p:nvPr/>
        </p:nvSpPr>
        <p:spPr>
          <a:xfrm>
            <a:off x="475488" y="1170432"/>
            <a:ext cx="11237976" cy="954633"/>
          </a:xfrm>
          <a:prstGeom prst="rect">
            <a:avLst/>
          </a:prstGeom>
          <a:solidFill>
            <a:srgbClr val="ECDFF3"/>
          </a:solidFill>
          <a:ln w="9525">
            <a:solidFill>
              <a:srgbClr val="90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1234440"/>
            <a:ext cx="11018520" cy="844905"/>
          </a:xfrm>
          <a:prstGeom prst="rect">
            <a:avLst/>
          </a:prstGeom>
          <a:noFill/>
        </p:spPr>
        <p:txBody>
          <a:bodyPr wrap="square">
            <a:spAutoFit/>
          </a:bodyPr>
          <a:lstStyle/>
          <a:p>
            <a:pPr algn="l"/>
            <a:r>
              <a:rPr sz="1800" b="0" i="0">
                <a:solidFill>
                  <a:srgbClr val="191919"/>
                </a:solidFill>
                <a:latin typeface="Arial"/>
              </a:rPr>
              <a:t>✓  Verified access to ATLAS, CDM, Athena, SQL client, and GitHub</a:t>
            </a:r>
          </a:p>
        </p:txBody>
      </p:sp>
      <p:sp>
        <p:nvSpPr>
          <p:cNvPr id="7" name="Rectangle 6"/>
          <p:cNvSpPr/>
          <p:nvPr/>
        </p:nvSpPr>
        <p:spPr>
          <a:xfrm>
            <a:off x="475488" y="2216505"/>
            <a:ext cx="11237976" cy="954633"/>
          </a:xfrm>
          <a:prstGeom prst="rect">
            <a:avLst/>
          </a:prstGeom>
          <a:solidFill>
            <a:srgbClr val="F8F2FF"/>
          </a:solidFill>
          <a:ln w="9525">
            <a:solidFill>
              <a:srgbClr val="90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2280513"/>
            <a:ext cx="11018520" cy="844905"/>
          </a:xfrm>
          <a:prstGeom prst="rect">
            <a:avLst/>
          </a:prstGeom>
          <a:noFill/>
        </p:spPr>
        <p:txBody>
          <a:bodyPr wrap="square">
            <a:spAutoFit/>
          </a:bodyPr>
          <a:lstStyle/>
          <a:p>
            <a:pPr algn="l"/>
            <a:r>
              <a:rPr sz="1800" b="0" i="0">
                <a:solidFill>
                  <a:srgbClr val="191919"/>
                </a:solidFill>
                <a:latin typeface="Arial"/>
              </a:rPr>
              <a:t>✓  Completed and submitted the Environment Checklist</a:t>
            </a:r>
          </a:p>
        </p:txBody>
      </p:sp>
      <p:sp>
        <p:nvSpPr>
          <p:cNvPr id="9" name="Rectangle 8"/>
          <p:cNvSpPr/>
          <p:nvPr/>
        </p:nvSpPr>
        <p:spPr>
          <a:xfrm>
            <a:off x="475488" y="3262579"/>
            <a:ext cx="11237976" cy="954633"/>
          </a:xfrm>
          <a:prstGeom prst="rect">
            <a:avLst/>
          </a:prstGeom>
          <a:solidFill>
            <a:srgbClr val="ECDFF3"/>
          </a:solidFill>
          <a:ln w="9525">
            <a:solidFill>
              <a:srgbClr val="90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3326587"/>
            <a:ext cx="11018520" cy="844905"/>
          </a:xfrm>
          <a:prstGeom prst="rect">
            <a:avLst/>
          </a:prstGeom>
          <a:noFill/>
        </p:spPr>
        <p:txBody>
          <a:bodyPr wrap="square">
            <a:spAutoFit/>
          </a:bodyPr>
          <a:lstStyle/>
          <a:p>
            <a:pPr algn="l"/>
            <a:r>
              <a:rPr sz="1800" b="0" i="0">
                <a:solidFill>
                  <a:srgbClr val="191919"/>
                </a:solidFill>
                <a:latin typeface="Arial"/>
              </a:rPr>
              <a:t>✓  Identified site's extraction tool and SQL client</a:t>
            </a:r>
          </a:p>
        </p:txBody>
      </p:sp>
      <p:sp>
        <p:nvSpPr>
          <p:cNvPr id="11" name="Rectangle 10"/>
          <p:cNvSpPr/>
          <p:nvPr/>
        </p:nvSpPr>
        <p:spPr>
          <a:xfrm>
            <a:off x="475488" y="4308652"/>
            <a:ext cx="11237976" cy="954633"/>
          </a:xfrm>
          <a:prstGeom prst="rect">
            <a:avLst/>
          </a:prstGeom>
          <a:solidFill>
            <a:srgbClr val="F8F2FF"/>
          </a:solidFill>
          <a:ln w="9525">
            <a:solidFill>
              <a:srgbClr val="90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4372660"/>
            <a:ext cx="11018520" cy="844905"/>
          </a:xfrm>
          <a:prstGeom prst="rect">
            <a:avLst/>
          </a:prstGeom>
          <a:noFill/>
        </p:spPr>
        <p:txBody>
          <a:bodyPr wrap="square">
            <a:spAutoFit/>
          </a:bodyPr>
          <a:lstStyle/>
          <a:p>
            <a:pPr algn="l"/>
            <a:r>
              <a:rPr sz="1800" b="0" i="0">
                <a:solidFill>
                  <a:srgbClr val="191919"/>
                </a:solidFill>
                <a:latin typeface="Arial"/>
              </a:rPr>
              <a:t>✓  All blockers documented and sent to the support contact</a:t>
            </a:r>
          </a:p>
        </p:txBody>
      </p:sp>
      <p:sp>
        <p:nvSpPr>
          <p:cNvPr id="13" name="Rectangle 12"/>
          <p:cNvSpPr/>
          <p:nvPr/>
        </p:nvSpPr>
        <p:spPr>
          <a:xfrm>
            <a:off x="475488" y="5354726"/>
            <a:ext cx="11237976" cy="954633"/>
          </a:xfrm>
          <a:prstGeom prst="rect">
            <a:avLst/>
          </a:prstGeom>
          <a:solidFill>
            <a:srgbClr val="ECDFF3"/>
          </a:solidFill>
          <a:ln w="9525">
            <a:solidFill>
              <a:srgbClr val="90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 y="5418734"/>
            <a:ext cx="11018520" cy="844905"/>
          </a:xfrm>
          <a:prstGeom prst="rect">
            <a:avLst/>
          </a:prstGeom>
          <a:noFill/>
        </p:spPr>
        <p:txBody>
          <a:bodyPr wrap="square">
            <a:spAutoFit/>
          </a:bodyPr>
          <a:lstStyle/>
          <a:p>
            <a:pPr algn="l"/>
            <a:r>
              <a:rPr sz="1800" b="0" i="0">
                <a:solidFill>
                  <a:srgbClr val="191919"/>
                </a:solidFill>
                <a:latin typeface="Arial"/>
              </a:rPr>
              <a:t>✓  Ready to start Day 1: OMOP Common Data Model</a:t>
            </a:r>
          </a:p>
        </p:txBody>
      </p:sp>
      <p:sp>
        <p:nvSpPr>
          <p:cNvPr id="15" name="TextBox 14"/>
          <p:cNvSpPr txBox="1"/>
          <p:nvPr/>
        </p:nvSpPr>
        <p:spPr>
          <a:xfrm>
            <a:off x="475488" y="6428232"/>
            <a:ext cx="11237976" cy="347472"/>
          </a:xfrm>
          <a:prstGeom prst="rect">
            <a:avLst/>
          </a:prstGeom>
          <a:noFill/>
        </p:spPr>
        <p:txBody>
          <a:bodyPr wrap="square">
            <a:spAutoFit/>
          </a:bodyPr>
          <a:lstStyle/>
          <a:p>
            <a:pPr algn="l"/>
            <a:r>
              <a:rPr sz="1400" b="0" i="1">
                <a:solidFill>
                  <a:srgbClr val="5A5A5A"/>
                </a:solidFill>
                <a:latin typeface="Arial"/>
              </a:rPr>
              <a:t>Next session: Day 1 · OMOP Common Data Model — bring your SQL client and Athena open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828800"/>
            <a:ext cx="11237976" cy="1188720"/>
          </a:xfrm>
          <a:prstGeom prst="rect">
            <a:avLst/>
          </a:prstGeom>
          <a:noFill/>
        </p:spPr>
        <p:txBody>
          <a:bodyPr wrap="square">
            <a:spAutoFit/>
          </a:bodyPr>
          <a:lstStyle/>
          <a:p>
            <a:pPr algn="l"/>
            <a:r>
              <a:rPr sz="4400" b="1" i="0">
                <a:solidFill>
                  <a:srgbClr val="FFFFFF"/>
                </a:solidFill>
                <a:latin typeface="Century Gothic"/>
              </a:rPr>
              <a:t>Thank You.  Questions?</a:t>
            </a:r>
          </a:p>
        </p:txBody>
      </p:sp>
      <p:sp>
        <p:nvSpPr>
          <p:cNvPr id="6" name="TextBox 5"/>
          <p:cNvSpPr txBox="1"/>
          <p:nvPr/>
        </p:nvSpPr>
        <p:spPr>
          <a:xfrm>
            <a:off x="475488" y="3383280"/>
            <a:ext cx="11237976" cy="640080"/>
          </a:xfrm>
          <a:prstGeom prst="rect">
            <a:avLst/>
          </a:prstGeom>
          <a:noFill/>
        </p:spPr>
        <p:txBody>
          <a:bodyPr wrap="square">
            <a:spAutoFit/>
          </a:bodyPr>
          <a:lstStyle/>
          <a:p>
            <a:pPr algn="l"/>
            <a:r>
              <a:rPr sz="2400" b="0" i="0">
                <a:solidFill>
                  <a:srgbClr val="FFFFFF"/>
                </a:solidFill>
                <a:latin typeface="Arial"/>
              </a:rPr>
              <a:t>Danielle Boyce</a:t>
            </a:r>
          </a:p>
        </p:txBody>
      </p:sp>
      <p:sp>
        <p:nvSpPr>
          <p:cNvPr id="7" name="TextBox 6"/>
          <p:cNvSpPr txBox="1"/>
          <p:nvPr/>
        </p:nvSpPr>
        <p:spPr>
          <a:xfrm>
            <a:off x="475488" y="3977639"/>
            <a:ext cx="11237976" cy="640080"/>
          </a:xfrm>
          <a:prstGeom prst="rect">
            <a:avLst/>
          </a:prstGeom>
          <a:noFill/>
        </p:spPr>
        <p:txBody>
          <a:bodyPr wrap="square">
            <a:spAutoFit/>
          </a:bodyPr>
          <a:lstStyle/>
          <a:p>
            <a:pPr algn="l"/>
            <a:r>
              <a:rPr sz="2200" b="0" i="0">
                <a:solidFill>
                  <a:srgbClr val="D9C4E6"/>
                </a:solidFill>
                <a:latin typeface="Arial"/>
              </a:rPr>
              <a:t>dboyce@als.net</a:t>
            </a:r>
          </a:p>
        </p:txBody>
      </p:sp>
      <p:sp>
        <p:nvSpPr>
          <p:cNvPr id="8" name="TextBox 7"/>
          <p:cNvSpPr txBox="1"/>
          <p:nvPr/>
        </p:nvSpPr>
        <p:spPr>
          <a:xfrm>
            <a:off x="475488" y="6309360"/>
            <a:ext cx="8229600" cy="365760"/>
          </a:xfrm>
          <a:prstGeom prst="rect">
            <a:avLst/>
          </a:prstGeom>
          <a:noFill/>
        </p:spPr>
        <p:txBody>
          <a:bodyPr wrap="square">
            <a:spAutoFit/>
          </a:bodyPr>
          <a:lstStyle/>
          <a:p>
            <a:pPr algn="l"/>
            <a:r>
              <a:rPr sz="1300" b="0" i="0">
                <a:solidFill>
                  <a:srgbClr val="AEC4D2"/>
                </a:solidFill>
                <a:latin typeface="Arial"/>
              </a:rPr>
              <a:t>ALS TDI · OHDSI/OMOP Train-the-Trainer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